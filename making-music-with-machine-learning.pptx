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4688" autoAdjust="0"/>
  </p:normalViewPr>
  <p:slideViewPr>
    <p:cSldViewPr snapToGrid="0">
      <p:cViewPr varScale="1">
        <p:scale>
          <a:sx n="150" d="100"/>
          <a:sy n="150" d="100"/>
        </p:scale>
        <p:origin x="654"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Hi everyone. This project is about making music with machine learning, but in a deliberately compact and explainable setting. Instead of trying to generate raw audio, We work symbolically, at the note and chord level, using the Nottingham folk corpus.</a:t>
            </a:r>
          </a:p>
          <a:p>
            <a:br>
              <a:rPr lang="en-US" sz="1200" b="0" kern="1200" dirty="0">
                <a:effectLst/>
              </a:rPr>
            </a:br>
            <a:endParaRPr lang="en-US" sz="1200" b="0" kern="1200" dirty="0">
              <a:effectLst/>
            </a:endParaRPr>
          </a:p>
          <a:p>
            <a:r>
              <a:rPr lang="en-US" sz="1200" b="0" kern="1200" dirty="0">
                <a:effectLst/>
              </a:rPr>
              <a:t>The project has two tasks. The first is unconditioned melody generation: learn a probability distribution over melodies, written as p(melody), and sample new folk-like tunes from it. The second is conditioned generation: harmonization. Given a melody, predict the chord sequence, written as p(chords | melody).</a:t>
            </a:r>
          </a:p>
          <a:p>
            <a:br>
              <a:rPr lang="en-US" sz="1200" b="0" kern="1200" dirty="0">
                <a:effectLst/>
              </a:rPr>
            </a:br>
            <a:endParaRPr lang="en-US" sz="1200" b="0" kern="1200" dirty="0">
              <a:effectLst/>
            </a:endParaRPr>
          </a:p>
          <a:p>
            <a:r>
              <a:rPr lang="en-US" sz="1200" b="0" kern="1200" dirty="0">
                <a:effectLst/>
              </a:rPr>
              <a:t>The reason We paired these two is that they form a full pipeline. Task 1 composes a melody, and Task 2 harmonizes that melody. The whole system trains from scratch on a laptop, uses 1034 parsed tunes, and produces two MIDI deliverables: `symbolic_unconditioned.mid` and `symbolic_conditioned.mid`.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Here is the whole assignment as a single system. We start with raw MIDI files from the Nottingham corpus. Each file has a melody track and a chord track. From there, We build a shared representation: melody steps and bar-level chord labels.</a:t>
            </a:r>
          </a:p>
          <a:p>
            <a:br>
              <a:rPr lang="en-US" sz="1200" b="0" kern="1200" dirty="0">
                <a:effectLst/>
              </a:rPr>
            </a:br>
            <a:endParaRPr lang="en-US" sz="1200" b="0" kern="1200" dirty="0">
              <a:effectLst/>
            </a:endParaRPr>
          </a:p>
          <a:p>
            <a:r>
              <a:rPr lang="en-US" sz="1200" b="0" kern="1200" dirty="0">
                <a:effectLst/>
              </a:rPr>
              <a:t>That representation supports both tasks. For Task 1, the melody token stream goes into an LSTM language model, which samples a new melody. For Task 2, that generated melody is summarized bar by bar, and a </a:t>
            </a:r>
            <a:r>
              <a:rPr lang="en-US" sz="1200" b="0" kern="1200" dirty="0" err="1">
                <a:effectLst/>
              </a:rPr>
              <a:t>BiLSTM</a:t>
            </a:r>
            <a:r>
              <a:rPr lang="en-US" sz="1200" b="0" kern="1200" dirty="0">
                <a:effectLst/>
              </a:rPr>
              <a:t> predicts the chord labels.</a:t>
            </a:r>
          </a:p>
          <a:p>
            <a:br>
              <a:rPr lang="en-US" sz="1200" b="0" kern="1200" dirty="0">
                <a:effectLst/>
              </a:rPr>
            </a:br>
            <a:endParaRPr lang="en-US" sz="1200" b="0" kern="1200" dirty="0">
              <a:effectLst/>
            </a:endParaRPr>
          </a:p>
          <a:p>
            <a:r>
              <a:rPr lang="en-US" sz="1200" b="0" kern="1200" dirty="0">
                <a:effectLst/>
              </a:rPr>
              <a:t>The key design choice is that both tasks share the same preprocessing and split. So the project is not two unrelated experiments. It is one compose-then-harmonize workflow, and the output of the first model is a valid input to the second model.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The representation is the quiet win in this project. The corpus is not huge, so the data needs to be normalized into a form where the model can actually reuse patterns.</a:t>
            </a:r>
          </a:p>
          <a:p>
            <a:br>
              <a:rPr lang="en-US" sz="1200" b="0" kern="1200" dirty="0">
                <a:effectLst/>
              </a:rPr>
            </a:br>
            <a:endParaRPr lang="en-US" sz="1200" b="0" kern="1200" dirty="0">
              <a:effectLst/>
            </a:endParaRPr>
          </a:p>
          <a:p>
            <a:r>
              <a:rPr lang="en-US" sz="1200" b="0" kern="1200" dirty="0">
                <a:effectLst/>
              </a:rPr>
              <a:t>There are four preprocessing steps. First, timing is quantized to a 16th-note grid. In the code, `GRID = 4`, meaning four steps per quarter note. This works because the MIDI files are already clean and aligned.</a:t>
            </a:r>
          </a:p>
          <a:p>
            <a:br>
              <a:rPr lang="en-US" sz="1200" b="0" kern="1200" dirty="0">
                <a:effectLst/>
              </a:rPr>
            </a:br>
            <a:endParaRPr lang="en-US" sz="1200" b="0" kern="1200" dirty="0">
              <a:effectLst/>
            </a:endParaRPr>
          </a:p>
          <a:p>
            <a:r>
              <a:rPr lang="en-US" sz="1200" b="0" kern="1200" dirty="0">
                <a:effectLst/>
              </a:rPr>
              <a:t>Second, the melody becomes one token per 16th-note step. Each token is either `REST`, `HOLD`, or a MIDI pitch onset. So instead of modeling arbitrary note objects, the model reads a sequence very much like a language model reads words or characters.</a:t>
            </a:r>
          </a:p>
          <a:p>
            <a:br>
              <a:rPr lang="en-US" sz="1200" b="0" kern="1200" dirty="0">
                <a:effectLst/>
              </a:rPr>
            </a:br>
            <a:endParaRPr lang="en-US" sz="1200" b="0" kern="1200" dirty="0">
              <a:effectLst/>
            </a:endParaRPr>
          </a:p>
          <a:p>
            <a:r>
              <a:rPr lang="en-US" sz="1200" b="0" kern="1200" dirty="0">
                <a:effectLst/>
              </a:rPr>
              <a:t>Third, we normalize key. The code estimates a key using the </a:t>
            </a:r>
            <a:r>
              <a:rPr lang="en-US" sz="1200" b="0" kern="1200" dirty="0" err="1">
                <a:effectLst/>
              </a:rPr>
              <a:t>Krumhansl-Schmuckler</a:t>
            </a:r>
            <a:r>
              <a:rPr lang="en-US" sz="1200" b="0" kern="1200" dirty="0">
                <a:effectLst/>
              </a:rPr>
              <a:t> key profiles, then transposes major tunes to C major and minor tunes to A minor. This is important because the same folk phrase in D major and G major should count as the same pattern after transposition.</a:t>
            </a:r>
          </a:p>
          <a:p>
            <a:br>
              <a:rPr lang="en-US" sz="1200" b="0" kern="1200" dirty="0">
                <a:effectLst/>
              </a:rPr>
            </a:br>
            <a:endParaRPr lang="en-US" sz="1200" b="0" kern="1200" dirty="0">
              <a:effectLst/>
            </a:endParaRPr>
          </a:p>
          <a:p>
            <a:r>
              <a:rPr lang="en-US" sz="1200" b="0" kern="1200" dirty="0">
                <a:effectLst/>
              </a:rPr>
              <a:t>Fourth, the chord track is turned into one chord label per bar. For harmonization, each bar of melody becomes a 12-dimensional pitch-class histogram, and the target is the chord label for that bar.</a:t>
            </a:r>
          </a:p>
          <a:p>
            <a:br>
              <a:rPr lang="en-US" sz="1200" b="0" kern="1200" dirty="0">
                <a:effectLst/>
              </a:rPr>
            </a:br>
            <a:endParaRPr lang="en-US" sz="1200" b="0" kern="1200" dirty="0">
              <a:effectLst/>
            </a:endParaRPr>
          </a:p>
          <a:p>
            <a:r>
              <a:rPr lang="en-US" sz="1200" b="0" kern="1200" dirty="0">
                <a:effectLst/>
              </a:rPr>
              <a:t>After normalization, 97.5 percent of melody notes fall on the C-major scale, which is a good sign that the key normalization is doing what it should.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These are the main exploratory plots from the executed notebook. The first plot shows the tune collections and the estimated keys before normalization. The key distribution clusters around D, G, and A, which makes sense for folk tunes played on instruments like fiddle and flute.</a:t>
            </a:r>
          </a:p>
          <a:p>
            <a:br>
              <a:rPr lang="en-US" sz="1200" b="0" kern="1200" dirty="0">
                <a:effectLst/>
              </a:rPr>
            </a:br>
            <a:endParaRPr lang="en-US" sz="1200" b="0" kern="1200" dirty="0">
              <a:effectLst/>
            </a:endParaRPr>
          </a:p>
          <a:p>
            <a:r>
              <a:rPr lang="en-US" sz="1200" b="0" kern="1200" dirty="0">
                <a:effectLst/>
              </a:rPr>
              <a:t>The second group shows melody lengths, pitch classes after normalization, and note durations. The duration plot is especially useful musically: 8th notes and 16th notes dominate, which is exactly the rhythmic vocabulary of dance tunes like jigs and reels.</a:t>
            </a:r>
          </a:p>
          <a:p>
            <a:br>
              <a:rPr lang="en-US" sz="1200" b="0" kern="1200" dirty="0">
                <a:effectLst/>
              </a:rPr>
            </a:br>
            <a:endParaRPr lang="en-US" sz="1200" b="0" kern="1200" dirty="0">
              <a:effectLst/>
            </a:endParaRPr>
          </a:p>
          <a:p>
            <a:r>
              <a:rPr lang="en-US" sz="1200" b="0" kern="1200" dirty="0">
                <a:effectLst/>
              </a:rPr>
              <a:t>The third plot shows the most common chords after normalization. C, G7, F, and Am dominate. That is functional tonal harmony: tonic, dominant, subdominant, and relative minor. This matters because it tells us the task is learnable with compact models. We are not asking a small LSTM to discover every style in music. We are asking it to model a consistent, key-normalized folk style.</a:t>
            </a:r>
          </a:p>
          <a:p>
            <a:br>
              <a:rPr lang="en-US" sz="1200" b="0" kern="1200" dirty="0">
                <a:effectLst/>
              </a:rPr>
            </a:br>
            <a:endParaRPr lang="en-US" sz="1200" b="0" kern="1200" dirty="0">
              <a:effectLst/>
            </a:endParaRPr>
          </a:p>
          <a:p>
            <a:r>
              <a:rPr lang="en-US" sz="1200" b="0" kern="1200" dirty="0">
                <a:effectLst/>
              </a:rPr>
              <a:t>That regularity is also the reason the baselines are meaningful. A Markov model and a rule-based harmonizer are reasonable simple baselines here. If the learned models win, the comparison is fair.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Task 1 is melody generation as language modeling. The melody is a token sequence, and the model factorizes the probability of the whole tune as a product of next-token probabilities.</a:t>
            </a:r>
          </a:p>
          <a:p>
            <a:br>
              <a:rPr lang="en-US" sz="1200" b="0" kern="1200" dirty="0">
                <a:effectLst/>
              </a:rPr>
            </a:br>
            <a:endParaRPr lang="en-US" sz="1200" b="0" kern="1200" dirty="0">
              <a:effectLst/>
            </a:endParaRPr>
          </a:p>
          <a:p>
            <a:r>
              <a:rPr lang="en-US" sz="1200" b="0" kern="1200" dirty="0">
                <a:effectLst/>
              </a:rPr>
              <a:t>So at each step, the model predicts the next token conditioned on the previous tokens. Training minimizes cross-entropy, or negative log-likelihood, and the main intrinsic metric is perplexity. Lower perplexity means the model predicts real held-out folk melodies better.</a:t>
            </a:r>
          </a:p>
          <a:p>
            <a:br>
              <a:rPr lang="en-US" sz="1200" b="0" kern="1200" dirty="0">
                <a:effectLst/>
              </a:rPr>
            </a:br>
            <a:endParaRPr lang="en-US" sz="1200" b="0" kern="1200" dirty="0">
              <a:effectLst/>
            </a:endParaRPr>
          </a:p>
          <a:p>
            <a:r>
              <a:rPr lang="en-US" sz="1200" b="0" kern="1200" dirty="0">
                <a:effectLst/>
              </a:rPr>
              <a:t>Generation is then straightforward. Start with a beginning token, sample the next token from the model distribution, feed it back in, and continue until an end token or max length. Temperature controls how conservative or surprising the sample is.</a:t>
            </a:r>
          </a:p>
          <a:p>
            <a:br>
              <a:rPr lang="en-US" sz="1200" b="0" kern="1200" dirty="0">
                <a:effectLst/>
              </a:rPr>
            </a:br>
            <a:endParaRPr lang="en-US" sz="1200" b="0" kern="1200" dirty="0">
              <a:effectLst/>
            </a:endParaRPr>
          </a:p>
          <a:p>
            <a:r>
              <a:rPr lang="en-US" sz="1200" b="0" kern="1200" dirty="0">
                <a:effectLst/>
              </a:rPr>
              <a:t>The final melody vocabulary has 46 tokens, including special symbols and pitch onsets. The learned model is a 939K-parameter LSTM, which is small enough to train quickly but expressive enough to carry a phrase-level hidden state.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The baseline is an order-n Markov model. It is transparent: it counts transitions and uses add-k smoothing and backoff. This is useful because we can understand exactly what it is doing.</a:t>
            </a:r>
          </a:p>
          <a:p>
            <a:br>
              <a:rPr lang="en-US" sz="1200" b="0" kern="1200" dirty="0">
                <a:effectLst/>
              </a:rPr>
            </a:br>
            <a:endParaRPr lang="en-US" sz="1200" b="0" kern="1200" dirty="0">
              <a:effectLst/>
            </a:endParaRPr>
          </a:p>
          <a:p>
            <a:r>
              <a:rPr lang="en-US" sz="1200" b="0" kern="1200" dirty="0">
                <a:effectLst/>
              </a:rPr>
              <a:t>But the limitation is built in. It only sees the last n tokens. If we increase n, the context gets more specific, and the count table gets sparse. That means the model can capture local note transitions, but it has a hard time with longer musical structure like phrase shape, cadence, and repetition.</a:t>
            </a:r>
          </a:p>
          <a:p>
            <a:br>
              <a:rPr lang="en-US" sz="1200" b="0" kern="1200" dirty="0">
                <a:effectLst/>
              </a:rPr>
            </a:br>
            <a:endParaRPr lang="en-US" sz="1200" b="0" kern="1200" dirty="0">
              <a:effectLst/>
            </a:endParaRPr>
          </a:p>
          <a:p>
            <a:r>
              <a:rPr lang="en-US" sz="1200" b="0" kern="1200" dirty="0">
                <a:effectLst/>
              </a:rPr>
              <a:t>The LSTM has a different kind of memory. It embeds the current token, updates a hidden state, and predicts the next token from that state. It is less interpretable than counts, but it can learn longer-range dependencies without exploding the table size.</a:t>
            </a:r>
          </a:p>
          <a:p>
            <a:br>
              <a:rPr lang="en-US" sz="1200" b="0" kern="1200" dirty="0">
                <a:effectLst/>
              </a:rPr>
            </a:br>
            <a:endParaRPr lang="en-US" sz="1200" b="0" kern="1200" dirty="0">
              <a:effectLst/>
            </a:endParaRPr>
          </a:p>
          <a:p>
            <a:r>
              <a:rPr lang="en-US" sz="1200" b="0" kern="1200" dirty="0">
                <a:effectLst/>
              </a:rPr>
              <a:t>So the comparison here is not "neural model versus nothing." It is a learned sequence model versus a clean, reasonable n-gram baseline.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Here are the Task 1 results. The training curve shows validation perplexity dropping quickly, then settling near the mid-2s. On the right is the held-out test perplexity comparison.</a:t>
            </a:r>
          </a:p>
          <a:p>
            <a:br>
              <a:rPr lang="en-US" sz="1200" b="0" kern="1200" dirty="0">
                <a:effectLst/>
              </a:rPr>
            </a:br>
            <a:endParaRPr lang="en-US" sz="1200" b="0" kern="1200" dirty="0">
              <a:effectLst/>
            </a:endParaRPr>
          </a:p>
          <a:p>
            <a:r>
              <a:rPr lang="en-US" sz="1200" b="0" kern="1200" dirty="0">
                <a:effectLst/>
              </a:rPr>
              <a:t>The Markov models improve from order 1 to order 3: 4.27, then 3.35, then 3.18. But the gain starts to plateau as the contexts become sparse. The LSTM reaches 2.42, which is substantially lower.</a:t>
            </a:r>
          </a:p>
          <a:p>
            <a:br>
              <a:rPr lang="en-US" sz="1200" b="0" kern="1200" dirty="0">
                <a:effectLst/>
              </a:rPr>
            </a:br>
            <a:endParaRPr lang="en-US" sz="1200" b="0" kern="1200" dirty="0">
              <a:effectLst/>
            </a:endParaRPr>
          </a:p>
          <a:p>
            <a:r>
              <a:rPr lang="en-US" sz="1200" b="0" kern="1200" dirty="0">
                <a:effectLst/>
              </a:rPr>
              <a:t>The interpretation is that the LSTM is not just memorizing local transitions. Its hidden state gives it a better estimate of what should come next in a real folk melody. For this assignment, this is the first main result: the learned model beats the Module-3-style Markov baseline on the intrinsic objective.</a:t>
            </a:r>
          </a:p>
          <a:p>
            <a:br>
              <a:rPr lang="en-US" sz="1200" b="0" kern="1200" dirty="0">
                <a:effectLst/>
              </a:rPr>
            </a:br>
            <a:endParaRPr lang="en-US" sz="1200" b="0" kern="1200" dirty="0">
              <a:effectLst/>
            </a:endParaRPr>
          </a:p>
          <a:p>
            <a:r>
              <a:rPr lang="en-US" sz="1200" b="0" kern="1200" dirty="0">
                <a:effectLst/>
              </a:rPr>
              <a:t>But perplexity is not the whole story. A melody model can have low perplexity and still produce boring or strange music, so the next slide checks the generated samples musically.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For musical evaluation, We compare generated melodies to real held-out tunes using distributional metrics. The plots show pitch-class and note-duration distributions. Both the LSTM and Markov model match the local statistics pretty well. That makes sense: scale membership and common durations are relatively local.</a:t>
            </a:r>
          </a:p>
          <a:p>
            <a:br>
              <a:rPr lang="en-US" sz="1200" b="0" kern="1200" dirty="0">
                <a:effectLst/>
              </a:rPr>
            </a:br>
            <a:endParaRPr lang="en-US" sz="1200" b="0" kern="1200" dirty="0">
              <a:effectLst/>
            </a:endParaRPr>
          </a:p>
          <a:p>
            <a:r>
              <a:rPr lang="en-US" sz="1200" b="0" kern="1200" dirty="0">
                <a:effectLst/>
              </a:rPr>
              <a:t>The more interesting metric is 4-gram diversity. Real folk tunes are repetitive: only about 2 percent of their 4-grams are unique. The LSTM sample has 4.3 percent unique 4-grams, while the Markov model has 8 percent.</a:t>
            </a:r>
          </a:p>
          <a:p>
            <a:br>
              <a:rPr lang="en-US" sz="1200" b="0" kern="1200" dirty="0">
                <a:effectLst/>
              </a:rPr>
            </a:br>
            <a:endParaRPr lang="en-US" sz="1200" b="0" kern="1200" dirty="0">
              <a:effectLst/>
            </a:endParaRPr>
          </a:p>
          <a:p>
            <a:r>
              <a:rPr lang="en-US" sz="1200" b="0" kern="1200" dirty="0">
                <a:effectLst/>
              </a:rPr>
              <a:t>That means the Markov model is too random. It wanders more and repeats less like the real corpus. The LSTM is not perfect, but it is much closer to the real repetition structure, and it also has the highest in-key fraction at 0.989.</a:t>
            </a:r>
          </a:p>
          <a:p>
            <a:br>
              <a:rPr lang="en-US" sz="1200" b="0" kern="1200" dirty="0">
                <a:effectLst/>
              </a:rPr>
            </a:br>
            <a:endParaRPr lang="en-US" sz="1200" b="0" kern="1200" dirty="0">
              <a:effectLst/>
            </a:endParaRPr>
          </a:p>
          <a:p>
            <a:r>
              <a:rPr lang="en-US" sz="1200" b="0" kern="1200" dirty="0">
                <a:effectLst/>
              </a:rPr>
              <a:t>The piano roll is the generated melody that gets exported to `symbolic_unconditioned.mid`. So Task 1 has both a quantitative win and a concrete musical output.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Task 2 changes from unconditioned generation to conditioned generation. Now the input is a melody, and the output is a sequence of chord labels.</a:t>
            </a:r>
          </a:p>
          <a:p>
            <a:br>
              <a:rPr lang="en-US" sz="1200" b="0" kern="1200" dirty="0">
                <a:effectLst/>
              </a:rPr>
            </a:br>
            <a:endParaRPr lang="en-US" sz="1200" b="0" kern="1200" dirty="0">
              <a:effectLst/>
            </a:endParaRPr>
          </a:p>
          <a:p>
            <a:r>
              <a:rPr lang="en-US" sz="1200" b="0" kern="1200" dirty="0">
                <a:effectLst/>
              </a:rPr>
              <a:t>The framing is sequence labeling. For each bar, We summarize the melody as a 12-dimensional pitch-class histogram. That histogram tells the model how much of the bar is C, C sharp, D, and so on. The target is a chord label like C, G7, F, or Am.</a:t>
            </a:r>
          </a:p>
          <a:p>
            <a:br>
              <a:rPr lang="en-US" sz="1200" b="0" kern="1200" dirty="0">
                <a:effectLst/>
              </a:rPr>
            </a:br>
            <a:endParaRPr lang="en-US" sz="1200" b="0" kern="1200" dirty="0">
              <a:effectLst/>
            </a:endParaRPr>
          </a:p>
          <a:p>
            <a:r>
              <a:rPr lang="en-US" sz="1200" b="0" kern="1200" dirty="0">
                <a:effectLst/>
              </a:rPr>
              <a:t>The main metric is bar-level chord accuracy against the original chord track. We also report root accuracy, because predicting the right root with a slightly different chord quality is less wrong than predicting a completely different harmonic function.</a:t>
            </a:r>
          </a:p>
          <a:p>
            <a:br>
              <a:rPr lang="en-US" sz="1200" b="0" kern="1200" dirty="0">
                <a:effectLst/>
              </a:rPr>
            </a:br>
            <a:endParaRPr lang="en-US" sz="1200" b="0" kern="1200" dirty="0">
              <a:effectLst/>
            </a:endParaRPr>
          </a:p>
          <a:p>
            <a:r>
              <a:rPr lang="en-US" sz="1200" b="0" kern="1200" dirty="0">
                <a:effectLst/>
              </a:rPr>
              <a:t>There is an important caveat: multiple chords can fit one melody bar. So accuracy is useful, but it under-counts musical acceptability. That is why We also inspect the confusion matrix and listen to the final MIDI.</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For harmonization, We compare two baselines to the learned model.</a:t>
            </a:r>
          </a:p>
          <a:p>
            <a:br>
              <a:rPr lang="en-US" sz="1200" b="0" kern="1200" dirty="0">
                <a:effectLst/>
              </a:rPr>
            </a:br>
            <a:endParaRPr lang="en-US" sz="1200" b="0" kern="1200" dirty="0">
              <a:effectLst/>
            </a:endParaRPr>
          </a:p>
          <a:p>
            <a:r>
              <a:rPr lang="en-US" sz="1200" b="0" kern="1200" dirty="0">
                <a:effectLst/>
              </a:rPr>
              <a:t>The first baseline is majority class: always predict C, the tonic. It is trivial, but because the corpus is tonal, it is not a useless baseline.</a:t>
            </a:r>
          </a:p>
          <a:p>
            <a:br>
              <a:rPr lang="en-US" sz="1200" b="0" kern="1200" dirty="0">
                <a:effectLst/>
              </a:rPr>
            </a:br>
            <a:endParaRPr lang="en-US" sz="1200" b="0" kern="1200" dirty="0">
              <a:effectLst/>
            </a:endParaRPr>
          </a:p>
          <a:p>
            <a:r>
              <a:rPr lang="en-US" sz="1200" b="0" kern="1200" dirty="0">
                <a:effectLst/>
              </a:rPr>
              <a:t>The second is a template-matching rule. For each bar, it picks the chord whose pitch-class template best matches the melody notes in that bar. This sounds musically plausible, but it has a serious limitation: it only looks at instantaneous pitch content.</a:t>
            </a:r>
          </a:p>
          <a:p>
            <a:br>
              <a:rPr lang="en-US" sz="1200" b="0" kern="1200" dirty="0">
                <a:effectLst/>
              </a:rPr>
            </a:br>
            <a:endParaRPr lang="en-US" sz="1200" b="0" kern="1200" dirty="0">
              <a:effectLst/>
            </a:endParaRPr>
          </a:p>
          <a:p>
            <a:r>
              <a:rPr lang="en-US" sz="1200" b="0" kern="1200" dirty="0">
                <a:effectLst/>
              </a:rPr>
              <a:t>The learned model is a </a:t>
            </a:r>
            <a:r>
              <a:rPr lang="en-US" sz="1200" b="0" kern="1200" dirty="0" err="1">
                <a:effectLst/>
              </a:rPr>
              <a:t>BiLSTM</a:t>
            </a:r>
            <a:r>
              <a:rPr lang="en-US" sz="1200" b="0" kern="1200" dirty="0">
                <a:effectLst/>
              </a:rPr>
              <a:t> tagger. It reads the bar sequence in both directions, so each chord prediction can use the melody before and after the current bar. That matters because harmony is contextual. A passing note can make the local pitch set misleading, and a chord choice often depends on where the progression is going.</a:t>
            </a:r>
          </a:p>
          <a:p>
            <a:br>
              <a:rPr lang="en-US" sz="1200" b="0" kern="1200" dirty="0">
                <a:effectLst/>
              </a:rPr>
            </a:br>
            <a:endParaRPr lang="en-US" sz="1200" b="0" kern="1200" dirty="0">
              <a:effectLst/>
            </a:endParaRPr>
          </a:p>
          <a:p>
            <a:r>
              <a:rPr lang="en-US" sz="1200" b="0" kern="1200" dirty="0">
                <a:effectLst/>
              </a:rPr>
              <a:t>The headline lesson for this task is: harmonization is not just pitch matching. It is progression modeling.</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The results make that lesson very clear. The majority baseline gets 0.394 chord accuracy and 0.420 root accuracy. The template rule, surprisingly, is worse: 0.238 chord accuracy and 0.329 root accuracy.</a:t>
            </a:r>
          </a:p>
          <a:p>
            <a:br>
              <a:rPr lang="en-US" sz="1200" b="0" kern="1200" dirty="0">
                <a:effectLst/>
              </a:rPr>
            </a:br>
            <a:endParaRPr lang="en-US" sz="1200" b="0" kern="1200" dirty="0">
              <a:effectLst/>
            </a:endParaRPr>
          </a:p>
          <a:p>
            <a:r>
              <a:rPr lang="en-US" sz="1200" b="0" kern="1200" dirty="0">
                <a:effectLst/>
              </a:rPr>
              <a:t>That is one of the most interesting findings in the project. The rule-based baseline sounds smarter than always guessing C, but without context it gets fooled by passing notes and ambiguous bars.</a:t>
            </a:r>
          </a:p>
          <a:p>
            <a:br>
              <a:rPr lang="en-US" sz="1200" b="0" kern="1200" dirty="0">
                <a:effectLst/>
              </a:rPr>
            </a:br>
            <a:endParaRPr lang="en-US" sz="1200" b="0" kern="1200" dirty="0">
              <a:effectLst/>
            </a:endParaRPr>
          </a:p>
          <a:p>
            <a:r>
              <a:rPr lang="en-US" sz="1200" b="0" kern="1200" dirty="0">
                <a:effectLst/>
              </a:rPr>
              <a:t>The </a:t>
            </a:r>
            <a:r>
              <a:rPr lang="en-US" sz="1200" b="0" kern="1200" dirty="0" err="1">
                <a:effectLst/>
              </a:rPr>
              <a:t>BiLSTM</a:t>
            </a:r>
            <a:r>
              <a:rPr lang="en-US" sz="1200" b="0" kern="1200" dirty="0">
                <a:effectLst/>
              </a:rPr>
              <a:t> reaches 0.655 chord accuracy and 0.716 root accuracy, roughly doubling the majority baseline in chord accuracy and improving root accuracy even more.</a:t>
            </a:r>
          </a:p>
          <a:p>
            <a:br>
              <a:rPr lang="en-US" sz="1200" b="0" kern="1200" dirty="0">
                <a:effectLst/>
              </a:rPr>
            </a:br>
            <a:endParaRPr lang="en-US" sz="1200" b="0" kern="1200" dirty="0">
              <a:effectLst/>
            </a:endParaRPr>
          </a:p>
          <a:p>
            <a:r>
              <a:rPr lang="en-US" sz="1200" b="0" kern="1200" dirty="0">
                <a:effectLst/>
              </a:rPr>
              <a:t>The training curve shows validation accuracy rising and stabilizing. The confusion matrix gives the musical nuance: many of the model's errors are substitutions like C versus Am or G versus G7. Those are not random failures; they are harmonically related choices.</a:t>
            </a:r>
          </a:p>
          <a:p>
            <a:br>
              <a:rPr lang="en-US" sz="1200" b="0" kern="1200" dirty="0">
                <a:effectLst/>
              </a:rPr>
            </a:br>
            <a:endParaRPr lang="en-US" sz="1200" b="0" kern="1200" dirty="0">
              <a:effectLst/>
            </a:endParaRPr>
          </a:p>
          <a:p>
            <a:r>
              <a:rPr lang="en-US" sz="1200" b="0" kern="1200" dirty="0">
                <a:effectLst/>
              </a:rPr>
              <a:t>So the second main result is that a contextual sequence model beats both a trivial baseline and an instantaneous rule baseline for harmonization.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This slide shows the full pipeline working. The piano roll on the left is the melody sampled by the Task 1 LSTM. That melody is exported as `symbolic_unconditioned.mid`.</a:t>
            </a:r>
          </a:p>
          <a:p>
            <a:br>
              <a:rPr lang="en-US" sz="1200" b="0" kern="1200" dirty="0">
                <a:effectLst/>
              </a:rPr>
            </a:br>
            <a:endParaRPr lang="en-US" sz="1200" b="0" kern="1200" dirty="0">
              <a:effectLst/>
            </a:endParaRPr>
          </a:p>
          <a:p>
            <a:r>
              <a:rPr lang="en-US" sz="1200" b="0" kern="1200" dirty="0">
                <a:effectLst/>
              </a:rPr>
              <a:t>Then the Task 2 </a:t>
            </a:r>
            <a:r>
              <a:rPr lang="en-US" sz="1200" b="0" kern="1200" dirty="0" err="1">
                <a:effectLst/>
              </a:rPr>
              <a:t>BiLSTM</a:t>
            </a:r>
            <a:r>
              <a:rPr lang="en-US" sz="1200" b="0" kern="1200" dirty="0">
                <a:effectLst/>
              </a:rPr>
              <a:t> takes that generated melody, summarizes it bar by bar, and predicts chords. The harmonized output is exported as `symbolic_conditioned.mid`.</a:t>
            </a:r>
          </a:p>
          <a:p>
            <a:br>
              <a:rPr lang="en-US" sz="1200" b="0" kern="1200" dirty="0">
                <a:effectLst/>
              </a:rPr>
            </a:br>
            <a:endParaRPr lang="en-US" sz="1200" b="0" kern="1200" dirty="0">
              <a:effectLst/>
            </a:endParaRPr>
          </a:p>
          <a:p>
            <a:r>
              <a:rPr lang="en-US" sz="1200" b="0" kern="1200" dirty="0">
                <a:effectLst/>
              </a:rPr>
              <a:t>As a qualitative check on real data, one held-out tune, `reelsa-c60.mid`, has 78 percent exact bar matches between the </a:t>
            </a:r>
            <a:r>
              <a:rPr lang="en-US" sz="1200" b="0" kern="1200" dirty="0" err="1">
                <a:effectLst/>
              </a:rPr>
              <a:t>BiLSTM</a:t>
            </a:r>
            <a:r>
              <a:rPr lang="en-US" sz="1200" b="0" kern="1200" dirty="0">
                <a:effectLst/>
              </a:rPr>
              <a:t> predictions and the original chords. That is not the same as perfect composition, but it shows the model has learned a meaningful harmonic mapping.</a:t>
            </a:r>
          </a:p>
          <a:p>
            <a:br>
              <a:rPr lang="en-US" sz="1200" b="0" kern="1200" dirty="0">
                <a:effectLst/>
              </a:rPr>
            </a:br>
            <a:endParaRPr lang="en-US" sz="1200" b="0" kern="1200" dirty="0">
              <a:effectLst/>
            </a:endParaRPr>
          </a:p>
          <a:p>
            <a:r>
              <a:rPr lang="en-US" sz="1200" b="0" kern="1200" dirty="0">
                <a:effectLst/>
              </a:rPr>
              <a:t>In the recording, this is where We would play the melody alone first, then the harmonized version, so the listener can hear exactly what the second model adds.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This project sits in a standard symbolic music modeling lineage. The Nottingham corpus was popularized by Boulanger-Lewandowski, Bengio, and Vincent in 2012 as a benchmark for RNN-based symbolic music models. Later systems like folk-</a:t>
            </a:r>
            <a:r>
              <a:rPr lang="en-US" sz="1200" b="0" kern="1200" dirty="0" err="1">
                <a:effectLst/>
              </a:rPr>
              <a:t>rnn</a:t>
            </a:r>
            <a:r>
              <a:rPr lang="en-US" sz="1200" b="0" kern="1200" dirty="0">
                <a:effectLst/>
              </a:rPr>
              <a:t> also trained LSTMs on folk tunes, often using ABC notation.</a:t>
            </a:r>
          </a:p>
          <a:p>
            <a:br>
              <a:rPr lang="en-US" sz="1200" b="0" kern="1200" dirty="0">
                <a:effectLst/>
              </a:rPr>
            </a:br>
            <a:endParaRPr lang="en-US" sz="1200" b="0" kern="1200" dirty="0">
              <a:effectLst/>
            </a:endParaRPr>
          </a:p>
          <a:p>
            <a:r>
              <a:rPr lang="en-US" sz="1200" b="0" kern="1200" dirty="0">
                <a:effectLst/>
              </a:rPr>
              <a:t>For Task 1, the closest conceptual relative is Magenta's Melody RNN: a monophonic melody stream tokenized over time and modeled with an LSTM. Modern models like Music Transformer use attention for much longer context, but here the small LSTM is the right scale for a fast assignment.</a:t>
            </a:r>
          </a:p>
          <a:p>
            <a:br>
              <a:rPr lang="en-US" sz="1200" b="0" kern="1200" dirty="0">
                <a:effectLst/>
              </a:rPr>
            </a:br>
            <a:endParaRPr lang="en-US" sz="1200" b="0" kern="1200" dirty="0">
              <a:effectLst/>
            </a:endParaRPr>
          </a:p>
          <a:p>
            <a:r>
              <a:rPr lang="en-US" sz="1200" b="0" kern="1200" dirty="0">
                <a:effectLst/>
              </a:rPr>
              <a:t>For Task 2, related work includes </a:t>
            </a:r>
            <a:r>
              <a:rPr lang="en-US" sz="1200" b="0" kern="1200" dirty="0" err="1">
                <a:effectLst/>
              </a:rPr>
              <a:t>DeepBach</a:t>
            </a:r>
            <a:r>
              <a:rPr lang="en-US" sz="1200" b="0" kern="1200" dirty="0">
                <a:effectLst/>
              </a:rPr>
              <a:t> and </a:t>
            </a:r>
            <a:r>
              <a:rPr lang="en-US" sz="1200" b="0" kern="1200" dirty="0" err="1">
                <a:effectLst/>
              </a:rPr>
              <a:t>Coconet</a:t>
            </a:r>
            <a:r>
              <a:rPr lang="en-US" sz="1200" b="0" kern="1200" dirty="0">
                <a:effectLst/>
              </a:rPr>
              <a:t>, which harmonize Bach chorales using deep models. My version is much lighter: it predicts chord labels per bar rather than full four-part voicing.</a:t>
            </a:r>
          </a:p>
          <a:p>
            <a:br>
              <a:rPr lang="en-US" sz="1200" b="0" kern="1200" dirty="0">
                <a:effectLst/>
              </a:rPr>
            </a:br>
            <a:endParaRPr lang="en-US" sz="1200" b="0" kern="1200" dirty="0">
              <a:effectLst/>
            </a:endParaRPr>
          </a:p>
          <a:p>
            <a:r>
              <a:rPr lang="en-US" sz="1200" b="0" kern="1200" dirty="0">
                <a:effectLst/>
              </a:rPr>
              <a:t>The findings line up with the literature: learned sequence models beat local baselines, local statistics are easier than long-range form, and objective metrics still need listening.</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effectLst/>
              </a:rPr>
              <a:t>The main takeaways are these.</a:t>
            </a:r>
          </a:p>
          <a:p>
            <a:br>
              <a:rPr lang="en-US" sz="1200" b="0" kern="1200" dirty="0">
                <a:effectLst/>
              </a:rPr>
            </a:br>
            <a:endParaRPr lang="en-US" sz="1200" b="0" kern="1200" dirty="0">
              <a:effectLst/>
            </a:endParaRPr>
          </a:p>
          <a:p>
            <a:r>
              <a:rPr lang="en-US" sz="1200" b="0" kern="1200" dirty="0">
                <a:effectLst/>
              </a:rPr>
              <a:t>First, representation matters. Key-normalized step tokens and bar-level chord labels turn raw MIDI into a learnable symbolic problem.</a:t>
            </a:r>
          </a:p>
          <a:p>
            <a:br>
              <a:rPr lang="en-US" sz="1200" b="0" kern="1200" dirty="0">
                <a:effectLst/>
              </a:rPr>
            </a:br>
            <a:endParaRPr lang="en-US" sz="1200" b="0" kern="1200" dirty="0">
              <a:effectLst/>
            </a:endParaRPr>
          </a:p>
          <a:p>
            <a:r>
              <a:rPr lang="en-US" sz="1200" b="0" kern="1200" dirty="0">
                <a:effectLst/>
              </a:rPr>
              <a:t>Second, for melody generation, the LSTM beats the Markov baseline on perplexity and better matches real repetition structure.</a:t>
            </a:r>
          </a:p>
          <a:p>
            <a:br>
              <a:rPr lang="en-US" sz="1200" b="0" kern="1200" dirty="0">
                <a:effectLst/>
              </a:rPr>
            </a:br>
            <a:endParaRPr lang="en-US" sz="1200" b="0" kern="1200" dirty="0">
              <a:effectLst/>
            </a:endParaRPr>
          </a:p>
          <a:p>
            <a:r>
              <a:rPr lang="en-US" sz="1200" b="0" kern="1200" dirty="0">
                <a:effectLst/>
              </a:rPr>
              <a:t>Third, for harmonization, context matters more than instantaneous pitch matching. The </a:t>
            </a:r>
            <a:r>
              <a:rPr lang="en-US" sz="1200" b="0" kern="1200" dirty="0" err="1">
                <a:effectLst/>
              </a:rPr>
              <a:t>BiLSTM</a:t>
            </a:r>
            <a:r>
              <a:rPr lang="en-US" sz="1200" b="0" kern="1200" dirty="0">
                <a:effectLst/>
              </a:rPr>
              <a:t> beats both the tonic majority baseline and the template rule.</a:t>
            </a:r>
          </a:p>
          <a:p>
            <a:br>
              <a:rPr lang="en-US" sz="1200" b="0" kern="1200" dirty="0">
                <a:effectLst/>
              </a:rPr>
            </a:br>
            <a:endParaRPr lang="en-US" sz="1200" b="0" kern="1200" dirty="0">
              <a:effectLst/>
            </a:endParaRPr>
          </a:p>
          <a:p>
            <a:r>
              <a:rPr lang="en-US" sz="1200" b="0" kern="1200" dirty="0">
                <a:effectLst/>
              </a:rPr>
              <a:t>Finally, metrics guide the work, but music has to be heard. So the recording should close by playing `symbolic_unconditioned.mid`, then `symbolic_conditioned.mid`.</a:t>
            </a:r>
          </a:p>
          <a:p>
            <a:br>
              <a:rPr lang="en-US" sz="1200" b="0" kern="1200" dirty="0">
                <a:effectLst/>
              </a:rPr>
            </a:br>
            <a:endParaRPr lang="en-US" sz="1200" b="0" kern="1200" dirty="0">
              <a:effectLst/>
            </a:endParaRPr>
          </a:p>
          <a:p>
            <a:r>
              <a:rPr lang="en-US" sz="1200" b="0" kern="1200" dirty="0">
                <a:effectLst/>
              </a:rPr>
              <a:t>Optional final line: the project starts with a folk corpus, learns a melody model, learns a harmony model, and ends with a generated tune that can actually be listened to.</a:t>
            </a:r>
          </a:p>
          <a:p>
            <a:r>
              <a:rPr lang="en-US" sz="1200" b="0" kern="1200" dirty="0">
                <a:effectLst/>
              </a:rPr>
              <a:t>Play `symbolic_unconditioned.mid` first.</a:t>
            </a:r>
          </a:p>
          <a:p>
            <a:br>
              <a:rPr lang="en-US" sz="1200" b="0" kern="1200" dirty="0">
                <a:effectLst/>
              </a:rPr>
            </a:br>
            <a:endParaRPr lang="en-US" sz="1200" b="0" kern="1200" dirty="0">
              <a:effectLst/>
            </a:endParaRPr>
          </a:p>
          <a:p>
            <a:r>
              <a:rPr lang="en-US" sz="1200" b="0" kern="1200" dirty="0">
                <a:effectLst/>
              </a:rPr>
              <a:t>Then play `symbolic_conditioned.mid`.</a:t>
            </a:r>
          </a:p>
          <a:p>
            <a:br>
              <a:rPr lang="en-US" sz="1200" b="0" kern="1200" dirty="0">
                <a:effectLst/>
              </a:rPr>
            </a:br>
            <a:endParaRPr lang="en-US" sz="1200" b="0" kern="1200" dirty="0">
              <a:effectLst/>
            </a:endParaRPr>
          </a:p>
          <a:p>
            <a:r>
              <a:rPr lang="en-US" sz="1200" b="0" kern="1200" dirty="0">
                <a:effectLst/>
              </a:rPr>
              <a:t>If screen-recording from `workbook.html`, scroll to section 5, where both audio clips are embedded.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sv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55EEB359-D26C-457D-B7E7-E2572F25903A}"/>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8F2278CD-96A8-4A0A-BD9F-441FA44E1A80}"/>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DCE21C1-0D3D-4B1B-B195-BD9A9BAEF4BA}"/>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A59772BA-6C1A-4390-990A-D2DE944F70E8}"/>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E2D26B8-9B5C-4E68-AB32-F3156D179C43}"/>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8BA4FDC-1C70-4906-ADFA-2E91469EB161}"/>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6C39884-9652-4D55-94C4-E2D5BDEAA6C8}"/>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22CC5EEC-E0B7-4558-9ECB-347D6C3EE434}"/>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EB72AE93-6D6C-4974-8338-C7E71214B4C6}"/>
              </a:ext>
            </a:extLst>
          </p:cNvPr>
          <p:cNvSpPr>
            <a:spLocks noGrp="1"/>
          </p:cNvSpPr>
          <p:nvPr/>
        </p:nvSpPr>
        <p:spPr>
          <a:xfrm>
            <a:off x="751176" y="5964598"/>
            <a:ext cx="198726" cy="224704"/>
          </a:xfrm>
          <a:prstGeom prst="rect">
            <a:avLst/>
          </a:prstGeom>
          <a:solidFill>
            <a:srgbClr val="FF5A5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8507D07E-8426-43A1-A9DC-A487E9B92F40}"/>
              </a:ext>
            </a:extLst>
          </p:cNvPr>
          <p:cNvSpPr>
            <a:spLocks noGrp="1"/>
          </p:cNvSpPr>
          <p:nvPr/>
        </p:nvSpPr>
        <p:spPr>
          <a:xfrm>
            <a:off x="1007052" y="5910882"/>
            <a:ext cx="198726" cy="332136"/>
          </a:xfrm>
          <a:prstGeom prst="rect">
            <a:avLst/>
          </a:prstGeom>
          <a:solidFill>
            <a:srgbClr val="FF5A5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29A799D4-078F-4BF3-9006-605A7E6459F8}"/>
              </a:ext>
            </a:extLst>
          </p:cNvPr>
          <p:cNvSpPr>
            <a:spLocks noGrp="1"/>
          </p:cNvSpPr>
          <p:nvPr/>
        </p:nvSpPr>
        <p:spPr>
          <a:xfrm>
            <a:off x="1262928" y="5898231"/>
            <a:ext cx="198726" cy="357437"/>
          </a:xfrm>
          <a:prstGeom prst="rect">
            <a:avLst/>
          </a:prstGeom>
          <a:solidFill>
            <a:srgbClr val="FF5A5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68FAA46E-E6C3-4B85-BCC6-028BBF3492F9}"/>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6A3495CB-E120-4344-9580-214EDE973FFE}"/>
              </a:ext>
            </a:extLst>
          </p:cNvPr>
          <p:cNvSpPr>
            <a:spLocks noGrp="1"/>
          </p:cNvSpPr>
          <p:nvPr/>
        </p:nvSpPr>
        <p:spPr>
          <a:xfrm>
            <a:off x="1774681" y="5982164"/>
            <a:ext cx="198726" cy="189572"/>
          </a:xfrm>
          <a:prstGeom prst="rect">
            <a:avLst/>
          </a:prstGeom>
          <a:solidFill>
            <a:srgbClr val="FF5A5F"/>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1D8BFD16-A6D3-44E8-B277-E5B6143D52F6}"/>
              </a:ext>
            </a:extLst>
          </p:cNvPr>
          <p:cNvSpPr>
            <a:spLocks noGrp="1"/>
          </p:cNvSpPr>
          <p:nvPr/>
        </p:nvSpPr>
        <p:spPr>
          <a:xfrm>
            <a:off x="2030557" y="6039217"/>
            <a:ext cx="198726" cy="75466"/>
          </a:xfrm>
          <a:prstGeom prst="rect">
            <a:avLst/>
          </a:prstGeom>
          <a:solidFill>
            <a:srgbClr val="FF5A5F"/>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C9640472-B235-4519-9F65-AA66278D64E4}"/>
              </a:ext>
            </a:extLst>
          </p:cNvPr>
          <p:cNvSpPr>
            <a:spLocks noGrp="1"/>
          </p:cNvSpPr>
          <p:nvPr/>
        </p:nvSpPr>
        <p:spPr>
          <a:xfrm>
            <a:off x="2286433" y="6013509"/>
            <a:ext cx="198726" cy="126882"/>
          </a:xfrm>
          <a:prstGeom prst="rect">
            <a:avLst/>
          </a:prstGeom>
          <a:solidFill>
            <a:srgbClr val="FF5A5F"/>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B82686E2-0597-4547-81E3-B29804749811}"/>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59BB88E2-C6C2-4ED5-A877-04E8AFCBA740}"/>
              </a:ext>
            </a:extLst>
          </p:cNvPr>
          <p:cNvSpPr>
            <a:spLocks noGrp="1"/>
          </p:cNvSpPr>
          <p:nvPr/>
        </p:nvSpPr>
        <p:spPr>
          <a:xfrm>
            <a:off x="2798185" y="6030714"/>
            <a:ext cx="198726" cy="92472"/>
          </a:xfrm>
          <a:prstGeom prst="rect">
            <a:avLst/>
          </a:prstGeom>
          <a:solidFill>
            <a:srgbClr val="FF5A5F"/>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EC1D9F68-2CE9-4259-B42C-ECAB79732219}"/>
              </a:ext>
            </a:extLst>
          </p:cNvPr>
          <p:cNvSpPr>
            <a:spLocks noGrp="1"/>
          </p:cNvSpPr>
          <p:nvPr/>
        </p:nvSpPr>
        <p:spPr>
          <a:xfrm>
            <a:off x="3054061" y="5969212"/>
            <a:ext cx="198726" cy="215476"/>
          </a:xfrm>
          <a:prstGeom prst="rect">
            <a:avLst/>
          </a:prstGeom>
          <a:solidFill>
            <a:srgbClr val="FF5A5F"/>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404BEE14-577F-4B37-B049-0DF3191FB01D}"/>
              </a:ext>
            </a:extLst>
          </p:cNvPr>
          <p:cNvSpPr>
            <a:spLocks noGrp="1"/>
          </p:cNvSpPr>
          <p:nvPr/>
        </p:nvSpPr>
        <p:spPr>
          <a:xfrm>
            <a:off x="3309938" y="5911029"/>
            <a:ext cx="198726" cy="331843"/>
          </a:xfrm>
          <a:prstGeom prst="rect">
            <a:avLst/>
          </a:prstGeom>
          <a:solidFill>
            <a:srgbClr val="FF5A5F"/>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3D432EA2-64DA-47CB-BC34-1991EED8BBA4}"/>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F4D4244D-0744-428F-8D20-72681885B365}"/>
              </a:ext>
            </a:extLst>
          </p:cNvPr>
          <p:cNvSpPr>
            <a:spLocks noGrp="1"/>
          </p:cNvSpPr>
          <p:nvPr/>
        </p:nvSpPr>
        <p:spPr>
          <a:xfrm>
            <a:off x="3821690" y="5892490"/>
            <a:ext cx="198726" cy="368919"/>
          </a:xfrm>
          <a:prstGeom prst="rect">
            <a:avLst/>
          </a:prstGeom>
          <a:solidFill>
            <a:srgbClr val="FF5A5F"/>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0F854F68-8087-40CB-9683-D246B539BD0E}"/>
              </a:ext>
            </a:extLst>
          </p:cNvPr>
          <p:cNvSpPr>
            <a:spLocks noGrp="1"/>
          </p:cNvSpPr>
          <p:nvPr/>
        </p:nvSpPr>
        <p:spPr>
          <a:xfrm>
            <a:off x="4077566" y="5945816"/>
            <a:ext cx="198726" cy="262268"/>
          </a:xfrm>
          <a:prstGeom prst="rect">
            <a:avLst/>
          </a:prstGeom>
          <a:solidFill>
            <a:srgbClr val="FF5A5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1E626C0C-7CC0-4398-83E0-600D08AF6DA5}"/>
              </a:ext>
            </a:extLst>
          </p:cNvPr>
          <p:cNvSpPr>
            <a:spLocks noGrp="1"/>
          </p:cNvSpPr>
          <p:nvPr/>
        </p:nvSpPr>
        <p:spPr>
          <a:xfrm>
            <a:off x="4333442" y="6024332"/>
            <a:ext cx="198726" cy="105236"/>
          </a:xfrm>
          <a:prstGeom prst="rect">
            <a:avLst/>
          </a:prstGeom>
          <a:solidFill>
            <a:srgbClr val="FF5A5F"/>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D0FF3E49-F534-4343-9324-8DEB6F11D968}"/>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9B383EE6-5AA6-4812-8A09-BDD4355F9095}"/>
              </a:ext>
            </a:extLst>
          </p:cNvPr>
          <p:cNvSpPr>
            <a:spLocks noGrp="1"/>
          </p:cNvSpPr>
          <p:nvPr/>
        </p:nvSpPr>
        <p:spPr>
          <a:xfrm>
            <a:off x="4845194" y="5931741"/>
            <a:ext cx="198726" cy="290417"/>
          </a:xfrm>
          <a:prstGeom prst="rect">
            <a:avLst/>
          </a:prstGeom>
          <a:solidFill>
            <a:srgbClr val="FF5A5F"/>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23745483-54D2-4C6B-A28E-5393ADEC5D05}"/>
              </a:ext>
            </a:extLst>
          </p:cNvPr>
          <p:cNvSpPr>
            <a:spLocks noGrp="1"/>
          </p:cNvSpPr>
          <p:nvPr/>
        </p:nvSpPr>
        <p:spPr>
          <a:xfrm>
            <a:off x="5101070" y="5919436"/>
            <a:ext cx="198726" cy="315029"/>
          </a:xfrm>
          <a:prstGeom prst="rect">
            <a:avLst/>
          </a:prstGeom>
          <a:solidFill>
            <a:srgbClr val="FF5A5F"/>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FC66467-E5C6-457D-813C-E61BC067773C}"/>
              </a:ext>
            </a:extLst>
          </p:cNvPr>
          <p:cNvSpPr>
            <a:spLocks noGrp="1"/>
          </p:cNvSpPr>
          <p:nvPr/>
        </p:nvSpPr>
        <p:spPr>
          <a:xfrm>
            <a:off x="5356947" y="5947475"/>
            <a:ext cx="198726" cy="258950"/>
          </a:xfrm>
          <a:prstGeom prst="rect">
            <a:avLst/>
          </a:prstGeom>
          <a:solidFill>
            <a:srgbClr val="FF5A5F"/>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060440E7-66AF-4A94-9DD1-63C46A1780C1}"/>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8727EDA8-0B77-42AD-91F3-C7E65910BCD8}"/>
              </a:ext>
            </a:extLst>
          </p:cNvPr>
          <p:cNvSpPr>
            <a:spLocks noGrp="1"/>
          </p:cNvSpPr>
          <p:nvPr/>
        </p:nvSpPr>
        <p:spPr>
          <a:xfrm>
            <a:off x="5868699" y="6033664"/>
            <a:ext cx="198726" cy="86571"/>
          </a:xfrm>
          <a:prstGeom prst="rect">
            <a:avLst/>
          </a:prstGeom>
          <a:solidFill>
            <a:srgbClr val="FF5A5F"/>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F86F649A-577F-483A-917C-84D41DE6529F}"/>
              </a:ext>
            </a:extLst>
          </p:cNvPr>
          <p:cNvSpPr>
            <a:spLocks noGrp="1"/>
          </p:cNvSpPr>
          <p:nvPr/>
        </p:nvSpPr>
        <p:spPr>
          <a:xfrm>
            <a:off x="6124575" y="6004320"/>
            <a:ext cx="198726" cy="145261"/>
          </a:xfrm>
          <a:prstGeom prst="rect">
            <a:avLst/>
          </a:prstGeom>
          <a:solidFill>
            <a:srgbClr val="FF5A5F"/>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A6BE1A9A-8049-4D9C-854C-0AE9FC8EAE05}"/>
              </a:ext>
            </a:extLst>
          </p:cNvPr>
          <p:cNvSpPr>
            <a:spLocks noGrp="1"/>
          </p:cNvSpPr>
          <p:nvPr/>
        </p:nvSpPr>
        <p:spPr>
          <a:xfrm>
            <a:off x="6380451" y="6013048"/>
            <a:ext cx="198726" cy="127803"/>
          </a:xfrm>
          <a:prstGeom prst="rect">
            <a:avLst/>
          </a:prstGeom>
          <a:solidFill>
            <a:srgbClr val="FF5A5F"/>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F891887D-93EC-4E20-997B-F2C8B7E091D2}"/>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552CE82B-D03A-486E-81BA-45B79FE49FF4}"/>
              </a:ext>
            </a:extLst>
          </p:cNvPr>
          <p:cNvSpPr>
            <a:spLocks noGrp="1"/>
          </p:cNvSpPr>
          <p:nvPr/>
        </p:nvSpPr>
        <p:spPr>
          <a:xfrm>
            <a:off x="6892203" y="5962387"/>
            <a:ext cx="198726" cy="229126"/>
          </a:xfrm>
          <a:prstGeom prst="rect">
            <a:avLst/>
          </a:prstGeom>
          <a:solidFill>
            <a:srgbClr val="FF5A5F"/>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13B2F766-5C50-409F-A84F-B0A8C2A79D6D}"/>
              </a:ext>
            </a:extLst>
          </p:cNvPr>
          <p:cNvSpPr>
            <a:spLocks noGrp="1"/>
          </p:cNvSpPr>
          <p:nvPr/>
        </p:nvSpPr>
        <p:spPr>
          <a:xfrm>
            <a:off x="7148080" y="5900718"/>
            <a:ext cx="198726" cy="352464"/>
          </a:xfrm>
          <a:prstGeom prst="rect">
            <a:avLst/>
          </a:prstGeom>
          <a:solidFill>
            <a:srgbClr val="FF5A5F"/>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37AABE71-2A1B-409F-A097-E230D1C1D777}"/>
              </a:ext>
            </a:extLst>
          </p:cNvPr>
          <p:cNvSpPr>
            <a:spLocks noGrp="1"/>
          </p:cNvSpPr>
          <p:nvPr/>
        </p:nvSpPr>
        <p:spPr>
          <a:xfrm>
            <a:off x="7403956" y="5867921"/>
            <a:ext cx="198726" cy="418059"/>
          </a:xfrm>
          <a:prstGeom prst="rect">
            <a:avLst/>
          </a:prstGeom>
          <a:solidFill>
            <a:srgbClr val="FF5A5F"/>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9E33A284-CBA0-47EF-9B29-573A062F90E2}"/>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89D57E7A-0153-4CDE-8090-4E4A478E6E00}"/>
              </a:ext>
            </a:extLst>
          </p:cNvPr>
          <p:cNvSpPr>
            <a:spLocks noGrp="1"/>
          </p:cNvSpPr>
          <p:nvPr/>
        </p:nvSpPr>
        <p:spPr>
          <a:xfrm>
            <a:off x="7915708" y="5930072"/>
            <a:ext cx="198726" cy="293756"/>
          </a:xfrm>
          <a:prstGeom prst="rect">
            <a:avLst/>
          </a:prstGeom>
          <a:solidFill>
            <a:srgbClr val="FF5A5F"/>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4178D200-95EB-408A-9E29-6F52E56D40E2}"/>
              </a:ext>
            </a:extLst>
          </p:cNvPr>
          <p:cNvSpPr>
            <a:spLocks noGrp="1"/>
          </p:cNvSpPr>
          <p:nvPr/>
        </p:nvSpPr>
        <p:spPr>
          <a:xfrm>
            <a:off x="8171584" y="6006911"/>
            <a:ext cx="198726" cy="140078"/>
          </a:xfrm>
          <a:prstGeom prst="rect">
            <a:avLst/>
          </a:prstGeom>
          <a:solidFill>
            <a:srgbClr val="FF5A5F"/>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30E1C0E3-8449-4894-A2B2-91E64B2C282A}"/>
              </a:ext>
            </a:extLst>
          </p:cNvPr>
          <p:cNvSpPr>
            <a:spLocks noGrp="1"/>
          </p:cNvSpPr>
          <p:nvPr/>
        </p:nvSpPr>
        <p:spPr>
          <a:xfrm>
            <a:off x="8427460" y="6004075"/>
            <a:ext cx="198726" cy="145749"/>
          </a:xfrm>
          <a:prstGeom prst="rect">
            <a:avLst/>
          </a:prstGeom>
          <a:solidFill>
            <a:srgbClr val="FF5A5F"/>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92A6212A-DFE2-4B24-9308-0F420C8CE913}"/>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67E4BDB9-76DE-4643-85EC-71620DB0B031}"/>
              </a:ext>
            </a:extLst>
          </p:cNvPr>
          <p:cNvSpPr>
            <a:spLocks noGrp="1"/>
          </p:cNvSpPr>
          <p:nvPr/>
        </p:nvSpPr>
        <p:spPr>
          <a:xfrm>
            <a:off x="8939213" y="5942485"/>
            <a:ext cx="198726" cy="268931"/>
          </a:xfrm>
          <a:prstGeom prst="rect">
            <a:avLst/>
          </a:prstGeom>
          <a:solidFill>
            <a:srgbClr val="FF5A5F"/>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47C02FB1-3F4A-4094-8C14-3814E028272E}"/>
              </a:ext>
            </a:extLst>
          </p:cNvPr>
          <p:cNvSpPr>
            <a:spLocks noGrp="1"/>
          </p:cNvSpPr>
          <p:nvPr/>
        </p:nvSpPr>
        <p:spPr>
          <a:xfrm>
            <a:off x="9195089" y="5970910"/>
            <a:ext cx="198726" cy="212081"/>
          </a:xfrm>
          <a:prstGeom prst="rect">
            <a:avLst/>
          </a:prstGeom>
          <a:solidFill>
            <a:srgbClr val="FF5A5F"/>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91FD885D-83BB-48EA-AC88-3B4B9A5DFFA6}"/>
              </a:ext>
            </a:extLst>
          </p:cNvPr>
          <p:cNvSpPr>
            <a:spLocks noGrp="1"/>
          </p:cNvSpPr>
          <p:nvPr/>
        </p:nvSpPr>
        <p:spPr>
          <a:xfrm>
            <a:off x="9450965" y="6022556"/>
            <a:ext cx="198726" cy="108788"/>
          </a:xfrm>
          <a:prstGeom prst="rect">
            <a:avLst/>
          </a:prstGeom>
          <a:solidFill>
            <a:srgbClr val="FF5A5F"/>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7D171DD3-E7A3-48C5-9FAE-98E571639936}"/>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ADB46B4D-52B5-4C06-8B89-33D11CC0C115}"/>
              </a:ext>
            </a:extLst>
          </p:cNvPr>
          <p:cNvSpPr>
            <a:spLocks noGrp="1"/>
          </p:cNvSpPr>
          <p:nvPr/>
        </p:nvSpPr>
        <p:spPr>
          <a:xfrm>
            <a:off x="9962717" y="5989620"/>
            <a:ext cx="198726" cy="174661"/>
          </a:xfrm>
          <a:prstGeom prst="rect">
            <a:avLst/>
          </a:prstGeom>
          <a:solidFill>
            <a:srgbClr val="FF5A5F"/>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0D308342-0924-4006-9166-1D8FF2A2E46F}"/>
              </a:ext>
            </a:extLst>
          </p:cNvPr>
          <p:cNvSpPr>
            <a:spLocks noGrp="1"/>
          </p:cNvSpPr>
          <p:nvPr/>
        </p:nvSpPr>
        <p:spPr>
          <a:xfrm>
            <a:off x="10218593" y="6003586"/>
            <a:ext cx="198726" cy="146728"/>
          </a:xfrm>
          <a:prstGeom prst="rect">
            <a:avLst/>
          </a:prstGeom>
          <a:solidFill>
            <a:srgbClr val="FF5A5F"/>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2A35235A-99D6-46FA-BCFC-7A2102FF2C49}"/>
              </a:ext>
            </a:extLst>
          </p:cNvPr>
          <p:cNvSpPr>
            <a:spLocks noGrp="1"/>
          </p:cNvSpPr>
          <p:nvPr/>
        </p:nvSpPr>
        <p:spPr>
          <a:xfrm>
            <a:off x="10474469" y="6032809"/>
            <a:ext cx="198726" cy="88282"/>
          </a:xfrm>
          <a:prstGeom prst="rect">
            <a:avLst/>
          </a:prstGeom>
          <a:solidFill>
            <a:srgbClr val="FF5A5F"/>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D43050E8-2569-452E-B133-D4F6569B7F9E}"/>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F37462D9-24AE-4DD1-BC41-8CE9E02287C1}"/>
              </a:ext>
            </a:extLst>
          </p:cNvPr>
          <p:cNvSpPr>
            <a:spLocks noGrp="1"/>
          </p:cNvSpPr>
          <p:nvPr/>
        </p:nvSpPr>
        <p:spPr>
          <a:xfrm>
            <a:off x="10986222" y="5896757"/>
            <a:ext cx="198726" cy="360386"/>
          </a:xfrm>
          <a:prstGeom prst="rect">
            <a:avLst/>
          </a:prstGeom>
          <a:solidFill>
            <a:srgbClr val="FF5A5F"/>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D6FA30C7-A620-4D8B-8A9A-422304DAAD3B}"/>
              </a:ext>
            </a:extLst>
          </p:cNvPr>
          <p:cNvSpPr>
            <a:spLocks noGrp="1"/>
          </p:cNvSpPr>
          <p:nvPr/>
        </p:nvSpPr>
        <p:spPr>
          <a:xfrm>
            <a:off x="11242098" y="5861239"/>
            <a:ext cx="198726" cy="431422"/>
          </a:xfrm>
          <a:prstGeom prst="rect">
            <a:avLst/>
          </a:prstGeom>
          <a:solidFill>
            <a:srgbClr val="FF5A5F"/>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C8C0F0C7-0619-40B6-90F1-FC9BDC1D23F2}"/>
              </a:ext>
            </a:extLst>
          </p:cNvPr>
          <p:cNvSpPr>
            <a:spLocks noGrp="1"/>
          </p:cNvSpPr>
          <p:nvPr/>
        </p:nvSpPr>
        <p:spPr>
          <a:xfrm>
            <a:off x="11497974" y="5869274"/>
            <a:ext cx="198726" cy="415351"/>
          </a:xfrm>
          <a:prstGeom prst="rect">
            <a:avLst/>
          </a:prstGeom>
          <a:solidFill>
            <a:srgbClr val="FF5A5F"/>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1481EF22-ED8E-4977-861C-E399564971E2}"/>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B000"/>
                </a:solidFill>
                <a:latin typeface="Aptos"/>
                <a:ea typeface="Aptos"/>
                <a:cs typeface="Aptos"/>
              </a:defRPr>
            </a:pPr>
            <a:r>
              <a:rPr sz="975" b="1">
                <a:solidFill>
                  <a:srgbClr val="FFB000"/>
                </a:solidFill>
                <a:latin typeface="Aptos"/>
                <a:ea typeface="Aptos"/>
                <a:cs typeface="Aptos"/>
              </a:rPr>
              <a:t>music ML representation</a:t>
            </a:r>
          </a:p>
        </p:txBody>
      </p:sp>
      <p:sp>
        <p:nvSpPr>
          <p:cNvPr id="53" name="page-number">
            <a:extLst>
              <a:ext uri="{FF2B5EF4-FFF2-40B4-BE49-F238E27FC236}">
                <a16:creationId xmlns:a16="http://schemas.microsoft.com/office/drawing/2014/main" id="{8A977BAA-9DAF-40ED-B329-754080A98628}"/>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a:t>
            </a:r>
          </a:p>
        </p:txBody>
      </p:sp>
      <p:pic>
        <p:nvPicPr>
          <p:cNvPr id="54" name="Graphic 53"/>
          <p:cNvPicPr>
            <a:picLocks noChangeAspect="1"/>
          </p:cNvPicPr>
          <p:nvPr/>
        </p:nvPicPr>
        <p:blipFill>
          <a:blip>
            <a:extLst>
              <a:ext uri="{96DAC541-7B7A-43D3-8B79-37D633B846F1}">
                <asvg:svgBlip xmlns:asvg="http://schemas.microsoft.com/office/drawing/2016/SVG/main" r:embed="rId3"/>
              </a:ext>
            </a:extLst>
          </a:blip>
          <a:stretch/>
        </p:blipFill>
        <p:spPr>
          <a:xfrm>
            <a:off x="10572750" y="361950"/>
            <a:ext cx="495300" cy="495300"/>
          </a:xfrm>
          <a:prstGeom prst="rect">
            <a:avLst/>
          </a:prstGeom>
        </p:spPr>
      </p:pic>
      <p:sp>
        <p:nvSpPr>
          <p:cNvPr id="55" name="main-title">
            <a:extLst>
              <a:ext uri="{FF2B5EF4-FFF2-40B4-BE49-F238E27FC236}">
                <a16:creationId xmlns:a16="http://schemas.microsoft.com/office/drawing/2014/main" id="{62BAC442-B462-4D60-A888-C362DC8AA3A6}"/>
              </a:ext>
            </a:extLst>
          </p:cNvPr>
          <p:cNvSpPr>
            <a:spLocks noGrp="1"/>
          </p:cNvSpPr>
          <p:nvPr/>
        </p:nvSpPr>
        <p:spPr>
          <a:xfrm>
            <a:off x="685800" y="1428750"/>
            <a:ext cx="8382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900" b="1">
                <a:solidFill>
                  <a:srgbClr val="F4EFE7"/>
                </a:solidFill>
                <a:latin typeface="Aptos"/>
                <a:ea typeface="Aptos"/>
                <a:cs typeface="Aptos"/>
              </a:defRPr>
            </a:pPr>
            <a:r>
              <a:rPr sz="3900" b="1">
                <a:solidFill>
                  <a:srgbClr val="F4EFE7"/>
                </a:solidFill>
                <a:latin typeface="Aptos"/>
                <a:ea typeface="Aptos"/>
                <a:cs typeface="Aptos"/>
              </a:rPr>
              <a:t>Making Music with Machine Learning</a:t>
            </a:r>
          </a:p>
        </p:txBody>
      </p:sp>
      <p:sp>
        <p:nvSpPr>
          <p:cNvPr id="56" name="Rectangle 55">
            <a:extLst>
              <a:ext uri="{FF2B5EF4-FFF2-40B4-BE49-F238E27FC236}">
                <a16:creationId xmlns:a16="http://schemas.microsoft.com/office/drawing/2014/main" id="{D1A90EAF-F6EF-4BD8-A018-A311D62D8A8A}"/>
              </a:ext>
            </a:extLst>
          </p:cNvPr>
          <p:cNvSpPr>
            <a:spLocks noGrp="1"/>
          </p:cNvSpPr>
          <p:nvPr/>
        </p:nvSpPr>
        <p:spPr>
          <a:xfrm>
            <a:off x="723900" y="2438400"/>
            <a:ext cx="723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BFB6AA"/>
                </a:solidFill>
                <a:latin typeface="Aptos"/>
                <a:ea typeface="Aptos"/>
                <a:cs typeface="Aptos"/>
              </a:defRPr>
            </a:pPr>
            <a:r>
              <a:rPr sz="1650" b="0">
                <a:solidFill>
                  <a:srgbClr val="BFB6AA"/>
                </a:solidFill>
                <a:latin typeface="Aptos"/>
                <a:ea typeface="Aptos"/>
                <a:cs typeface="Aptos"/>
              </a:rPr>
              <a:t>Two symbolic generation tasks on the Nottingham folk corpus</a:t>
            </a:r>
          </a:p>
        </p:txBody>
      </p:sp>
      <p:sp>
        <p:nvSpPr>
          <p:cNvPr id="57" name="Rectangle 56">
            <a:extLst>
              <a:ext uri="{FF2B5EF4-FFF2-40B4-BE49-F238E27FC236}">
                <a16:creationId xmlns:a16="http://schemas.microsoft.com/office/drawing/2014/main" id="{F6008414-04AB-4333-9245-69A9A7F953CA}"/>
              </a:ext>
            </a:extLst>
          </p:cNvPr>
          <p:cNvSpPr>
            <a:spLocks noGrp="1"/>
          </p:cNvSpPr>
          <p:nvPr/>
        </p:nvSpPr>
        <p:spPr>
          <a:xfrm>
            <a:off x="7239000" y="1657350"/>
            <a:ext cx="3143250" cy="12383"/>
          </a:xfrm>
          <a:prstGeom prst="rect">
            <a:avLst/>
          </a:prstGeom>
          <a:solidFill>
            <a:srgbClr val="5C534B"/>
          </a:solidFill>
          <a:ln w="0">
            <a:solidFill>
              <a:srgbClr val="000000">
                <a:alpha val="0"/>
              </a:srgbClr>
            </a:solidFill>
            <a:prstDash val="solid"/>
          </a:ln>
        </p:spPr>
        <p:txBody>
          <a:bodyPr/>
          <a:lstStyle/>
          <a:p>
            <a:endParaRPr lang="en-US"/>
          </a:p>
        </p:txBody>
      </p:sp>
      <p:sp>
        <p:nvSpPr>
          <p:cNvPr id="58" name="Rectangle 57">
            <a:extLst>
              <a:ext uri="{FF2B5EF4-FFF2-40B4-BE49-F238E27FC236}">
                <a16:creationId xmlns:a16="http://schemas.microsoft.com/office/drawing/2014/main" id="{F188DDA9-9582-44D7-8E30-6CD5A2B0A45E}"/>
              </a:ext>
            </a:extLst>
          </p:cNvPr>
          <p:cNvSpPr>
            <a:spLocks noGrp="1"/>
          </p:cNvSpPr>
          <p:nvPr/>
        </p:nvSpPr>
        <p:spPr>
          <a:xfrm>
            <a:off x="7239000" y="1743075"/>
            <a:ext cx="3143250" cy="12383"/>
          </a:xfrm>
          <a:prstGeom prst="rect">
            <a:avLst/>
          </a:prstGeom>
          <a:solidFill>
            <a:srgbClr val="5C534B"/>
          </a:solidFill>
          <a:ln w="0">
            <a:solidFill>
              <a:srgbClr val="000000">
                <a:alpha val="0"/>
              </a:srgbClr>
            </a:solidFill>
            <a:prstDash val="solid"/>
          </a:ln>
        </p:spPr>
        <p:txBody>
          <a:bodyPr/>
          <a:lstStyle/>
          <a:p>
            <a:endParaRPr lang="en-US"/>
          </a:p>
        </p:txBody>
      </p:sp>
      <p:sp>
        <p:nvSpPr>
          <p:cNvPr id="59" name="Rectangle 58">
            <a:extLst>
              <a:ext uri="{FF2B5EF4-FFF2-40B4-BE49-F238E27FC236}">
                <a16:creationId xmlns:a16="http://schemas.microsoft.com/office/drawing/2014/main" id="{F14332C6-FF2E-490E-8F43-80D540110B43}"/>
              </a:ext>
            </a:extLst>
          </p:cNvPr>
          <p:cNvSpPr>
            <a:spLocks noGrp="1"/>
          </p:cNvSpPr>
          <p:nvPr/>
        </p:nvSpPr>
        <p:spPr>
          <a:xfrm>
            <a:off x="7239000" y="1828800"/>
            <a:ext cx="3143250" cy="12383"/>
          </a:xfrm>
          <a:prstGeom prst="rect">
            <a:avLst/>
          </a:prstGeom>
          <a:solidFill>
            <a:srgbClr val="5C534B"/>
          </a:solidFill>
          <a:ln w="0">
            <a:solidFill>
              <a:srgbClr val="000000">
                <a:alpha val="0"/>
              </a:srgbClr>
            </a:solidFill>
            <a:prstDash val="solid"/>
          </a:ln>
        </p:spPr>
        <p:txBody>
          <a:bodyPr/>
          <a:lstStyle/>
          <a:p>
            <a:endParaRPr lang="en-US"/>
          </a:p>
        </p:txBody>
      </p:sp>
      <p:sp>
        <p:nvSpPr>
          <p:cNvPr id="60" name="Rectangle 59">
            <a:extLst>
              <a:ext uri="{FF2B5EF4-FFF2-40B4-BE49-F238E27FC236}">
                <a16:creationId xmlns:a16="http://schemas.microsoft.com/office/drawing/2014/main" id="{A14EF8B1-7ECB-42CF-AEF0-AF76EB87B71F}"/>
              </a:ext>
            </a:extLst>
          </p:cNvPr>
          <p:cNvSpPr>
            <a:spLocks noGrp="1"/>
          </p:cNvSpPr>
          <p:nvPr/>
        </p:nvSpPr>
        <p:spPr>
          <a:xfrm>
            <a:off x="7239000" y="1914525"/>
            <a:ext cx="3143250" cy="12383"/>
          </a:xfrm>
          <a:prstGeom prst="rect">
            <a:avLst/>
          </a:prstGeom>
          <a:solidFill>
            <a:srgbClr val="5C534B"/>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194F4A7B-CA8A-4F71-A6B0-FCD7486A8863}"/>
              </a:ext>
            </a:extLst>
          </p:cNvPr>
          <p:cNvSpPr>
            <a:spLocks noGrp="1"/>
          </p:cNvSpPr>
          <p:nvPr/>
        </p:nvSpPr>
        <p:spPr>
          <a:xfrm>
            <a:off x="7239000" y="2000250"/>
            <a:ext cx="3143250" cy="12383"/>
          </a:xfrm>
          <a:prstGeom prst="rect">
            <a:avLst/>
          </a:prstGeom>
          <a:solidFill>
            <a:srgbClr val="5C534B"/>
          </a:solidFill>
          <a:ln w="0">
            <a:solidFill>
              <a:srgbClr val="000000">
                <a:alpha val="0"/>
              </a:srgbClr>
            </a:solidFill>
            <a:prstDash val="solid"/>
          </a:ln>
        </p:spPr>
        <p:txBody>
          <a:bodyPr/>
          <a:lstStyle/>
          <a:p>
            <a:endParaRPr lang="en-US"/>
          </a:p>
        </p:txBody>
      </p:sp>
      <p:sp>
        <p:nvSpPr>
          <p:cNvPr id="62" name="Rectangle 61">
            <a:extLst>
              <a:ext uri="{FF2B5EF4-FFF2-40B4-BE49-F238E27FC236}">
                <a16:creationId xmlns:a16="http://schemas.microsoft.com/office/drawing/2014/main" id="{4D9F9B03-031F-430D-B391-AF43AE96B594}"/>
              </a:ext>
            </a:extLst>
          </p:cNvPr>
          <p:cNvSpPr>
            <a:spLocks noGrp="1"/>
          </p:cNvSpPr>
          <p:nvPr/>
        </p:nvSpPr>
        <p:spPr>
          <a:xfrm>
            <a:off x="7334250" y="2895600"/>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EC4B6"/>
                </a:solidFill>
                <a:latin typeface="Aptos"/>
                <a:ea typeface="Aptos"/>
                <a:cs typeface="Aptos"/>
              </a:defRPr>
            </a:pPr>
            <a:r>
              <a:rPr sz="1650" b="1">
                <a:solidFill>
                  <a:srgbClr val="2EC4B6"/>
                </a:solidFill>
                <a:latin typeface="Aptos"/>
                <a:ea typeface="Aptos"/>
                <a:cs typeface="Aptos"/>
              </a:rPr>
              <a:t>compose -&gt; harmonize -&gt; listen</a:t>
            </a:r>
          </a:p>
        </p:txBody>
      </p:sp>
      <p:sp>
        <p:nvSpPr>
          <p:cNvPr id="63" name="Rectangle 62">
            <a:extLst>
              <a:ext uri="{FF2B5EF4-FFF2-40B4-BE49-F238E27FC236}">
                <a16:creationId xmlns:a16="http://schemas.microsoft.com/office/drawing/2014/main" id="{A1419910-FF0A-4799-A06F-9B12E412B4F2}"/>
              </a:ext>
            </a:extLst>
          </p:cNvPr>
          <p:cNvSpPr>
            <a:spLocks noGrp="1"/>
          </p:cNvSpPr>
          <p:nvPr/>
        </p:nvSpPr>
        <p:spPr>
          <a:xfrm>
            <a:off x="723900" y="3676650"/>
            <a:ext cx="1619250" cy="876300"/>
          </a:xfrm>
          <a:prstGeom prst="rect">
            <a:avLst/>
          </a:prstGeom>
          <a:solidFill>
            <a:srgbClr val="27211D"/>
          </a:solidFill>
          <a:ln w="9525">
            <a:solidFill>
              <a:srgbClr val="FFB000"/>
            </a:solidFill>
            <a:prstDash val="solid"/>
          </a:ln>
        </p:spPr>
        <p:txBody>
          <a:bodyPr/>
          <a:lstStyle/>
          <a:p>
            <a:endParaRPr lang="en-US"/>
          </a:p>
        </p:txBody>
      </p:sp>
      <p:sp>
        <p:nvSpPr>
          <p:cNvPr id="64" name="metric-value">
            <a:extLst>
              <a:ext uri="{FF2B5EF4-FFF2-40B4-BE49-F238E27FC236}">
                <a16:creationId xmlns:a16="http://schemas.microsoft.com/office/drawing/2014/main" id="{CE91A984-D8E6-4A68-8E11-8D6ACAF6FE29}"/>
              </a:ext>
            </a:extLst>
          </p:cNvPr>
          <p:cNvSpPr>
            <a:spLocks noGrp="1"/>
          </p:cNvSpPr>
          <p:nvPr/>
        </p:nvSpPr>
        <p:spPr>
          <a:xfrm>
            <a:off x="895350" y="3790950"/>
            <a:ext cx="1276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B000"/>
                </a:solidFill>
                <a:latin typeface="Aptos"/>
                <a:ea typeface="Aptos"/>
                <a:cs typeface="Aptos"/>
              </a:defRPr>
            </a:pPr>
            <a:r>
              <a:rPr sz="2250" b="1">
                <a:solidFill>
                  <a:srgbClr val="FFB000"/>
                </a:solidFill>
                <a:latin typeface="Aptos"/>
                <a:ea typeface="Aptos"/>
                <a:cs typeface="Aptos"/>
              </a:rPr>
              <a:t>1034</a:t>
            </a:r>
          </a:p>
        </p:txBody>
      </p:sp>
      <p:sp>
        <p:nvSpPr>
          <p:cNvPr id="65" name="metric-label">
            <a:extLst>
              <a:ext uri="{FF2B5EF4-FFF2-40B4-BE49-F238E27FC236}">
                <a16:creationId xmlns:a16="http://schemas.microsoft.com/office/drawing/2014/main" id="{B3BB2070-184F-4240-BE04-55C918753000}"/>
              </a:ext>
            </a:extLst>
          </p:cNvPr>
          <p:cNvSpPr>
            <a:spLocks noGrp="1"/>
          </p:cNvSpPr>
          <p:nvPr/>
        </p:nvSpPr>
        <p:spPr>
          <a:xfrm>
            <a:off x="895350" y="4171950"/>
            <a:ext cx="1276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tunes parsed</a:t>
            </a:r>
          </a:p>
        </p:txBody>
      </p:sp>
      <p:sp>
        <p:nvSpPr>
          <p:cNvPr id="66" name="Rectangle 65">
            <a:extLst>
              <a:ext uri="{FF2B5EF4-FFF2-40B4-BE49-F238E27FC236}">
                <a16:creationId xmlns:a16="http://schemas.microsoft.com/office/drawing/2014/main" id="{19C7B6A9-EBA4-4C72-BD97-36B38D3A977E}"/>
              </a:ext>
            </a:extLst>
          </p:cNvPr>
          <p:cNvSpPr>
            <a:spLocks noGrp="1"/>
          </p:cNvSpPr>
          <p:nvPr/>
        </p:nvSpPr>
        <p:spPr>
          <a:xfrm>
            <a:off x="2571750" y="3676650"/>
            <a:ext cx="1619250" cy="876300"/>
          </a:xfrm>
          <a:prstGeom prst="rect">
            <a:avLst/>
          </a:prstGeom>
          <a:solidFill>
            <a:srgbClr val="27211D"/>
          </a:solidFill>
          <a:ln w="9525">
            <a:solidFill>
              <a:srgbClr val="2EC4B6"/>
            </a:solidFill>
            <a:prstDash val="solid"/>
          </a:ln>
        </p:spPr>
        <p:txBody>
          <a:bodyPr/>
          <a:lstStyle/>
          <a:p>
            <a:endParaRPr lang="en-US"/>
          </a:p>
        </p:txBody>
      </p:sp>
      <p:sp>
        <p:nvSpPr>
          <p:cNvPr id="67" name="metric-value">
            <a:extLst>
              <a:ext uri="{FF2B5EF4-FFF2-40B4-BE49-F238E27FC236}">
                <a16:creationId xmlns:a16="http://schemas.microsoft.com/office/drawing/2014/main" id="{23A68981-91EF-4EAD-8E10-10CCCF1CCEC3}"/>
              </a:ext>
            </a:extLst>
          </p:cNvPr>
          <p:cNvSpPr>
            <a:spLocks noGrp="1"/>
          </p:cNvSpPr>
          <p:nvPr/>
        </p:nvSpPr>
        <p:spPr>
          <a:xfrm>
            <a:off x="2743200" y="3790950"/>
            <a:ext cx="1276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2EC4B6"/>
                </a:solidFill>
                <a:latin typeface="Aptos"/>
                <a:ea typeface="Aptos"/>
                <a:cs typeface="Aptos"/>
              </a:defRPr>
            </a:pPr>
            <a:r>
              <a:rPr sz="2250" b="1">
                <a:solidFill>
                  <a:srgbClr val="2EC4B6"/>
                </a:solidFill>
                <a:latin typeface="Aptos"/>
                <a:ea typeface="Aptos"/>
                <a:cs typeface="Aptos"/>
              </a:rPr>
              <a:t>46</a:t>
            </a:r>
          </a:p>
        </p:txBody>
      </p:sp>
      <p:sp>
        <p:nvSpPr>
          <p:cNvPr id="68" name="metric-label">
            <a:extLst>
              <a:ext uri="{FF2B5EF4-FFF2-40B4-BE49-F238E27FC236}">
                <a16:creationId xmlns:a16="http://schemas.microsoft.com/office/drawing/2014/main" id="{1CA9DC85-8EB8-407B-B4F5-345F42702DAF}"/>
              </a:ext>
            </a:extLst>
          </p:cNvPr>
          <p:cNvSpPr>
            <a:spLocks noGrp="1"/>
          </p:cNvSpPr>
          <p:nvPr/>
        </p:nvSpPr>
        <p:spPr>
          <a:xfrm>
            <a:off x="2743200" y="4171950"/>
            <a:ext cx="1276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melody tokens</a:t>
            </a:r>
          </a:p>
        </p:txBody>
      </p:sp>
      <p:sp>
        <p:nvSpPr>
          <p:cNvPr id="69" name="Rectangle 68">
            <a:extLst>
              <a:ext uri="{FF2B5EF4-FFF2-40B4-BE49-F238E27FC236}">
                <a16:creationId xmlns:a16="http://schemas.microsoft.com/office/drawing/2014/main" id="{3E05CD91-9036-4859-A6D0-A4F04FA15CE0}"/>
              </a:ext>
            </a:extLst>
          </p:cNvPr>
          <p:cNvSpPr>
            <a:spLocks noGrp="1"/>
          </p:cNvSpPr>
          <p:nvPr/>
        </p:nvSpPr>
        <p:spPr>
          <a:xfrm>
            <a:off x="4419600" y="3676650"/>
            <a:ext cx="1619250" cy="876300"/>
          </a:xfrm>
          <a:prstGeom prst="rect">
            <a:avLst/>
          </a:prstGeom>
          <a:solidFill>
            <a:srgbClr val="27211D"/>
          </a:solidFill>
          <a:ln w="9525">
            <a:solidFill>
              <a:srgbClr val="FF5A5F"/>
            </a:solidFill>
            <a:prstDash val="solid"/>
          </a:ln>
        </p:spPr>
        <p:txBody>
          <a:bodyPr/>
          <a:lstStyle/>
          <a:p>
            <a:endParaRPr lang="en-US"/>
          </a:p>
        </p:txBody>
      </p:sp>
      <p:sp>
        <p:nvSpPr>
          <p:cNvPr id="70" name="metric-value">
            <a:extLst>
              <a:ext uri="{FF2B5EF4-FFF2-40B4-BE49-F238E27FC236}">
                <a16:creationId xmlns:a16="http://schemas.microsoft.com/office/drawing/2014/main" id="{CC8AB04E-BCC8-4810-85D6-91CD93C0DCAB}"/>
              </a:ext>
            </a:extLst>
          </p:cNvPr>
          <p:cNvSpPr>
            <a:spLocks noGrp="1"/>
          </p:cNvSpPr>
          <p:nvPr/>
        </p:nvSpPr>
        <p:spPr>
          <a:xfrm>
            <a:off x="4591050" y="3790950"/>
            <a:ext cx="1276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5A5F"/>
                </a:solidFill>
                <a:latin typeface="Aptos"/>
                <a:ea typeface="Aptos"/>
                <a:cs typeface="Aptos"/>
              </a:defRPr>
            </a:pPr>
            <a:r>
              <a:rPr sz="2250" b="1">
                <a:solidFill>
                  <a:srgbClr val="FF5A5F"/>
                </a:solidFill>
                <a:latin typeface="Aptos"/>
                <a:ea typeface="Aptos"/>
                <a:cs typeface="Aptos"/>
              </a:rPr>
              <a:t>29</a:t>
            </a:r>
          </a:p>
        </p:txBody>
      </p:sp>
      <p:sp>
        <p:nvSpPr>
          <p:cNvPr id="71" name="metric-label">
            <a:extLst>
              <a:ext uri="{FF2B5EF4-FFF2-40B4-BE49-F238E27FC236}">
                <a16:creationId xmlns:a16="http://schemas.microsoft.com/office/drawing/2014/main" id="{A0D6CF3A-4754-4C45-856F-9EB81D71FCAA}"/>
              </a:ext>
            </a:extLst>
          </p:cNvPr>
          <p:cNvSpPr>
            <a:spLocks noGrp="1"/>
          </p:cNvSpPr>
          <p:nvPr/>
        </p:nvSpPr>
        <p:spPr>
          <a:xfrm>
            <a:off x="4591050" y="4171950"/>
            <a:ext cx="1276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chord labels</a:t>
            </a:r>
          </a:p>
        </p:txBody>
      </p:sp>
      <p:sp>
        <p:nvSpPr>
          <p:cNvPr id="72" name="Rectangle 71">
            <a:extLst>
              <a:ext uri="{FF2B5EF4-FFF2-40B4-BE49-F238E27FC236}">
                <a16:creationId xmlns:a16="http://schemas.microsoft.com/office/drawing/2014/main" id="{BA0A5F45-ADE0-47BD-8BB7-5044E9F5C98D}"/>
              </a:ext>
            </a:extLst>
          </p:cNvPr>
          <p:cNvSpPr>
            <a:spLocks noGrp="1"/>
          </p:cNvSpPr>
          <p:nvPr/>
        </p:nvSpPr>
        <p:spPr>
          <a:xfrm>
            <a:off x="6267450" y="3676650"/>
            <a:ext cx="1809750" cy="876300"/>
          </a:xfrm>
          <a:prstGeom prst="rect">
            <a:avLst/>
          </a:prstGeom>
          <a:solidFill>
            <a:srgbClr val="27211D"/>
          </a:solidFill>
          <a:ln w="9525">
            <a:solidFill>
              <a:srgbClr val="8D6B94"/>
            </a:solidFill>
            <a:prstDash val="solid"/>
          </a:ln>
        </p:spPr>
        <p:txBody>
          <a:bodyPr/>
          <a:lstStyle/>
          <a:p>
            <a:endParaRPr lang="en-US"/>
          </a:p>
        </p:txBody>
      </p:sp>
      <p:sp>
        <p:nvSpPr>
          <p:cNvPr id="73" name="metric-value">
            <a:extLst>
              <a:ext uri="{FF2B5EF4-FFF2-40B4-BE49-F238E27FC236}">
                <a16:creationId xmlns:a16="http://schemas.microsoft.com/office/drawing/2014/main" id="{A6597CEB-0F87-4765-9C0E-D20AA73500B7}"/>
              </a:ext>
            </a:extLst>
          </p:cNvPr>
          <p:cNvSpPr>
            <a:spLocks noGrp="1"/>
          </p:cNvSpPr>
          <p:nvPr/>
        </p:nvSpPr>
        <p:spPr>
          <a:xfrm>
            <a:off x="6438900" y="3790950"/>
            <a:ext cx="14668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8D6B94"/>
                </a:solidFill>
                <a:latin typeface="Aptos"/>
                <a:ea typeface="Aptos"/>
                <a:cs typeface="Aptos"/>
              </a:defRPr>
            </a:pPr>
            <a:r>
              <a:rPr sz="2250" b="1">
                <a:solidFill>
                  <a:srgbClr val="8D6B94"/>
                </a:solidFill>
                <a:latin typeface="Aptos"/>
                <a:ea typeface="Aptos"/>
                <a:cs typeface="Aptos"/>
              </a:rPr>
              <a:t>2</a:t>
            </a:r>
          </a:p>
        </p:txBody>
      </p:sp>
      <p:sp>
        <p:nvSpPr>
          <p:cNvPr id="74" name="metric-label">
            <a:extLst>
              <a:ext uri="{FF2B5EF4-FFF2-40B4-BE49-F238E27FC236}">
                <a16:creationId xmlns:a16="http://schemas.microsoft.com/office/drawing/2014/main" id="{A0657A90-61CD-459F-A67E-E5786A625C72}"/>
              </a:ext>
            </a:extLst>
          </p:cNvPr>
          <p:cNvSpPr>
            <a:spLocks noGrp="1"/>
          </p:cNvSpPr>
          <p:nvPr/>
        </p:nvSpPr>
        <p:spPr>
          <a:xfrm>
            <a:off x="6438900" y="4171950"/>
            <a:ext cx="1466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MIDI deliverables</a:t>
            </a:r>
          </a:p>
        </p:txBody>
      </p:sp>
      <p:sp>
        <p:nvSpPr>
          <p:cNvPr id="75" name="Rectangle 74">
            <a:extLst>
              <a:ext uri="{FF2B5EF4-FFF2-40B4-BE49-F238E27FC236}">
                <a16:creationId xmlns:a16="http://schemas.microsoft.com/office/drawing/2014/main" id="{4E0434BB-0840-4A35-A4DA-CC9F13DF906B}"/>
              </a:ext>
            </a:extLst>
          </p:cNvPr>
          <p:cNvSpPr>
            <a:spLocks noGrp="1"/>
          </p:cNvSpPr>
          <p:nvPr/>
        </p:nvSpPr>
        <p:spPr>
          <a:xfrm>
            <a:off x="723900" y="4876800"/>
            <a:ext cx="85725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4EFE7"/>
                </a:solidFill>
                <a:latin typeface="Aptos"/>
                <a:ea typeface="Aptos"/>
                <a:cs typeface="Aptos"/>
              </a:defRPr>
            </a:pPr>
            <a:r>
              <a:rPr sz="1800" b="1">
                <a:solidFill>
                  <a:srgbClr val="F4EFE7"/>
                </a:solidFill>
                <a:latin typeface="Aptos"/>
                <a:ea typeface="Aptos"/>
                <a:cs typeface="Aptos"/>
              </a:rPr>
              <a:t>Thesis: compact sequence models are enough to beat transparent baselines and produce a full folk-tune workflow.</a:t>
            </a:r>
          </a:p>
        </p:txBody>
      </p:sp>
    </p:spTree>
    <p:extLst>
      <p:ext uri="{BB962C8B-B14F-4D97-AF65-F5344CB8AC3E}">
        <p14:creationId xmlns:p14="http://schemas.microsoft.com/office/powerpoint/2010/main" val="256591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2269D0B2-44C7-4504-A02B-EEB9298D8C17}"/>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A1E8668-9C96-42ED-A348-269E857580AE}"/>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926454F1-BAA2-45DF-83AF-9D1724D2A06F}"/>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16C43EB3-04CF-481A-BE72-69002B458300}"/>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641306D1-693A-470B-A071-BECD83929012}"/>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9A1ED99-A29D-4C35-A2F3-C3F26B7B72D3}"/>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402EF348-0E11-4DE2-86FE-44FE39EF4175}"/>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B2915A4C-D2C9-4B88-8CEE-95A0EFD7BAD4}"/>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C1E7711E-7DF3-41D5-99A6-BD3669E6CF52}"/>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F0C12FBB-51D4-40B3-92C9-3E9E4C2461B8}"/>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0BFA843F-3CAE-4759-B995-19153B8A09AC}"/>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6F5F500A-E4F5-4B8D-8102-A59E4970A738}"/>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ABD6639E-5C20-4583-A92F-FCD1707D1881}"/>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45A80B27-4349-48BE-AF95-E5405CEDB9BF}"/>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43300995-3A24-443F-99F4-007C89DF6E84}"/>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9E90FCCF-E8FA-45F9-8C68-F7DBC8E9CEA9}"/>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6F5DDDF7-CE0B-42DF-9F84-A27A78167DBC}"/>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25683166-8BF4-4554-BFA2-3CE5057A9D2C}"/>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B8F710EA-8DC6-4241-AC3E-8DC5A39E22F0}"/>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5D74B58D-77EC-421C-A66E-C6C05BAF0D96}"/>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82FA9AA4-AD0B-461B-8323-7480A374D57F}"/>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6F165150-A20B-4375-B24C-EFCDCD31A970}"/>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AB4DCE68-8F4C-4A22-A12C-AB97A795906B}"/>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E14AFA08-61D3-4C9E-AC0C-3481D29A179D}"/>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DC485A09-5850-4D89-BA3A-DAE94FDCFC54}"/>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588F8141-BE64-4275-9882-010C6AA1D855}"/>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EFB43B7E-BC3E-458B-B190-F552A8A479AF}"/>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8B5E6EE5-E1D2-4410-B894-848B8B6280E8}"/>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A686CE47-6ACF-4AEC-9D2D-4DD3DCE9A5C8}"/>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25F3103A-511A-4EAD-BFD9-4952487C62CC}"/>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B04EC969-4A7F-4C9C-B8F2-C240D4264178}"/>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93FA87D8-C903-4F33-9C18-F73B311A5BAB}"/>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FFB29063-2268-47A2-A15E-B18A1A3280FC}"/>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412D36C1-C05D-4E30-B438-9D31C0DA1BE0}"/>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16655178-EC1B-45A0-A8D3-D23C55FA479B}"/>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B9A14F62-60B6-47EF-9ECA-41B671F06166}"/>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E20A10AF-44BB-47A4-98E3-E6DB11E313E3}"/>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90F8A0B8-ECAD-4E99-8AA5-45BC870B62DB}"/>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BD7D75FF-3CB6-421B-9562-44666B1F288D}"/>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11F13C31-2B15-4E12-A2FA-D7CB69D4C3E6}"/>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9356B61E-F708-4639-B9E7-1134D543F5BB}"/>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064DBA5C-DCE3-41E2-B919-C49F02E54146}"/>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CA654929-BC15-48F3-8B6F-BD8FEF0832AF}"/>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68C9131F-21F4-4D17-93A4-63C07B069D98}"/>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66233889-A360-4073-9ADE-929843A0A6B9}"/>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F7DD7280-D5BC-48F9-B644-B6D54B000CDE}"/>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3EAE6F8B-51AE-4DD9-B6A7-BC354EE31605}"/>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86379759-8EEB-4FB6-ABAB-335E08D85A66}"/>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4B59517E-F4C7-4E88-80C0-A8931E2B8C93}"/>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8181AFC7-41D9-4551-9A6B-3CEC13887CDC}"/>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DF9B8FD6-E730-4753-A23A-A4610C57EFE6}"/>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60F03874-6290-47B1-9899-5F11F7D74D0C}"/>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2EC4B6"/>
                </a:solidFill>
                <a:latin typeface="Aptos"/>
                <a:ea typeface="Aptos"/>
                <a:cs typeface="Aptos"/>
              </a:defRPr>
            </a:pPr>
            <a:r>
              <a:rPr sz="975" b="1">
                <a:solidFill>
                  <a:srgbClr val="2EC4B6"/>
                </a:solidFill>
                <a:latin typeface="Aptos"/>
                <a:ea typeface="Aptos"/>
                <a:cs typeface="Aptos"/>
              </a:rPr>
              <a:t>story arc</a:t>
            </a:r>
          </a:p>
        </p:txBody>
      </p:sp>
      <p:sp>
        <p:nvSpPr>
          <p:cNvPr id="53" name="slide-title">
            <a:extLst>
              <a:ext uri="{FF2B5EF4-FFF2-40B4-BE49-F238E27FC236}">
                <a16:creationId xmlns:a16="http://schemas.microsoft.com/office/drawing/2014/main" id="{2764B936-A23E-4258-8393-E4FED9E8EBFD}"/>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The assignment is one compose-then-harmonize system</a:t>
            </a:r>
          </a:p>
        </p:txBody>
      </p:sp>
      <p:sp>
        <p:nvSpPr>
          <p:cNvPr id="54" name="page-number">
            <a:extLst>
              <a:ext uri="{FF2B5EF4-FFF2-40B4-BE49-F238E27FC236}">
                <a16:creationId xmlns:a16="http://schemas.microsoft.com/office/drawing/2014/main" id="{9686F094-5BE4-448C-A44E-F119FE311FE7}"/>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2</a:t>
            </a:r>
          </a:p>
        </p:txBody>
      </p:sp>
      <p:sp>
        <p:nvSpPr>
          <p:cNvPr id="55" name="section-label">
            <a:extLst>
              <a:ext uri="{FF2B5EF4-FFF2-40B4-BE49-F238E27FC236}">
                <a16:creationId xmlns:a16="http://schemas.microsoft.com/office/drawing/2014/main" id="{07B49B7F-4C91-45F9-91BD-9A39DDB72BE2}"/>
              </a:ext>
            </a:extLst>
          </p:cNvPr>
          <p:cNvSpPr>
            <a:spLocks noGrp="1"/>
          </p:cNvSpPr>
          <p:nvPr/>
        </p:nvSpPr>
        <p:spPr>
          <a:xfrm>
            <a:off x="647700" y="142875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FFB000"/>
                </a:solidFill>
                <a:latin typeface="Aptos"/>
                <a:ea typeface="Aptos"/>
                <a:cs typeface="Aptos"/>
              </a:defRPr>
            </a:pPr>
            <a:r>
              <a:rPr sz="900" b="1">
                <a:solidFill>
                  <a:srgbClr val="FFB000"/>
                </a:solidFill>
                <a:latin typeface="Aptos"/>
                <a:ea typeface="Aptos"/>
                <a:cs typeface="Aptos"/>
              </a:rPr>
              <a:t>shared pipeline</a:t>
            </a:r>
          </a:p>
        </p:txBody>
      </p:sp>
      <p:sp>
        <p:nvSpPr>
          <p:cNvPr id="56" name="Rectangle 55">
            <a:extLst>
              <a:ext uri="{FF2B5EF4-FFF2-40B4-BE49-F238E27FC236}">
                <a16:creationId xmlns:a16="http://schemas.microsoft.com/office/drawing/2014/main" id="{7D0456C3-11A1-4E3D-AA2B-D443037FB7E6}"/>
              </a:ext>
            </a:extLst>
          </p:cNvPr>
          <p:cNvSpPr>
            <a:spLocks noGrp="1"/>
          </p:cNvSpPr>
          <p:nvPr/>
        </p:nvSpPr>
        <p:spPr>
          <a:xfrm>
            <a:off x="647700" y="2095500"/>
            <a:ext cx="1943100" cy="2000250"/>
          </a:xfrm>
          <a:prstGeom prst="rect">
            <a:avLst/>
          </a:prstGeom>
          <a:solidFill>
            <a:srgbClr val="27211D"/>
          </a:solidFill>
          <a:ln w="9525">
            <a:solidFill>
              <a:srgbClr val="FFB000"/>
            </a:solidFill>
            <a:prstDash val="solid"/>
          </a:ln>
        </p:spPr>
        <p:txBody>
          <a:bodyPr/>
          <a:lstStyle/>
          <a:p>
            <a:endParaRPr lang="en-US"/>
          </a:p>
        </p:txBody>
      </p:sp>
      <p:pic>
        <p:nvPicPr>
          <p:cNvPr id="57" name="Graphic 56"/>
          <p:cNvPicPr>
            <a:picLocks noChangeAspect="1"/>
          </p:cNvPicPr>
          <p:nvPr/>
        </p:nvPicPr>
        <p:blipFill>
          <a:blip>
            <a:extLst>
              <a:ext uri="{96DAC541-7B7A-43D3-8B79-37D633B846F1}">
                <asvg:svgBlip xmlns:asvg="http://schemas.microsoft.com/office/drawing/2016/SVG/main" r:embed="rId3"/>
              </a:ext>
            </a:extLst>
          </a:blip>
          <a:stretch/>
        </p:blipFill>
        <p:spPr>
          <a:xfrm>
            <a:off x="838200" y="2305050"/>
            <a:ext cx="361950" cy="361950"/>
          </a:xfrm>
          <a:prstGeom prst="rect">
            <a:avLst/>
          </a:prstGeom>
        </p:spPr>
      </p:pic>
      <p:sp>
        <p:nvSpPr>
          <p:cNvPr id="58" name="Rectangle 57">
            <a:extLst>
              <a:ext uri="{FF2B5EF4-FFF2-40B4-BE49-F238E27FC236}">
                <a16:creationId xmlns:a16="http://schemas.microsoft.com/office/drawing/2014/main" id="{CA7EA663-2523-491D-A249-96134DDA8E84}"/>
              </a:ext>
            </a:extLst>
          </p:cNvPr>
          <p:cNvSpPr>
            <a:spLocks noGrp="1"/>
          </p:cNvSpPr>
          <p:nvPr/>
        </p:nvSpPr>
        <p:spPr>
          <a:xfrm>
            <a:off x="838200" y="280987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Raw MIDI</a:t>
            </a:r>
          </a:p>
        </p:txBody>
      </p:sp>
      <p:sp>
        <p:nvSpPr>
          <p:cNvPr id="59" name="Rectangle 58">
            <a:extLst>
              <a:ext uri="{FF2B5EF4-FFF2-40B4-BE49-F238E27FC236}">
                <a16:creationId xmlns:a16="http://schemas.microsoft.com/office/drawing/2014/main" id="{A7A9050C-EE4E-4BE5-B70C-E65C2E04FD1A}"/>
              </a:ext>
            </a:extLst>
          </p:cNvPr>
          <p:cNvSpPr>
            <a:spLocks noGrp="1"/>
          </p:cNvSpPr>
          <p:nvPr/>
        </p:nvSpPr>
        <p:spPr>
          <a:xfrm>
            <a:off x="838200" y="3181350"/>
            <a:ext cx="15811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melody track + chord track</a:t>
            </a:r>
          </a:p>
        </p:txBody>
      </p:sp>
      <p:sp>
        <p:nvSpPr>
          <p:cNvPr id="60" name="Rectangle 59">
            <a:extLst>
              <a:ext uri="{FF2B5EF4-FFF2-40B4-BE49-F238E27FC236}">
                <a16:creationId xmlns:a16="http://schemas.microsoft.com/office/drawing/2014/main" id="{E75ED06F-ED60-491C-B1CB-A802F9BF68CF}"/>
              </a:ext>
            </a:extLst>
          </p:cNvPr>
          <p:cNvSpPr>
            <a:spLocks noGrp="1"/>
          </p:cNvSpPr>
          <p:nvPr/>
        </p:nvSpPr>
        <p:spPr>
          <a:xfrm>
            <a:off x="2686050" y="3105150"/>
            <a:ext cx="171450" cy="19050"/>
          </a:xfrm>
          <a:prstGeom prst="rect">
            <a:avLst/>
          </a:prstGeom>
          <a:solidFill>
            <a:srgbClr val="2EC4B6"/>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0CA5E255-F910-44C3-9871-56E65D949EEF}"/>
              </a:ext>
            </a:extLst>
          </p:cNvPr>
          <p:cNvSpPr>
            <a:spLocks noGrp="1"/>
          </p:cNvSpPr>
          <p:nvPr/>
        </p:nvSpPr>
        <p:spPr>
          <a:xfrm>
            <a:off x="2781300" y="3057525"/>
            <a:ext cx="95250" cy="114300"/>
          </a:xfrm>
          <a:prstGeom prst="rect">
            <a:avLst/>
          </a:prstGeom>
          <a:solidFill>
            <a:srgbClr val="2EC4B6"/>
          </a:solidFill>
          <a:ln w="0">
            <a:solidFill>
              <a:srgbClr val="000000">
                <a:alpha val="0"/>
              </a:srgbClr>
            </a:solidFill>
            <a:prstDash val="solid"/>
          </a:ln>
        </p:spPr>
        <p:txBody>
          <a:bodyPr/>
          <a:lstStyle/>
          <a:p>
            <a:endParaRPr lang="en-US"/>
          </a:p>
        </p:txBody>
      </p:sp>
      <p:sp>
        <p:nvSpPr>
          <p:cNvPr id="62" name="Rectangle 61">
            <a:extLst>
              <a:ext uri="{FF2B5EF4-FFF2-40B4-BE49-F238E27FC236}">
                <a16:creationId xmlns:a16="http://schemas.microsoft.com/office/drawing/2014/main" id="{8AC920BD-7664-47F4-8CFC-DA75035AA6C8}"/>
              </a:ext>
            </a:extLst>
          </p:cNvPr>
          <p:cNvSpPr>
            <a:spLocks noGrp="1"/>
          </p:cNvSpPr>
          <p:nvPr/>
        </p:nvSpPr>
        <p:spPr>
          <a:xfrm>
            <a:off x="2914650" y="2095500"/>
            <a:ext cx="1943100" cy="2000250"/>
          </a:xfrm>
          <a:prstGeom prst="rect">
            <a:avLst/>
          </a:prstGeom>
          <a:solidFill>
            <a:srgbClr val="27211D"/>
          </a:solidFill>
          <a:ln w="9525">
            <a:solidFill>
              <a:srgbClr val="2EC4B6"/>
            </a:solidFill>
            <a:prstDash val="solid"/>
          </a:ln>
        </p:spPr>
        <p:txBody>
          <a:bodyPr/>
          <a:lstStyle/>
          <a:p>
            <a:endParaRPr lang="en-US"/>
          </a:p>
        </p:txBody>
      </p:sp>
      <p:pic>
        <p:nvPicPr>
          <p:cNvPr id="63" name="Graphic 62"/>
          <p:cNvPicPr>
            <a:picLocks noChangeAspect="1"/>
          </p:cNvPicPr>
          <p:nvPr/>
        </p:nvPicPr>
        <p:blipFill>
          <a:blip>
            <a:extLst>
              <a:ext uri="{96DAC541-7B7A-43D3-8B79-37D633B846F1}">
                <asvg:svgBlip xmlns:asvg="http://schemas.microsoft.com/office/drawing/2016/SVG/main" r:embed="rId4"/>
              </a:ext>
            </a:extLst>
          </a:blip>
          <a:stretch/>
        </p:blipFill>
        <p:spPr>
          <a:xfrm>
            <a:off x="3105150" y="2305050"/>
            <a:ext cx="361950" cy="361950"/>
          </a:xfrm>
          <a:prstGeom prst="rect">
            <a:avLst/>
          </a:prstGeom>
        </p:spPr>
      </p:pic>
      <p:sp>
        <p:nvSpPr>
          <p:cNvPr id="64" name="Rectangle 63">
            <a:extLst>
              <a:ext uri="{FF2B5EF4-FFF2-40B4-BE49-F238E27FC236}">
                <a16:creationId xmlns:a16="http://schemas.microsoft.com/office/drawing/2014/main" id="{EB92A12F-A975-4FEE-A58F-C95F929CDA91}"/>
              </a:ext>
            </a:extLst>
          </p:cNvPr>
          <p:cNvSpPr>
            <a:spLocks noGrp="1"/>
          </p:cNvSpPr>
          <p:nvPr/>
        </p:nvSpPr>
        <p:spPr>
          <a:xfrm>
            <a:off x="3105150" y="280987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Representation</a:t>
            </a:r>
          </a:p>
        </p:txBody>
      </p:sp>
      <p:sp>
        <p:nvSpPr>
          <p:cNvPr id="65" name="Rectangle 64">
            <a:extLst>
              <a:ext uri="{FF2B5EF4-FFF2-40B4-BE49-F238E27FC236}">
                <a16:creationId xmlns:a16="http://schemas.microsoft.com/office/drawing/2014/main" id="{E2612842-29B0-4A1A-8A6A-458D6A39338D}"/>
              </a:ext>
            </a:extLst>
          </p:cNvPr>
          <p:cNvSpPr>
            <a:spLocks noGrp="1"/>
          </p:cNvSpPr>
          <p:nvPr/>
        </p:nvSpPr>
        <p:spPr>
          <a:xfrm>
            <a:off x="3105150" y="3181350"/>
            <a:ext cx="15811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16th-step tokens + bar chords</a:t>
            </a:r>
          </a:p>
        </p:txBody>
      </p:sp>
      <p:sp>
        <p:nvSpPr>
          <p:cNvPr id="66" name="Rectangle 65">
            <a:extLst>
              <a:ext uri="{FF2B5EF4-FFF2-40B4-BE49-F238E27FC236}">
                <a16:creationId xmlns:a16="http://schemas.microsoft.com/office/drawing/2014/main" id="{5899910D-0080-4743-9DF1-E7D6AEA08EBB}"/>
              </a:ext>
            </a:extLst>
          </p:cNvPr>
          <p:cNvSpPr>
            <a:spLocks noGrp="1"/>
          </p:cNvSpPr>
          <p:nvPr/>
        </p:nvSpPr>
        <p:spPr>
          <a:xfrm>
            <a:off x="4953000" y="3105150"/>
            <a:ext cx="171450" cy="19050"/>
          </a:xfrm>
          <a:prstGeom prst="rect">
            <a:avLst/>
          </a:prstGeom>
          <a:solidFill>
            <a:srgbClr val="FF5A5F"/>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F75B39B8-F038-4E14-AB5C-7148EC139772}"/>
              </a:ext>
            </a:extLst>
          </p:cNvPr>
          <p:cNvSpPr>
            <a:spLocks noGrp="1"/>
          </p:cNvSpPr>
          <p:nvPr/>
        </p:nvSpPr>
        <p:spPr>
          <a:xfrm>
            <a:off x="5048250" y="3057525"/>
            <a:ext cx="95250" cy="114300"/>
          </a:xfrm>
          <a:prstGeom prst="rect">
            <a:avLst/>
          </a:prstGeom>
          <a:solidFill>
            <a:srgbClr val="FF5A5F"/>
          </a:solidFill>
          <a:ln w="0">
            <a:solidFill>
              <a:srgbClr val="000000">
                <a:alpha val="0"/>
              </a:srgbClr>
            </a:solidFill>
            <a:prstDash val="solid"/>
          </a:ln>
        </p:spPr>
        <p:txBody>
          <a:bodyPr/>
          <a:lstStyle/>
          <a:p>
            <a:endParaRPr lang="en-US"/>
          </a:p>
        </p:txBody>
      </p:sp>
      <p:sp>
        <p:nvSpPr>
          <p:cNvPr id="68" name="Rectangle 67">
            <a:extLst>
              <a:ext uri="{FF2B5EF4-FFF2-40B4-BE49-F238E27FC236}">
                <a16:creationId xmlns:a16="http://schemas.microsoft.com/office/drawing/2014/main" id="{8BAB1A51-D602-43F9-A0FD-BECD2DFAAC6D}"/>
              </a:ext>
            </a:extLst>
          </p:cNvPr>
          <p:cNvSpPr>
            <a:spLocks noGrp="1"/>
          </p:cNvSpPr>
          <p:nvPr/>
        </p:nvSpPr>
        <p:spPr>
          <a:xfrm>
            <a:off x="5181600" y="2095500"/>
            <a:ext cx="1943100" cy="2000250"/>
          </a:xfrm>
          <a:prstGeom prst="rect">
            <a:avLst/>
          </a:prstGeom>
          <a:solidFill>
            <a:srgbClr val="27211D"/>
          </a:solidFill>
          <a:ln w="9525">
            <a:solidFill>
              <a:srgbClr val="FF5A5F"/>
            </a:solidFill>
            <a:prstDash val="solid"/>
          </a:ln>
        </p:spPr>
        <p:txBody>
          <a:bodyPr/>
          <a:lstStyle/>
          <a:p>
            <a:endParaRPr lang="en-US"/>
          </a:p>
        </p:txBody>
      </p:sp>
      <p:pic>
        <p:nvPicPr>
          <p:cNvPr id="69" name="Graphic 68"/>
          <p:cNvPicPr>
            <a:picLocks noChangeAspect="1"/>
          </p:cNvPicPr>
          <p:nvPr/>
        </p:nvPicPr>
        <p:blipFill>
          <a:blip>
            <a:extLst>
              <a:ext uri="{96DAC541-7B7A-43D3-8B79-37D633B846F1}">
                <asvg:svgBlip xmlns:asvg="http://schemas.microsoft.com/office/drawing/2016/SVG/main" r:embed="rId5"/>
              </a:ext>
            </a:extLst>
          </a:blip>
          <a:stretch/>
        </p:blipFill>
        <p:spPr>
          <a:xfrm>
            <a:off x="5372100" y="2305050"/>
            <a:ext cx="361950" cy="361950"/>
          </a:xfrm>
          <a:prstGeom prst="rect">
            <a:avLst/>
          </a:prstGeom>
        </p:spPr>
      </p:pic>
      <p:sp>
        <p:nvSpPr>
          <p:cNvPr id="70" name="Rectangle 69">
            <a:extLst>
              <a:ext uri="{FF2B5EF4-FFF2-40B4-BE49-F238E27FC236}">
                <a16:creationId xmlns:a16="http://schemas.microsoft.com/office/drawing/2014/main" id="{0964B64C-6EC3-4AFF-9562-0C02E2BA9027}"/>
              </a:ext>
            </a:extLst>
          </p:cNvPr>
          <p:cNvSpPr>
            <a:spLocks noGrp="1"/>
          </p:cNvSpPr>
          <p:nvPr/>
        </p:nvSpPr>
        <p:spPr>
          <a:xfrm>
            <a:off x="5372100" y="280987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Task 1</a:t>
            </a:r>
          </a:p>
        </p:txBody>
      </p:sp>
      <p:sp>
        <p:nvSpPr>
          <p:cNvPr id="71" name="Rectangle 70">
            <a:extLst>
              <a:ext uri="{FF2B5EF4-FFF2-40B4-BE49-F238E27FC236}">
                <a16:creationId xmlns:a16="http://schemas.microsoft.com/office/drawing/2014/main" id="{69857E3E-92A9-4D29-A194-A8A410492781}"/>
              </a:ext>
            </a:extLst>
          </p:cNvPr>
          <p:cNvSpPr>
            <a:spLocks noGrp="1"/>
          </p:cNvSpPr>
          <p:nvPr/>
        </p:nvSpPr>
        <p:spPr>
          <a:xfrm>
            <a:off x="5372100" y="3181350"/>
            <a:ext cx="15811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LSTM samples p(melody)</a:t>
            </a:r>
          </a:p>
        </p:txBody>
      </p:sp>
      <p:sp>
        <p:nvSpPr>
          <p:cNvPr id="72" name="Rectangle 71">
            <a:extLst>
              <a:ext uri="{FF2B5EF4-FFF2-40B4-BE49-F238E27FC236}">
                <a16:creationId xmlns:a16="http://schemas.microsoft.com/office/drawing/2014/main" id="{5CEFBF4C-D29A-4298-8D2F-798542CF5AEA}"/>
              </a:ext>
            </a:extLst>
          </p:cNvPr>
          <p:cNvSpPr>
            <a:spLocks noGrp="1"/>
          </p:cNvSpPr>
          <p:nvPr/>
        </p:nvSpPr>
        <p:spPr>
          <a:xfrm>
            <a:off x="7219950" y="3105150"/>
            <a:ext cx="171450" cy="19050"/>
          </a:xfrm>
          <a:prstGeom prst="rect">
            <a:avLst/>
          </a:prstGeom>
          <a:solidFill>
            <a:srgbClr val="8D6B94"/>
          </a:solidFill>
          <a:ln w="0">
            <a:solidFill>
              <a:srgbClr val="000000">
                <a:alpha val="0"/>
              </a:srgbClr>
            </a:solidFill>
            <a:prstDash val="solid"/>
          </a:ln>
        </p:spPr>
        <p:txBody>
          <a:bodyPr/>
          <a:lstStyle/>
          <a:p>
            <a:endParaRPr lang="en-US"/>
          </a:p>
        </p:txBody>
      </p:sp>
      <p:sp>
        <p:nvSpPr>
          <p:cNvPr id="73" name="Rectangle 72">
            <a:extLst>
              <a:ext uri="{FF2B5EF4-FFF2-40B4-BE49-F238E27FC236}">
                <a16:creationId xmlns:a16="http://schemas.microsoft.com/office/drawing/2014/main" id="{6E2BA2A6-FE9F-401B-BF2C-EA8B5D9C0995}"/>
              </a:ext>
            </a:extLst>
          </p:cNvPr>
          <p:cNvSpPr>
            <a:spLocks noGrp="1"/>
          </p:cNvSpPr>
          <p:nvPr/>
        </p:nvSpPr>
        <p:spPr>
          <a:xfrm>
            <a:off x="7315200" y="3057525"/>
            <a:ext cx="95250" cy="114300"/>
          </a:xfrm>
          <a:prstGeom prst="rect">
            <a:avLst/>
          </a:prstGeom>
          <a:solidFill>
            <a:srgbClr val="8D6B94"/>
          </a:solidFill>
          <a:ln w="0">
            <a:solidFill>
              <a:srgbClr val="000000">
                <a:alpha val="0"/>
              </a:srgbClr>
            </a:solidFill>
            <a:prstDash val="solid"/>
          </a:ln>
        </p:spPr>
        <p:txBody>
          <a:bodyPr/>
          <a:lstStyle/>
          <a:p>
            <a:endParaRPr lang="en-US"/>
          </a:p>
        </p:txBody>
      </p:sp>
      <p:sp>
        <p:nvSpPr>
          <p:cNvPr id="74" name="Rectangle 73">
            <a:extLst>
              <a:ext uri="{FF2B5EF4-FFF2-40B4-BE49-F238E27FC236}">
                <a16:creationId xmlns:a16="http://schemas.microsoft.com/office/drawing/2014/main" id="{9E029927-F45D-4630-B65C-2FD70E320CE5}"/>
              </a:ext>
            </a:extLst>
          </p:cNvPr>
          <p:cNvSpPr>
            <a:spLocks noGrp="1"/>
          </p:cNvSpPr>
          <p:nvPr/>
        </p:nvSpPr>
        <p:spPr>
          <a:xfrm>
            <a:off x="7448550" y="2095500"/>
            <a:ext cx="1943100" cy="2000250"/>
          </a:xfrm>
          <a:prstGeom prst="rect">
            <a:avLst/>
          </a:prstGeom>
          <a:solidFill>
            <a:srgbClr val="27211D"/>
          </a:solidFill>
          <a:ln w="9525">
            <a:solidFill>
              <a:srgbClr val="8D6B94"/>
            </a:solidFill>
            <a:prstDash val="solid"/>
          </a:ln>
        </p:spPr>
        <p:txBody>
          <a:bodyPr/>
          <a:lstStyle/>
          <a:p>
            <a:endParaRPr lang="en-US"/>
          </a:p>
        </p:txBody>
      </p:sp>
      <p:pic>
        <p:nvPicPr>
          <p:cNvPr id="75" name="Graphic 74"/>
          <p:cNvPicPr>
            <a:picLocks noChangeAspect="1"/>
          </p:cNvPicPr>
          <p:nvPr/>
        </p:nvPicPr>
        <p:blipFill>
          <a:blip>
            <a:extLst>
              <a:ext uri="{96DAC541-7B7A-43D3-8B79-37D633B846F1}">
                <asvg:svgBlip xmlns:asvg="http://schemas.microsoft.com/office/drawing/2016/SVG/main" r:embed="rId6"/>
              </a:ext>
            </a:extLst>
          </a:blip>
          <a:stretch/>
        </p:blipFill>
        <p:spPr>
          <a:xfrm>
            <a:off x="7639050" y="2305050"/>
            <a:ext cx="361950" cy="361950"/>
          </a:xfrm>
          <a:prstGeom prst="rect">
            <a:avLst/>
          </a:prstGeom>
        </p:spPr>
      </p:pic>
      <p:sp>
        <p:nvSpPr>
          <p:cNvPr id="76" name="Rectangle 75">
            <a:extLst>
              <a:ext uri="{FF2B5EF4-FFF2-40B4-BE49-F238E27FC236}">
                <a16:creationId xmlns:a16="http://schemas.microsoft.com/office/drawing/2014/main" id="{4B852DD9-6796-46BC-99B4-7755647198D4}"/>
              </a:ext>
            </a:extLst>
          </p:cNvPr>
          <p:cNvSpPr>
            <a:spLocks noGrp="1"/>
          </p:cNvSpPr>
          <p:nvPr/>
        </p:nvSpPr>
        <p:spPr>
          <a:xfrm>
            <a:off x="7639050" y="280987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Task 2</a:t>
            </a:r>
          </a:p>
        </p:txBody>
      </p:sp>
      <p:sp>
        <p:nvSpPr>
          <p:cNvPr id="77" name="Rectangle 76">
            <a:extLst>
              <a:ext uri="{FF2B5EF4-FFF2-40B4-BE49-F238E27FC236}">
                <a16:creationId xmlns:a16="http://schemas.microsoft.com/office/drawing/2014/main" id="{DF5BE269-97CF-44E4-9E35-E57302160F9C}"/>
              </a:ext>
            </a:extLst>
          </p:cNvPr>
          <p:cNvSpPr>
            <a:spLocks noGrp="1"/>
          </p:cNvSpPr>
          <p:nvPr/>
        </p:nvSpPr>
        <p:spPr>
          <a:xfrm>
            <a:off x="7639050" y="3181350"/>
            <a:ext cx="15811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BiLSTM predicts p(chords | melody)</a:t>
            </a:r>
          </a:p>
        </p:txBody>
      </p:sp>
      <p:sp>
        <p:nvSpPr>
          <p:cNvPr id="78" name="Rectangle 77">
            <a:extLst>
              <a:ext uri="{FF2B5EF4-FFF2-40B4-BE49-F238E27FC236}">
                <a16:creationId xmlns:a16="http://schemas.microsoft.com/office/drawing/2014/main" id="{608C3D29-4801-40F7-9E5D-D6DBB13E06C2}"/>
              </a:ext>
            </a:extLst>
          </p:cNvPr>
          <p:cNvSpPr>
            <a:spLocks noGrp="1"/>
          </p:cNvSpPr>
          <p:nvPr/>
        </p:nvSpPr>
        <p:spPr>
          <a:xfrm>
            <a:off x="9486900" y="3105150"/>
            <a:ext cx="171450" cy="19050"/>
          </a:xfrm>
          <a:prstGeom prst="rect">
            <a:avLst/>
          </a:prstGeom>
          <a:solidFill>
            <a:srgbClr val="6AD58B"/>
          </a:solidFill>
          <a:ln w="0">
            <a:solidFill>
              <a:srgbClr val="000000">
                <a:alpha val="0"/>
              </a:srgbClr>
            </a:solidFill>
            <a:prstDash val="solid"/>
          </a:ln>
        </p:spPr>
        <p:txBody>
          <a:bodyPr/>
          <a:lstStyle/>
          <a:p>
            <a:endParaRPr lang="en-US"/>
          </a:p>
        </p:txBody>
      </p:sp>
      <p:sp>
        <p:nvSpPr>
          <p:cNvPr id="79" name="Rectangle 78">
            <a:extLst>
              <a:ext uri="{FF2B5EF4-FFF2-40B4-BE49-F238E27FC236}">
                <a16:creationId xmlns:a16="http://schemas.microsoft.com/office/drawing/2014/main" id="{010D83D2-0A64-40D7-BB23-8B1343859D1C}"/>
              </a:ext>
            </a:extLst>
          </p:cNvPr>
          <p:cNvSpPr>
            <a:spLocks noGrp="1"/>
          </p:cNvSpPr>
          <p:nvPr/>
        </p:nvSpPr>
        <p:spPr>
          <a:xfrm>
            <a:off x="9582150" y="3057525"/>
            <a:ext cx="95250" cy="114300"/>
          </a:xfrm>
          <a:prstGeom prst="rect">
            <a:avLst/>
          </a:prstGeom>
          <a:solidFill>
            <a:srgbClr val="6AD58B"/>
          </a:solidFill>
          <a:ln w="0">
            <a:solidFill>
              <a:srgbClr val="000000">
                <a:alpha val="0"/>
              </a:srgbClr>
            </a:solidFill>
            <a:prstDash val="solid"/>
          </a:ln>
        </p:spPr>
        <p:txBody>
          <a:bodyPr/>
          <a:lstStyle/>
          <a:p>
            <a:endParaRPr lang="en-US"/>
          </a:p>
        </p:txBody>
      </p:sp>
      <p:sp>
        <p:nvSpPr>
          <p:cNvPr id="80" name="Rectangle 79">
            <a:extLst>
              <a:ext uri="{FF2B5EF4-FFF2-40B4-BE49-F238E27FC236}">
                <a16:creationId xmlns:a16="http://schemas.microsoft.com/office/drawing/2014/main" id="{0B2FC805-4AF3-4FDB-9CF9-FF172F16EE64}"/>
              </a:ext>
            </a:extLst>
          </p:cNvPr>
          <p:cNvSpPr>
            <a:spLocks noGrp="1"/>
          </p:cNvSpPr>
          <p:nvPr/>
        </p:nvSpPr>
        <p:spPr>
          <a:xfrm>
            <a:off x="9715500" y="2095500"/>
            <a:ext cx="1943100" cy="2000250"/>
          </a:xfrm>
          <a:prstGeom prst="rect">
            <a:avLst/>
          </a:prstGeom>
          <a:solidFill>
            <a:srgbClr val="223024"/>
          </a:solidFill>
          <a:ln w="9525">
            <a:solidFill>
              <a:srgbClr val="6AD58B"/>
            </a:solidFill>
            <a:prstDash val="solid"/>
          </a:ln>
        </p:spPr>
        <p:txBody>
          <a:bodyPr/>
          <a:lstStyle/>
          <a:p>
            <a:endParaRPr lang="en-US"/>
          </a:p>
        </p:txBody>
      </p:sp>
      <p:pic>
        <p:nvPicPr>
          <p:cNvPr id="81" name="Graphic 80"/>
          <p:cNvPicPr>
            <a:picLocks noChangeAspect="1"/>
          </p:cNvPicPr>
          <p:nvPr/>
        </p:nvPicPr>
        <p:blipFill>
          <a:blip>
            <a:extLst>
              <a:ext uri="{96DAC541-7B7A-43D3-8B79-37D633B846F1}">
                <asvg:svgBlip xmlns:asvg="http://schemas.microsoft.com/office/drawing/2016/SVG/main" r:embed="rId7"/>
              </a:ext>
            </a:extLst>
          </a:blip>
          <a:stretch/>
        </p:blipFill>
        <p:spPr>
          <a:xfrm>
            <a:off x="9906000" y="2305050"/>
            <a:ext cx="361950" cy="361950"/>
          </a:xfrm>
          <a:prstGeom prst="rect">
            <a:avLst/>
          </a:prstGeom>
        </p:spPr>
      </p:pic>
      <p:sp>
        <p:nvSpPr>
          <p:cNvPr id="82" name="Rectangle 81">
            <a:extLst>
              <a:ext uri="{FF2B5EF4-FFF2-40B4-BE49-F238E27FC236}">
                <a16:creationId xmlns:a16="http://schemas.microsoft.com/office/drawing/2014/main" id="{7CB1A65E-B3D0-4ABC-9E54-D2D69CB5A193}"/>
              </a:ext>
            </a:extLst>
          </p:cNvPr>
          <p:cNvSpPr>
            <a:spLocks noGrp="1"/>
          </p:cNvSpPr>
          <p:nvPr/>
        </p:nvSpPr>
        <p:spPr>
          <a:xfrm>
            <a:off x="9906000" y="2809875"/>
            <a:ext cx="1562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Demo</a:t>
            </a:r>
          </a:p>
        </p:txBody>
      </p:sp>
      <p:sp>
        <p:nvSpPr>
          <p:cNvPr id="83" name="Rectangle 82">
            <a:extLst>
              <a:ext uri="{FF2B5EF4-FFF2-40B4-BE49-F238E27FC236}">
                <a16:creationId xmlns:a16="http://schemas.microsoft.com/office/drawing/2014/main" id="{7AD4BFA0-3CF9-4BF5-BEB5-8230A616E913}"/>
              </a:ext>
            </a:extLst>
          </p:cNvPr>
          <p:cNvSpPr>
            <a:spLocks noGrp="1"/>
          </p:cNvSpPr>
          <p:nvPr/>
        </p:nvSpPr>
        <p:spPr>
          <a:xfrm>
            <a:off x="9906000" y="3181350"/>
            <a:ext cx="15811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generated melody + chords</a:t>
            </a:r>
          </a:p>
        </p:txBody>
      </p:sp>
      <p:sp>
        <p:nvSpPr>
          <p:cNvPr id="84" name="Rectangle 83">
            <a:extLst>
              <a:ext uri="{FF2B5EF4-FFF2-40B4-BE49-F238E27FC236}">
                <a16:creationId xmlns:a16="http://schemas.microsoft.com/office/drawing/2014/main" id="{1E205DE3-CD1A-4BFF-93FC-C71A3108BA58}"/>
              </a:ext>
            </a:extLst>
          </p:cNvPr>
          <p:cNvSpPr>
            <a:spLocks noGrp="1"/>
          </p:cNvSpPr>
          <p:nvPr/>
        </p:nvSpPr>
        <p:spPr>
          <a:xfrm>
            <a:off x="914400" y="4724400"/>
            <a:ext cx="99060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4EFE7"/>
                </a:solidFill>
                <a:latin typeface="Aptos"/>
                <a:ea typeface="Aptos"/>
                <a:cs typeface="Aptos"/>
              </a:defRPr>
            </a:pPr>
            <a:r>
              <a:rPr sz="1950" b="1">
                <a:solidFill>
                  <a:srgbClr val="F4EFE7"/>
                </a:solidFill>
                <a:latin typeface="Aptos"/>
                <a:ea typeface="Aptos"/>
                <a:cs typeface="Aptos"/>
              </a:rPr>
              <a:t>The same normalized representation feeds both models, so the output of Task 1 can become the input melody for Task 2.</a:t>
            </a:r>
          </a:p>
        </p:txBody>
      </p:sp>
    </p:spTree>
    <p:extLst>
      <p:ext uri="{BB962C8B-B14F-4D97-AF65-F5344CB8AC3E}">
        <p14:creationId xmlns:p14="http://schemas.microsoft.com/office/powerpoint/2010/main" val="82031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8246F4B3-501E-4BD6-87E4-DDC9A041E8CB}"/>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03505DD6-9341-48DE-9422-1F59B1B18172}"/>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1080CC44-BB7B-44C4-9A36-4154A03E3358}"/>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1234AB5D-22C2-47FA-BC5C-24CD62437A75}"/>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B872C220-2F13-41E8-BFAC-B637E40CD0EB}"/>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88F86D5-97F7-43CB-9CE4-36426AC1D0DF}"/>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98D055E-F62A-4797-B444-D55759062B62}"/>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91B57752-E1BD-4515-8EBE-6CC5FB7B5C10}"/>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5A6FE2F5-2ADA-4568-9881-F7FEDA67732E}"/>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59B2AADF-A632-455E-9571-0208D6E81FFB}"/>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F3C86BA4-D3DC-4972-9AF7-A5289314701A}"/>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1FE82BB3-13CC-4C2E-8179-AE6CC59BAB2F}"/>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54BA8043-B4B7-456F-B97C-C819E332D459}"/>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3EBFE77E-04B9-4244-9810-9AAA778AF758}"/>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8932DCDA-C657-4DD0-A29E-1615638C0F1C}"/>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2A639ED2-2849-4BD8-B659-30F203C7318E}"/>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9F06EAFB-0DBE-49AD-ADC7-A5BAC0CE0DA8}"/>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0307AF7F-24F8-4A86-B651-37DBD2F2D25E}"/>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3819AF3D-F63D-4F7A-9143-A750FF81956E}"/>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9317DD80-2DBB-40B8-B63E-696F6DB35682}"/>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3CFD4D1B-9E57-477C-BB58-1D3F61D1520A}"/>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B5CF9DF1-1323-4621-A3D6-34E9E2C99208}"/>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E5688FAB-861A-40B6-9374-7B9D40D95623}"/>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B61C165-8D82-4F95-A016-040716160C0D}"/>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64B7226A-4170-4A0D-ACC3-2FBCCD341925}"/>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15EC6EC2-BEE4-4D95-8A59-FC1620151084}"/>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83566DC9-3BB0-49D5-8598-9CFDB4F96CDD}"/>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D846B8D8-F165-4702-9B6E-61794A385BB6}"/>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F7193261-4CAA-4CBA-B698-E72DC702AD60}"/>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032E0CDE-31C0-4EFD-8F78-7693EEB06130}"/>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88D0FF5E-EBF3-4CC3-8B46-011CF32683D8}"/>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AE094563-A44B-4244-AFD0-8D4D48EE8B6E}"/>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85642F2F-0F0E-41C0-A453-B6A7A76655E0}"/>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026A1412-B50D-45B6-A2FB-E25B27726C7A}"/>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14C087CF-436A-4DFE-8D75-704AD74707BC}"/>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CA6AA90C-9F82-4EFE-93E9-DDBCB8B99961}"/>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AC31F508-A1D3-43A5-B084-1129F57BB4A7}"/>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A6FBBF63-076B-4320-85C0-04EEAB0EE41F}"/>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C6690671-13B3-4F21-A1EF-870ED6851469}"/>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5749CC7F-3E1C-47F0-8030-0D651AF2EA3F}"/>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3E63DF78-E35F-4BE5-8646-BDE5C1AEC509}"/>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0BC5D63C-D024-40E3-9B14-997FEF6F1ADB}"/>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357CF040-F8BA-4AC5-A0F4-13B186CEB81D}"/>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9BCE38DD-F4D4-48A5-8487-628AD607F537}"/>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FD6E6C96-5C22-464D-8DC0-B5E04567DF80}"/>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C73C5D14-0783-4941-8E01-0A42298D6CF5}"/>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78511EAD-A4C5-48D0-BF9A-C25FACAD9DC8}"/>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2F46FA15-D2A8-42F6-84A3-0B9C9765D97E}"/>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C5551F16-835D-4A35-8B3B-8DC58E8D4A25}"/>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EE218C78-0BA7-4B26-8A76-98A0A5E7C206}"/>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72BA3300-E852-4175-9D97-EBF9BE4645F7}"/>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3CFA8CE1-FAE5-4890-99E2-C6A411E977DF}"/>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B000"/>
                </a:solidFill>
                <a:latin typeface="Aptos"/>
                <a:ea typeface="Aptos"/>
                <a:cs typeface="Aptos"/>
              </a:defRPr>
            </a:pPr>
            <a:r>
              <a:rPr sz="975" b="1">
                <a:solidFill>
                  <a:srgbClr val="FFB000"/>
                </a:solidFill>
                <a:latin typeface="Aptos"/>
                <a:ea typeface="Aptos"/>
                <a:cs typeface="Aptos"/>
              </a:rPr>
              <a:t>data and code path</a:t>
            </a:r>
          </a:p>
        </p:txBody>
      </p:sp>
      <p:sp>
        <p:nvSpPr>
          <p:cNvPr id="53" name="slide-title">
            <a:extLst>
              <a:ext uri="{FF2B5EF4-FFF2-40B4-BE49-F238E27FC236}">
                <a16:creationId xmlns:a16="http://schemas.microsoft.com/office/drawing/2014/main" id="{BA81A47F-2F6B-4F96-A701-D4AE2F8D98B2}"/>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Representation makes a small corpus usable</a:t>
            </a:r>
          </a:p>
        </p:txBody>
      </p:sp>
      <p:sp>
        <p:nvSpPr>
          <p:cNvPr id="54" name="page-number">
            <a:extLst>
              <a:ext uri="{FF2B5EF4-FFF2-40B4-BE49-F238E27FC236}">
                <a16:creationId xmlns:a16="http://schemas.microsoft.com/office/drawing/2014/main" id="{1D325A9D-011B-43DD-8F21-CB96F9BFCA98}"/>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3</a:t>
            </a:r>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10668000" y="400050"/>
            <a:ext cx="419100" cy="419100"/>
          </a:xfrm>
          <a:prstGeom prst="rect">
            <a:avLst/>
          </a:prstGeom>
        </p:spPr>
      </p:pic>
      <p:sp>
        <p:nvSpPr>
          <p:cNvPr id="56" name="Rectangle 55">
            <a:extLst>
              <a:ext uri="{FF2B5EF4-FFF2-40B4-BE49-F238E27FC236}">
                <a16:creationId xmlns:a16="http://schemas.microsoft.com/office/drawing/2014/main" id="{75325637-CFE9-49E6-AF7B-176FE95BC980}"/>
              </a:ext>
            </a:extLst>
          </p:cNvPr>
          <p:cNvSpPr>
            <a:spLocks noGrp="1"/>
          </p:cNvSpPr>
          <p:nvPr/>
        </p:nvSpPr>
        <p:spPr>
          <a:xfrm>
            <a:off x="666750" y="1447800"/>
            <a:ext cx="6477000" cy="3162300"/>
          </a:xfrm>
          <a:prstGeom prst="rect">
            <a:avLst/>
          </a:prstGeom>
          <a:solidFill>
            <a:srgbClr val="27211D"/>
          </a:solidFill>
          <a:ln w="9525">
            <a:solidFill>
              <a:srgbClr val="FFB000"/>
            </a:solidFill>
            <a:prstDash val="solid"/>
          </a:ln>
        </p:spPr>
        <p:txBody>
          <a:bodyPr/>
          <a:lstStyle/>
          <a:p>
            <a:endParaRPr lang="en-US"/>
          </a:p>
        </p:txBody>
      </p:sp>
      <p:sp>
        <p:nvSpPr>
          <p:cNvPr id="57" name="Rectangle 56">
            <a:extLst>
              <a:ext uri="{FF2B5EF4-FFF2-40B4-BE49-F238E27FC236}">
                <a16:creationId xmlns:a16="http://schemas.microsoft.com/office/drawing/2014/main" id="{E0B26EA8-7581-431E-B645-E0855FD57B03}"/>
              </a:ext>
            </a:extLst>
          </p:cNvPr>
          <p:cNvSpPr>
            <a:spLocks noGrp="1"/>
          </p:cNvSpPr>
          <p:nvPr/>
        </p:nvSpPr>
        <p:spPr>
          <a:xfrm>
            <a:off x="990600" y="18859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58" name="Rectangle 57">
            <a:extLst>
              <a:ext uri="{FF2B5EF4-FFF2-40B4-BE49-F238E27FC236}">
                <a16:creationId xmlns:a16="http://schemas.microsoft.com/office/drawing/2014/main" id="{5C5E75F1-88FF-4FCB-951A-9EEA0B801B27}"/>
              </a:ext>
            </a:extLst>
          </p:cNvPr>
          <p:cNvSpPr>
            <a:spLocks noGrp="1"/>
          </p:cNvSpPr>
          <p:nvPr/>
        </p:nvSpPr>
        <p:spPr>
          <a:xfrm>
            <a:off x="1200150" y="1809750"/>
            <a:ext cx="5410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Quantize timing to a 16th-note grid: GRID = 4 steps per quarter.</a:t>
            </a:r>
          </a:p>
        </p:txBody>
      </p:sp>
      <p:sp>
        <p:nvSpPr>
          <p:cNvPr id="59" name="Rectangle 58">
            <a:extLst>
              <a:ext uri="{FF2B5EF4-FFF2-40B4-BE49-F238E27FC236}">
                <a16:creationId xmlns:a16="http://schemas.microsoft.com/office/drawing/2014/main" id="{87B7D65A-80F4-48F3-9AEE-6479FFA37BDC}"/>
              </a:ext>
            </a:extLst>
          </p:cNvPr>
          <p:cNvSpPr>
            <a:spLocks noGrp="1"/>
          </p:cNvSpPr>
          <p:nvPr/>
        </p:nvSpPr>
        <p:spPr>
          <a:xfrm>
            <a:off x="990600" y="24765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0" name="Rectangle 59">
            <a:extLst>
              <a:ext uri="{FF2B5EF4-FFF2-40B4-BE49-F238E27FC236}">
                <a16:creationId xmlns:a16="http://schemas.microsoft.com/office/drawing/2014/main" id="{8B9411DF-3A76-4D07-862E-A3D2383C53DF}"/>
              </a:ext>
            </a:extLst>
          </p:cNvPr>
          <p:cNvSpPr>
            <a:spLocks noGrp="1"/>
          </p:cNvSpPr>
          <p:nvPr/>
        </p:nvSpPr>
        <p:spPr>
          <a:xfrm>
            <a:off x="1200150" y="2400300"/>
            <a:ext cx="5410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Encode melody as one token per step: REST, HOLD, or MIDI pitch onset.</a:t>
            </a:r>
          </a:p>
        </p:txBody>
      </p:sp>
      <p:sp>
        <p:nvSpPr>
          <p:cNvPr id="61" name="Rectangle 60">
            <a:extLst>
              <a:ext uri="{FF2B5EF4-FFF2-40B4-BE49-F238E27FC236}">
                <a16:creationId xmlns:a16="http://schemas.microsoft.com/office/drawing/2014/main" id="{A422499C-75ED-4BDC-88AB-41E5BEB09B72}"/>
              </a:ext>
            </a:extLst>
          </p:cNvPr>
          <p:cNvSpPr>
            <a:spLocks noGrp="1"/>
          </p:cNvSpPr>
          <p:nvPr/>
        </p:nvSpPr>
        <p:spPr>
          <a:xfrm>
            <a:off x="990600" y="30670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2" name="Rectangle 61">
            <a:extLst>
              <a:ext uri="{FF2B5EF4-FFF2-40B4-BE49-F238E27FC236}">
                <a16:creationId xmlns:a16="http://schemas.microsoft.com/office/drawing/2014/main" id="{5026CE0F-CB0F-41D5-8A69-AFC7663AF61B}"/>
              </a:ext>
            </a:extLst>
          </p:cNvPr>
          <p:cNvSpPr>
            <a:spLocks noGrp="1"/>
          </p:cNvSpPr>
          <p:nvPr/>
        </p:nvSpPr>
        <p:spPr>
          <a:xfrm>
            <a:off x="1200150" y="2990850"/>
            <a:ext cx="5410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Normalize key with Krumhansl-Schmuckler, transposing to C major / A minor.</a:t>
            </a:r>
          </a:p>
        </p:txBody>
      </p:sp>
      <p:sp>
        <p:nvSpPr>
          <p:cNvPr id="63" name="Rectangle 62">
            <a:extLst>
              <a:ext uri="{FF2B5EF4-FFF2-40B4-BE49-F238E27FC236}">
                <a16:creationId xmlns:a16="http://schemas.microsoft.com/office/drawing/2014/main" id="{07FECD0A-9EE1-46E7-A791-D52B9C9AB443}"/>
              </a:ext>
            </a:extLst>
          </p:cNvPr>
          <p:cNvSpPr>
            <a:spLocks noGrp="1"/>
          </p:cNvSpPr>
          <p:nvPr/>
        </p:nvSpPr>
        <p:spPr>
          <a:xfrm>
            <a:off x="990600" y="36576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4" name="Rectangle 63">
            <a:extLst>
              <a:ext uri="{FF2B5EF4-FFF2-40B4-BE49-F238E27FC236}">
                <a16:creationId xmlns:a16="http://schemas.microsoft.com/office/drawing/2014/main" id="{0F963D94-2719-45EC-B3BA-09B2B8D9DDEC}"/>
              </a:ext>
            </a:extLst>
          </p:cNvPr>
          <p:cNvSpPr>
            <a:spLocks noGrp="1"/>
          </p:cNvSpPr>
          <p:nvPr/>
        </p:nvSpPr>
        <p:spPr>
          <a:xfrm>
            <a:off x="1200150" y="3581400"/>
            <a:ext cx="5410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Convert chord track to one per-bar label using pitch-class templates.</a:t>
            </a:r>
          </a:p>
        </p:txBody>
      </p:sp>
      <p:sp>
        <p:nvSpPr>
          <p:cNvPr id="65" name="Rectangle 64">
            <a:extLst>
              <a:ext uri="{FF2B5EF4-FFF2-40B4-BE49-F238E27FC236}">
                <a16:creationId xmlns:a16="http://schemas.microsoft.com/office/drawing/2014/main" id="{F93C4623-3C4F-45CD-BA16-E9FDACF36A72}"/>
              </a:ext>
            </a:extLst>
          </p:cNvPr>
          <p:cNvSpPr>
            <a:spLocks noGrp="1"/>
          </p:cNvSpPr>
          <p:nvPr/>
        </p:nvSpPr>
        <p:spPr>
          <a:xfrm>
            <a:off x="7620000" y="1447800"/>
            <a:ext cx="3619500" cy="3162300"/>
          </a:xfrm>
          <a:prstGeom prst="rect">
            <a:avLst/>
          </a:prstGeom>
          <a:solidFill>
            <a:srgbClr val="1E1A17"/>
          </a:solidFill>
          <a:ln w="9525">
            <a:solidFill>
              <a:srgbClr val="2EC4B6"/>
            </a:solidFill>
            <a:prstDash val="solid"/>
          </a:ln>
        </p:spPr>
        <p:txBody>
          <a:bodyPr/>
          <a:lstStyle/>
          <a:p>
            <a:endParaRPr lang="en-US"/>
          </a:p>
        </p:txBody>
      </p:sp>
      <p:sp>
        <p:nvSpPr>
          <p:cNvPr id="66" name="Rectangle 65">
            <a:extLst>
              <a:ext uri="{FF2B5EF4-FFF2-40B4-BE49-F238E27FC236}">
                <a16:creationId xmlns:a16="http://schemas.microsoft.com/office/drawing/2014/main" id="{9DF860AE-1C90-440B-9E6B-A8B75C23E49D}"/>
              </a:ext>
            </a:extLst>
          </p:cNvPr>
          <p:cNvSpPr>
            <a:spLocks noGrp="1"/>
          </p:cNvSpPr>
          <p:nvPr/>
        </p:nvSpPr>
        <p:spPr>
          <a:xfrm>
            <a:off x="7886700" y="1752600"/>
            <a:ext cx="2857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2EC4B6"/>
                </a:solidFill>
                <a:latin typeface="Aptos"/>
                <a:ea typeface="Aptos"/>
                <a:cs typeface="Aptos"/>
              </a:defRPr>
            </a:pPr>
            <a:r>
              <a:rPr sz="1500" b="1">
                <a:solidFill>
                  <a:srgbClr val="2EC4B6"/>
                </a:solidFill>
                <a:latin typeface="Aptos"/>
                <a:ea typeface="Aptos"/>
                <a:cs typeface="Aptos"/>
              </a:rPr>
              <a:t>Harmonization feature</a:t>
            </a:r>
          </a:p>
        </p:txBody>
      </p:sp>
      <p:sp>
        <p:nvSpPr>
          <p:cNvPr id="67" name="Rectangle 66">
            <a:extLst>
              <a:ext uri="{FF2B5EF4-FFF2-40B4-BE49-F238E27FC236}">
                <a16:creationId xmlns:a16="http://schemas.microsoft.com/office/drawing/2014/main" id="{9C949287-C072-45A5-94C4-969C173B6710}"/>
              </a:ext>
            </a:extLst>
          </p:cNvPr>
          <p:cNvSpPr>
            <a:spLocks noGrp="1"/>
          </p:cNvSpPr>
          <p:nvPr/>
        </p:nvSpPr>
        <p:spPr>
          <a:xfrm>
            <a:off x="7886700" y="2190750"/>
            <a:ext cx="27622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bar -&gt; 12-d melody pitch-class histogram -&gt; chord label</a:t>
            </a:r>
          </a:p>
        </p:txBody>
      </p:sp>
      <p:sp>
        <p:nvSpPr>
          <p:cNvPr id="68" name="Rectangle 67">
            <a:extLst>
              <a:ext uri="{FF2B5EF4-FFF2-40B4-BE49-F238E27FC236}">
                <a16:creationId xmlns:a16="http://schemas.microsoft.com/office/drawing/2014/main" id="{B6B210DC-34D9-4027-BF26-F890712ECE4C}"/>
              </a:ext>
            </a:extLst>
          </p:cNvPr>
          <p:cNvSpPr>
            <a:spLocks noGrp="1"/>
          </p:cNvSpPr>
          <p:nvPr/>
        </p:nvSpPr>
        <p:spPr>
          <a:xfrm>
            <a:off x="7886700" y="3219450"/>
            <a:ext cx="280035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BFB6AA"/>
                </a:solidFill>
                <a:latin typeface="Aptos"/>
                <a:ea typeface="Aptos"/>
                <a:cs typeface="Aptos"/>
              </a:defRPr>
            </a:pPr>
            <a:r>
              <a:rPr sz="1275" b="0">
                <a:solidFill>
                  <a:srgbClr val="BFB6AA"/>
                </a:solidFill>
                <a:latin typeface="Aptos"/>
                <a:ea typeface="Aptos"/>
                <a:cs typeface="Aptos"/>
              </a:rPr>
              <a:t>This collapses note-level MIDI into a supervised sequence-tagging problem while keeping enough tonal information for chords.</a:t>
            </a:r>
          </a:p>
        </p:txBody>
      </p:sp>
      <p:sp>
        <p:nvSpPr>
          <p:cNvPr id="69" name="Rectangle 68">
            <a:extLst>
              <a:ext uri="{FF2B5EF4-FFF2-40B4-BE49-F238E27FC236}">
                <a16:creationId xmlns:a16="http://schemas.microsoft.com/office/drawing/2014/main" id="{285CE684-0346-464B-A7C1-937F08491A5D}"/>
              </a:ext>
            </a:extLst>
          </p:cNvPr>
          <p:cNvSpPr>
            <a:spLocks noGrp="1"/>
          </p:cNvSpPr>
          <p:nvPr/>
        </p:nvSpPr>
        <p:spPr>
          <a:xfrm>
            <a:off x="1143000" y="5010150"/>
            <a:ext cx="2952750" cy="876300"/>
          </a:xfrm>
          <a:prstGeom prst="rect">
            <a:avLst/>
          </a:prstGeom>
          <a:solidFill>
            <a:srgbClr val="27211D"/>
          </a:solidFill>
          <a:ln w="9525">
            <a:solidFill>
              <a:srgbClr val="6AD58B"/>
            </a:solidFill>
            <a:prstDash val="solid"/>
          </a:ln>
        </p:spPr>
        <p:txBody>
          <a:bodyPr/>
          <a:lstStyle/>
          <a:p>
            <a:endParaRPr lang="en-US"/>
          </a:p>
        </p:txBody>
      </p:sp>
      <p:sp>
        <p:nvSpPr>
          <p:cNvPr id="70" name="metric-value">
            <a:extLst>
              <a:ext uri="{FF2B5EF4-FFF2-40B4-BE49-F238E27FC236}">
                <a16:creationId xmlns:a16="http://schemas.microsoft.com/office/drawing/2014/main" id="{6C41BF82-DA83-42A1-852B-FFAA23355FB5}"/>
              </a:ext>
            </a:extLst>
          </p:cNvPr>
          <p:cNvSpPr>
            <a:spLocks noGrp="1"/>
          </p:cNvSpPr>
          <p:nvPr/>
        </p:nvSpPr>
        <p:spPr>
          <a:xfrm>
            <a:off x="1314450" y="5124450"/>
            <a:ext cx="26098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6AD58B"/>
                </a:solidFill>
                <a:latin typeface="Aptos"/>
                <a:ea typeface="Aptos"/>
                <a:cs typeface="Aptos"/>
              </a:defRPr>
            </a:pPr>
            <a:r>
              <a:rPr sz="2250" b="1">
                <a:solidFill>
                  <a:srgbClr val="6AD58B"/>
                </a:solidFill>
                <a:latin typeface="Aptos"/>
                <a:ea typeface="Aptos"/>
                <a:cs typeface="Aptos"/>
              </a:rPr>
              <a:t>97.5%</a:t>
            </a:r>
          </a:p>
        </p:txBody>
      </p:sp>
      <p:sp>
        <p:nvSpPr>
          <p:cNvPr id="71" name="metric-label">
            <a:extLst>
              <a:ext uri="{FF2B5EF4-FFF2-40B4-BE49-F238E27FC236}">
                <a16:creationId xmlns:a16="http://schemas.microsoft.com/office/drawing/2014/main" id="{D664B980-DBF9-44D4-8617-C272034D57D7}"/>
              </a:ext>
            </a:extLst>
          </p:cNvPr>
          <p:cNvSpPr>
            <a:spLocks noGrp="1"/>
          </p:cNvSpPr>
          <p:nvPr/>
        </p:nvSpPr>
        <p:spPr>
          <a:xfrm>
            <a:off x="1314450" y="5505450"/>
            <a:ext cx="2609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notes on C-major scale after key normalization</a:t>
            </a:r>
          </a:p>
        </p:txBody>
      </p:sp>
      <p:sp>
        <p:nvSpPr>
          <p:cNvPr id="72" name="Rectangle 71">
            <a:extLst>
              <a:ext uri="{FF2B5EF4-FFF2-40B4-BE49-F238E27FC236}">
                <a16:creationId xmlns:a16="http://schemas.microsoft.com/office/drawing/2014/main" id="{15DA6582-9D01-49B8-AFD1-36B7F632EF8C}"/>
              </a:ext>
            </a:extLst>
          </p:cNvPr>
          <p:cNvSpPr>
            <a:spLocks noGrp="1"/>
          </p:cNvSpPr>
          <p:nvPr/>
        </p:nvSpPr>
        <p:spPr>
          <a:xfrm>
            <a:off x="4438650" y="5010150"/>
            <a:ext cx="3143250" cy="876300"/>
          </a:xfrm>
          <a:prstGeom prst="rect">
            <a:avLst/>
          </a:prstGeom>
          <a:solidFill>
            <a:srgbClr val="27211D"/>
          </a:solidFill>
          <a:ln w="9525">
            <a:solidFill>
              <a:srgbClr val="FF5A5F"/>
            </a:solidFill>
            <a:prstDash val="solid"/>
          </a:ln>
        </p:spPr>
        <p:txBody>
          <a:bodyPr/>
          <a:lstStyle/>
          <a:p>
            <a:endParaRPr lang="en-US"/>
          </a:p>
        </p:txBody>
      </p:sp>
      <p:sp>
        <p:nvSpPr>
          <p:cNvPr id="73" name="metric-value">
            <a:extLst>
              <a:ext uri="{FF2B5EF4-FFF2-40B4-BE49-F238E27FC236}">
                <a16:creationId xmlns:a16="http://schemas.microsoft.com/office/drawing/2014/main" id="{6C3CD4E7-8CA3-4DE2-9FC6-2F283519CD9A}"/>
              </a:ext>
            </a:extLst>
          </p:cNvPr>
          <p:cNvSpPr>
            <a:spLocks noGrp="1"/>
          </p:cNvSpPr>
          <p:nvPr/>
        </p:nvSpPr>
        <p:spPr>
          <a:xfrm>
            <a:off x="4610100" y="5124450"/>
            <a:ext cx="2800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5A5F"/>
                </a:solidFill>
                <a:latin typeface="Aptos"/>
                <a:ea typeface="Aptos"/>
                <a:cs typeface="Aptos"/>
              </a:defRPr>
            </a:pPr>
            <a:r>
              <a:rPr sz="1950" b="1">
                <a:solidFill>
                  <a:srgbClr val="FF5A5F"/>
                </a:solidFill>
                <a:latin typeface="Aptos"/>
                <a:ea typeface="Aptos"/>
                <a:cs typeface="Aptos"/>
              </a:rPr>
              <a:t>827/103/104</a:t>
            </a:r>
          </a:p>
        </p:txBody>
      </p:sp>
      <p:sp>
        <p:nvSpPr>
          <p:cNvPr id="74" name="metric-label">
            <a:extLst>
              <a:ext uri="{FF2B5EF4-FFF2-40B4-BE49-F238E27FC236}">
                <a16:creationId xmlns:a16="http://schemas.microsoft.com/office/drawing/2014/main" id="{6D6BE71F-B481-4F43-9E3E-8B02F93E147C}"/>
              </a:ext>
            </a:extLst>
          </p:cNvPr>
          <p:cNvSpPr>
            <a:spLocks noGrp="1"/>
          </p:cNvSpPr>
          <p:nvPr/>
        </p:nvSpPr>
        <p:spPr>
          <a:xfrm>
            <a:off x="4610100" y="5505450"/>
            <a:ext cx="2800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train / validation / test tune split</a:t>
            </a:r>
          </a:p>
        </p:txBody>
      </p:sp>
      <p:sp>
        <p:nvSpPr>
          <p:cNvPr id="75" name="Rectangle 74">
            <a:extLst>
              <a:ext uri="{FF2B5EF4-FFF2-40B4-BE49-F238E27FC236}">
                <a16:creationId xmlns:a16="http://schemas.microsoft.com/office/drawing/2014/main" id="{1D0146C2-CBB1-4655-8290-F09EA3A15596}"/>
              </a:ext>
            </a:extLst>
          </p:cNvPr>
          <p:cNvSpPr>
            <a:spLocks noGrp="1"/>
          </p:cNvSpPr>
          <p:nvPr/>
        </p:nvSpPr>
        <p:spPr>
          <a:xfrm>
            <a:off x="7924800" y="5010150"/>
            <a:ext cx="3143250" cy="876300"/>
          </a:xfrm>
          <a:prstGeom prst="rect">
            <a:avLst/>
          </a:prstGeom>
          <a:solidFill>
            <a:srgbClr val="27211D"/>
          </a:solidFill>
          <a:ln w="9525">
            <a:solidFill>
              <a:srgbClr val="2EC4B6"/>
            </a:solidFill>
            <a:prstDash val="solid"/>
          </a:ln>
        </p:spPr>
        <p:txBody>
          <a:bodyPr/>
          <a:lstStyle/>
          <a:p>
            <a:endParaRPr lang="en-US"/>
          </a:p>
        </p:txBody>
      </p:sp>
      <p:sp>
        <p:nvSpPr>
          <p:cNvPr id="76" name="metric-value">
            <a:extLst>
              <a:ext uri="{FF2B5EF4-FFF2-40B4-BE49-F238E27FC236}">
                <a16:creationId xmlns:a16="http://schemas.microsoft.com/office/drawing/2014/main" id="{0D92AF48-EB18-42C0-9270-90142BB49957}"/>
              </a:ext>
            </a:extLst>
          </p:cNvPr>
          <p:cNvSpPr>
            <a:spLocks noGrp="1"/>
          </p:cNvSpPr>
          <p:nvPr/>
        </p:nvSpPr>
        <p:spPr>
          <a:xfrm>
            <a:off x="8096250" y="5124450"/>
            <a:ext cx="2800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2EC4B6"/>
                </a:solidFill>
                <a:latin typeface="Aptos"/>
                <a:ea typeface="Aptos"/>
                <a:cs typeface="Aptos"/>
              </a:defRPr>
            </a:pPr>
            <a:r>
              <a:rPr sz="1800" b="1">
                <a:solidFill>
                  <a:srgbClr val="2EC4B6"/>
                </a:solidFill>
                <a:latin typeface="Aptos"/>
                <a:ea typeface="Aptos"/>
                <a:cs typeface="Aptos"/>
              </a:rPr>
              <a:t>nbcode.py</a:t>
            </a:r>
          </a:p>
        </p:txBody>
      </p:sp>
      <p:sp>
        <p:nvSpPr>
          <p:cNvPr id="77" name="metric-label">
            <a:extLst>
              <a:ext uri="{FF2B5EF4-FFF2-40B4-BE49-F238E27FC236}">
                <a16:creationId xmlns:a16="http://schemas.microsoft.com/office/drawing/2014/main" id="{DBF40D8E-B341-48C7-9AA0-F3C903E76542}"/>
              </a:ext>
            </a:extLst>
          </p:cNvPr>
          <p:cNvSpPr>
            <a:spLocks noGrp="1"/>
          </p:cNvSpPr>
          <p:nvPr/>
        </p:nvSpPr>
        <p:spPr>
          <a:xfrm>
            <a:off x="8096250" y="5505450"/>
            <a:ext cx="2800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melody_to_steps, estimate_key, melody_chords_by_bar</a:t>
            </a:r>
          </a:p>
        </p:txBody>
      </p:sp>
    </p:spTree>
    <p:extLst>
      <p:ext uri="{BB962C8B-B14F-4D97-AF65-F5344CB8AC3E}">
        <p14:creationId xmlns:p14="http://schemas.microsoft.com/office/powerpoint/2010/main" val="201523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CDE2FEFC-A11B-4666-98E0-F536829968BB}"/>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D448AC6E-7861-47B1-B392-10796735355C}"/>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9C12E74-36DA-410D-9032-F5FCD97A3C93}"/>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7F64166D-FE9D-4F75-9453-8EE38B77EBEE}"/>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EB30C607-ECCD-4B2D-A03E-110ABC054078}"/>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7F55C87-4D1F-456F-B002-B66915770C99}"/>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BC8AF7B5-2331-40E9-9709-7F0335CED012}"/>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CF6EA7EA-B701-4947-B64E-9326AFE96912}"/>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57BFF6C4-1047-4420-9AC2-7E1000E16FA2}"/>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7456A045-F62D-4283-B539-60F0C14DB1C2}"/>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448433BC-E99C-4544-8749-C09B81F9C8BB}"/>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26543305-8E01-4BEE-9D61-6C3083081FE8}"/>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4DB1BC4F-7A7C-4DD2-8ADB-F4F29D8F5AA0}"/>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E056C27C-7C51-42A5-8653-6F2B8752180B}"/>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0596DFD5-10BC-448D-9282-41E6A6444CB0}"/>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B992A049-7EA8-46AD-8AAD-49E156E1C1D2}"/>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462FB8FE-FDC6-4168-A440-C8E5A9813E0B}"/>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9DA176E5-7E5B-4CB9-94BD-40DC873E6FBB}"/>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940208C4-BD23-4B11-83A1-F65FC82D748C}"/>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360D0206-8191-4BF1-A526-405670A30173}"/>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136AE3C5-38E5-498E-8DC6-E36D8E92058A}"/>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4E14CF35-0079-4A0B-AA8B-89320D39B909}"/>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3052A978-9F67-4DEE-8043-52B9868A97FA}"/>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029045B0-589E-4F4E-9A33-B92CEAC6A66F}"/>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EB61CF9B-3942-4FFD-8184-EE43B42023B9}"/>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6AA1527E-9C85-4C3E-A883-E369116E53A0}"/>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23A352F-2BF9-4A4A-BE45-75408153D00B}"/>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DF1E579A-988E-4376-872F-7E4FFE053797}"/>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1D26E57E-7CF0-4E91-886D-0513DA71153D}"/>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11CD8BC1-9AC6-4B07-8567-86F37EE18CBB}"/>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34A29D68-E7BA-4FEE-8B5F-B5EF979E0B37}"/>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C9A3F734-F8D5-44C2-9539-4700D1BB17A0}"/>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984093E2-3813-461C-8161-8381F4D9540A}"/>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90AAEA52-8AEA-4E3B-A4AF-4C533E9DD1B5}"/>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70515E60-9B63-4901-A9F6-1CB463F6F26A}"/>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84C60932-6E7A-4DD6-A9BC-F924CF9B8712}"/>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8F16BBCE-E2F9-4A18-B08E-89F1DBC7E3D6}"/>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5C5B2520-0F2A-43BD-8D0A-94D156B48C20}"/>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A7DC5556-8ABD-4ABE-8692-CADC2ABA5575}"/>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DED8017D-3A85-4C34-856E-88C43BB168C0}"/>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FF53ECC6-9078-43D5-9B6F-C426EE374052}"/>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34AB8978-9764-4D0A-A0ED-A271A8E961CE}"/>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2B34F237-7028-4FBA-A576-5041F706513E}"/>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3E16D672-BDFC-4D79-AD3C-76B9BAB3C2B9}"/>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B081A580-1350-40FC-A2C3-B82F65D6CA0D}"/>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85285DB8-F4A1-4879-98FA-DD96013B4FC6}"/>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43680C87-31F9-4BCA-8B9D-E978DA0E8C97}"/>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FE304098-389D-447E-ACE2-5160FFDF56B6}"/>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0C24CC97-CE5C-46F6-A225-7EF6113624E4}"/>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B6AE5D02-4E54-44EB-807D-4C6DBDBCA93E}"/>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2B9F8A76-2A49-4675-8C1A-A3D437E2DBB2}"/>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738794D0-B0D6-4E53-BA39-0CE70463E2A8}"/>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notebook EDA evidence</a:t>
            </a:r>
          </a:p>
        </p:txBody>
      </p:sp>
      <p:sp>
        <p:nvSpPr>
          <p:cNvPr id="53" name="slide-title">
            <a:extLst>
              <a:ext uri="{FF2B5EF4-FFF2-40B4-BE49-F238E27FC236}">
                <a16:creationId xmlns:a16="http://schemas.microsoft.com/office/drawing/2014/main" id="{B68349B9-0928-463C-A538-8A89BE0B5B08}"/>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The corpus is regular, tonal, and friendly to compact models</a:t>
            </a:r>
          </a:p>
        </p:txBody>
      </p:sp>
      <p:sp>
        <p:nvSpPr>
          <p:cNvPr id="54" name="page-number">
            <a:extLst>
              <a:ext uri="{FF2B5EF4-FFF2-40B4-BE49-F238E27FC236}">
                <a16:creationId xmlns:a16="http://schemas.microsoft.com/office/drawing/2014/main" id="{3EF84404-8E24-42AF-8821-C6357636F1F4}"/>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4</a:t>
            </a:r>
          </a:p>
        </p:txBody>
      </p:sp>
      <p:sp>
        <p:nvSpPr>
          <p:cNvPr id="55" name="Rectangle 54">
            <a:extLst>
              <a:ext uri="{FF2B5EF4-FFF2-40B4-BE49-F238E27FC236}">
                <a16:creationId xmlns:a16="http://schemas.microsoft.com/office/drawing/2014/main" id="{0EE96C75-AF45-4F73-8888-762F177508DC}"/>
              </a:ext>
            </a:extLst>
          </p:cNvPr>
          <p:cNvSpPr>
            <a:spLocks noGrp="1"/>
          </p:cNvSpPr>
          <p:nvPr/>
        </p:nvSpPr>
        <p:spPr>
          <a:xfrm>
            <a:off x="552450" y="1409700"/>
            <a:ext cx="3486150" cy="2190750"/>
          </a:xfrm>
          <a:prstGeom prst="rect">
            <a:avLst/>
          </a:prstGeom>
          <a:solidFill>
            <a:srgbClr val="F7F2EA"/>
          </a:solidFill>
          <a:ln w="9525">
            <a:solidFill>
              <a:srgbClr val="3A302A"/>
            </a:solidFill>
            <a:prstDash val="solid"/>
          </a:ln>
        </p:spPr>
        <p:txBody>
          <a:bodyPr/>
          <a:lstStyle/>
          <a:p>
            <a:endParaRPr lang="en-US"/>
          </a:p>
        </p:txBody>
      </p:sp>
      <p:pic>
        <p:nvPicPr>
          <p:cNvPr id="56" name="Picture 55"/>
          <p:cNvPicPr>
            <a:picLocks noChangeAspect="1"/>
          </p:cNvPicPr>
          <p:nvPr/>
        </p:nvPicPr>
        <p:blipFill>
          <a:blip r:embed="rId3"/>
          <a:stretch/>
        </p:blipFill>
        <p:spPr>
          <a:xfrm>
            <a:off x="647700" y="1932735"/>
            <a:ext cx="3295650" cy="935129"/>
          </a:xfrm>
          <a:prstGeom prst="rect">
            <a:avLst/>
          </a:prstGeom>
        </p:spPr>
      </p:pic>
      <p:sp>
        <p:nvSpPr>
          <p:cNvPr id="57" name="Rectangle 56">
            <a:extLst>
              <a:ext uri="{FF2B5EF4-FFF2-40B4-BE49-F238E27FC236}">
                <a16:creationId xmlns:a16="http://schemas.microsoft.com/office/drawing/2014/main" id="{D888412B-67EC-4271-966B-F365D3D334FA}"/>
              </a:ext>
            </a:extLst>
          </p:cNvPr>
          <p:cNvSpPr>
            <a:spLocks noGrp="1"/>
          </p:cNvSpPr>
          <p:nvPr/>
        </p:nvSpPr>
        <p:spPr>
          <a:xfrm>
            <a:off x="685800" y="3333750"/>
            <a:ext cx="3219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collections and original key clusters</a:t>
            </a:r>
          </a:p>
        </p:txBody>
      </p:sp>
      <p:sp>
        <p:nvSpPr>
          <p:cNvPr id="58" name="Rectangle 57">
            <a:extLst>
              <a:ext uri="{FF2B5EF4-FFF2-40B4-BE49-F238E27FC236}">
                <a16:creationId xmlns:a16="http://schemas.microsoft.com/office/drawing/2014/main" id="{89CBA761-7747-4488-B982-12B7DD024593}"/>
              </a:ext>
            </a:extLst>
          </p:cNvPr>
          <p:cNvSpPr>
            <a:spLocks noGrp="1"/>
          </p:cNvSpPr>
          <p:nvPr/>
        </p:nvSpPr>
        <p:spPr>
          <a:xfrm>
            <a:off x="4343400" y="1409700"/>
            <a:ext cx="3486150" cy="2190750"/>
          </a:xfrm>
          <a:prstGeom prst="rect">
            <a:avLst/>
          </a:prstGeom>
          <a:solidFill>
            <a:srgbClr val="F7F2EA"/>
          </a:solidFill>
          <a:ln w="9525">
            <a:solidFill>
              <a:srgbClr val="3A302A"/>
            </a:solidFill>
            <a:prstDash val="solid"/>
          </a:ln>
        </p:spPr>
        <p:txBody>
          <a:bodyPr/>
          <a:lstStyle/>
          <a:p>
            <a:endParaRPr lang="en-US"/>
          </a:p>
        </p:txBody>
      </p:sp>
      <p:pic>
        <p:nvPicPr>
          <p:cNvPr id="59" name="Picture 58"/>
          <p:cNvPicPr>
            <a:picLocks noChangeAspect="1"/>
          </p:cNvPicPr>
          <p:nvPr/>
        </p:nvPicPr>
        <p:blipFill>
          <a:blip r:embed="rId4"/>
          <a:stretch/>
        </p:blipFill>
        <p:spPr>
          <a:xfrm>
            <a:off x="4438650" y="2005282"/>
            <a:ext cx="3295650" cy="790036"/>
          </a:xfrm>
          <a:prstGeom prst="rect">
            <a:avLst/>
          </a:prstGeom>
        </p:spPr>
      </p:pic>
      <p:sp>
        <p:nvSpPr>
          <p:cNvPr id="60" name="Rectangle 59">
            <a:extLst>
              <a:ext uri="{FF2B5EF4-FFF2-40B4-BE49-F238E27FC236}">
                <a16:creationId xmlns:a16="http://schemas.microsoft.com/office/drawing/2014/main" id="{75FE6A91-C823-45FD-977F-144848183CDA}"/>
              </a:ext>
            </a:extLst>
          </p:cNvPr>
          <p:cNvSpPr>
            <a:spLocks noGrp="1"/>
          </p:cNvSpPr>
          <p:nvPr/>
        </p:nvSpPr>
        <p:spPr>
          <a:xfrm>
            <a:off x="4476750" y="3333750"/>
            <a:ext cx="3219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melody lengths, pitch classes, durations</a:t>
            </a:r>
          </a:p>
        </p:txBody>
      </p:sp>
      <p:sp>
        <p:nvSpPr>
          <p:cNvPr id="61" name="Rectangle 60">
            <a:extLst>
              <a:ext uri="{FF2B5EF4-FFF2-40B4-BE49-F238E27FC236}">
                <a16:creationId xmlns:a16="http://schemas.microsoft.com/office/drawing/2014/main" id="{40724F07-6C19-4F44-811F-F1DAA83976FF}"/>
              </a:ext>
            </a:extLst>
          </p:cNvPr>
          <p:cNvSpPr>
            <a:spLocks noGrp="1"/>
          </p:cNvSpPr>
          <p:nvPr/>
        </p:nvSpPr>
        <p:spPr>
          <a:xfrm>
            <a:off x="8134350" y="1409700"/>
            <a:ext cx="3486150" cy="2190750"/>
          </a:xfrm>
          <a:prstGeom prst="rect">
            <a:avLst/>
          </a:prstGeom>
          <a:solidFill>
            <a:srgbClr val="F7F2EA"/>
          </a:solidFill>
          <a:ln w="9525">
            <a:solidFill>
              <a:srgbClr val="3A302A"/>
            </a:solidFill>
            <a:prstDash val="solid"/>
          </a:ln>
        </p:spPr>
        <p:txBody>
          <a:bodyPr/>
          <a:lstStyle/>
          <a:p>
            <a:endParaRPr lang="en-US"/>
          </a:p>
        </p:txBody>
      </p:sp>
      <p:pic>
        <p:nvPicPr>
          <p:cNvPr id="62" name="Picture 61"/>
          <p:cNvPicPr>
            <a:picLocks noChangeAspect="1"/>
          </p:cNvPicPr>
          <p:nvPr/>
        </p:nvPicPr>
        <p:blipFill>
          <a:blip r:embed="rId5"/>
          <a:stretch/>
        </p:blipFill>
        <p:spPr>
          <a:xfrm>
            <a:off x="8229600" y="1836470"/>
            <a:ext cx="3295650" cy="1127659"/>
          </a:xfrm>
          <a:prstGeom prst="rect">
            <a:avLst/>
          </a:prstGeom>
        </p:spPr>
      </p:pic>
      <p:sp>
        <p:nvSpPr>
          <p:cNvPr id="63" name="Rectangle 62">
            <a:extLst>
              <a:ext uri="{FF2B5EF4-FFF2-40B4-BE49-F238E27FC236}">
                <a16:creationId xmlns:a16="http://schemas.microsoft.com/office/drawing/2014/main" id="{DB45FE38-0898-420A-837B-F6D768D5F759}"/>
              </a:ext>
            </a:extLst>
          </p:cNvPr>
          <p:cNvSpPr>
            <a:spLocks noGrp="1"/>
          </p:cNvSpPr>
          <p:nvPr/>
        </p:nvSpPr>
        <p:spPr>
          <a:xfrm>
            <a:off x="8267700" y="3333750"/>
            <a:ext cx="3219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dominant folk harmony vocabulary</a:t>
            </a:r>
          </a:p>
        </p:txBody>
      </p:sp>
      <p:sp>
        <p:nvSpPr>
          <p:cNvPr id="64" name="Rectangle 63">
            <a:extLst>
              <a:ext uri="{FF2B5EF4-FFF2-40B4-BE49-F238E27FC236}">
                <a16:creationId xmlns:a16="http://schemas.microsoft.com/office/drawing/2014/main" id="{E43F6B71-7D2D-4AD7-BB9D-69E0814FA735}"/>
              </a:ext>
            </a:extLst>
          </p:cNvPr>
          <p:cNvSpPr>
            <a:spLocks noGrp="1"/>
          </p:cNvSpPr>
          <p:nvPr/>
        </p:nvSpPr>
        <p:spPr>
          <a:xfrm>
            <a:off x="838200" y="4095750"/>
            <a:ext cx="3143250" cy="876300"/>
          </a:xfrm>
          <a:prstGeom prst="rect">
            <a:avLst/>
          </a:prstGeom>
          <a:solidFill>
            <a:srgbClr val="27211D"/>
          </a:solidFill>
          <a:ln w="9525">
            <a:solidFill>
              <a:srgbClr val="FFB000"/>
            </a:solidFill>
            <a:prstDash val="solid"/>
          </a:ln>
        </p:spPr>
        <p:txBody>
          <a:bodyPr/>
          <a:lstStyle/>
          <a:p>
            <a:endParaRPr lang="en-US"/>
          </a:p>
        </p:txBody>
      </p:sp>
      <p:sp>
        <p:nvSpPr>
          <p:cNvPr id="65" name="metric-value">
            <a:extLst>
              <a:ext uri="{FF2B5EF4-FFF2-40B4-BE49-F238E27FC236}">
                <a16:creationId xmlns:a16="http://schemas.microsoft.com/office/drawing/2014/main" id="{6206775F-D87E-4099-B0EA-D9566548767F}"/>
              </a:ext>
            </a:extLst>
          </p:cNvPr>
          <p:cNvSpPr>
            <a:spLocks noGrp="1"/>
          </p:cNvSpPr>
          <p:nvPr/>
        </p:nvSpPr>
        <p:spPr>
          <a:xfrm>
            <a:off x="1009650" y="4210050"/>
            <a:ext cx="2800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FB000"/>
                </a:solidFill>
                <a:latin typeface="Aptos"/>
                <a:ea typeface="Aptos"/>
                <a:cs typeface="Aptos"/>
              </a:defRPr>
            </a:pPr>
            <a:r>
              <a:rPr sz="1800" b="1">
                <a:solidFill>
                  <a:srgbClr val="FFB000"/>
                </a:solidFill>
                <a:latin typeface="Aptos"/>
                <a:ea typeface="Aptos"/>
                <a:cs typeface="Aptos"/>
              </a:rPr>
              <a:t>C / G7 / F / Am</a:t>
            </a:r>
          </a:p>
        </p:txBody>
      </p:sp>
      <p:sp>
        <p:nvSpPr>
          <p:cNvPr id="66" name="metric-label">
            <a:extLst>
              <a:ext uri="{FF2B5EF4-FFF2-40B4-BE49-F238E27FC236}">
                <a16:creationId xmlns:a16="http://schemas.microsoft.com/office/drawing/2014/main" id="{E045D9CA-7725-4D6E-BA43-0192C2910366}"/>
              </a:ext>
            </a:extLst>
          </p:cNvPr>
          <p:cNvSpPr>
            <a:spLocks noGrp="1"/>
          </p:cNvSpPr>
          <p:nvPr/>
        </p:nvSpPr>
        <p:spPr>
          <a:xfrm>
            <a:off x="1009650" y="4591050"/>
            <a:ext cx="2800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top chord labels after normalization</a:t>
            </a:r>
          </a:p>
        </p:txBody>
      </p:sp>
      <p:sp>
        <p:nvSpPr>
          <p:cNvPr id="67" name="Rectangle 66">
            <a:extLst>
              <a:ext uri="{FF2B5EF4-FFF2-40B4-BE49-F238E27FC236}">
                <a16:creationId xmlns:a16="http://schemas.microsoft.com/office/drawing/2014/main" id="{18B12130-6662-40D5-BB61-B73D0124990F}"/>
              </a:ext>
            </a:extLst>
          </p:cNvPr>
          <p:cNvSpPr>
            <a:spLocks noGrp="1"/>
          </p:cNvSpPr>
          <p:nvPr/>
        </p:nvSpPr>
        <p:spPr>
          <a:xfrm>
            <a:off x="4514850" y="4095750"/>
            <a:ext cx="3143250" cy="876300"/>
          </a:xfrm>
          <a:prstGeom prst="rect">
            <a:avLst/>
          </a:prstGeom>
          <a:solidFill>
            <a:srgbClr val="27211D"/>
          </a:solidFill>
          <a:ln w="9525">
            <a:solidFill>
              <a:srgbClr val="2EC4B6"/>
            </a:solidFill>
            <a:prstDash val="solid"/>
          </a:ln>
        </p:spPr>
        <p:txBody>
          <a:bodyPr/>
          <a:lstStyle/>
          <a:p>
            <a:endParaRPr lang="en-US"/>
          </a:p>
        </p:txBody>
      </p:sp>
      <p:sp>
        <p:nvSpPr>
          <p:cNvPr id="68" name="metric-value">
            <a:extLst>
              <a:ext uri="{FF2B5EF4-FFF2-40B4-BE49-F238E27FC236}">
                <a16:creationId xmlns:a16="http://schemas.microsoft.com/office/drawing/2014/main" id="{1C249B2F-4AC4-43C1-9282-892C28D2500E}"/>
              </a:ext>
            </a:extLst>
          </p:cNvPr>
          <p:cNvSpPr>
            <a:spLocks noGrp="1"/>
          </p:cNvSpPr>
          <p:nvPr/>
        </p:nvSpPr>
        <p:spPr>
          <a:xfrm>
            <a:off x="4686300" y="4210050"/>
            <a:ext cx="2800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2EC4B6"/>
                </a:solidFill>
                <a:latin typeface="Aptos"/>
                <a:ea typeface="Aptos"/>
                <a:cs typeface="Aptos"/>
              </a:defRPr>
            </a:pPr>
            <a:r>
              <a:rPr sz="1800" b="1">
                <a:solidFill>
                  <a:srgbClr val="2EC4B6"/>
                </a:solidFill>
                <a:latin typeface="Aptos"/>
                <a:ea typeface="Aptos"/>
                <a:cs typeface="Aptos"/>
              </a:rPr>
              <a:t>8ths + 16ths</a:t>
            </a:r>
          </a:p>
        </p:txBody>
      </p:sp>
      <p:sp>
        <p:nvSpPr>
          <p:cNvPr id="69" name="metric-label">
            <a:extLst>
              <a:ext uri="{FF2B5EF4-FFF2-40B4-BE49-F238E27FC236}">
                <a16:creationId xmlns:a16="http://schemas.microsoft.com/office/drawing/2014/main" id="{68C58096-B9D8-4E91-9E35-25F1EB273F38}"/>
              </a:ext>
            </a:extLst>
          </p:cNvPr>
          <p:cNvSpPr>
            <a:spLocks noGrp="1"/>
          </p:cNvSpPr>
          <p:nvPr/>
        </p:nvSpPr>
        <p:spPr>
          <a:xfrm>
            <a:off x="4686300" y="4591050"/>
            <a:ext cx="2800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rhythms dominate the dance-tune corpus</a:t>
            </a:r>
          </a:p>
        </p:txBody>
      </p:sp>
      <p:sp>
        <p:nvSpPr>
          <p:cNvPr id="70" name="Rectangle 69">
            <a:extLst>
              <a:ext uri="{FF2B5EF4-FFF2-40B4-BE49-F238E27FC236}">
                <a16:creationId xmlns:a16="http://schemas.microsoft.com/office/drawing/2014/main" id="{9511401F-C3F8-441F-BF96-39A0F629D264}"/>
              </a:ext>
            </a:extLst>
          </p:cNvPr>
          <p:cNvSpPr>
            <a:spLocks noGrp="1"/>
          </p:cNvSpPr>
          <p:nvPr/>
        </p:nvSpPr>
        <p:spPr>
          <a:xfrm>
            <a:off x="8191500" y="4095750"/>
            <a:ext cx="3143250" cy="876300"/>
          </a:xfrm>
          <a:prstGeom prst="rect">
            <a:avLst/>
          </a:prstGeom>
          <a:solidFill>
            <a:srgbClr val="27211D"/>
          </a:solidFill>
          <a:ln w="9525">
            <a:solidFill>
              <a:srgbClr val="FF5A5F"/>
            </a:solidFill>
            <a:prstDash val="solid"/>
          </a:ln>
        </p:spPr>
        <p:txBody>
          <a:bodyPr/>
          <a:lstStyle/>
          <a:p>
            <a:endParaRPr lang="en-US"/>
          </a:p>
        </p:txBody>
      </p:sp>
      <p:sp>
        <p:nvSpPr>
          <p:cNvPr id="71" name="metric-value">
            <a:extLst>
              <a:ext uri="{FF2B5EF4-FFF2-40B4-BE49-F238E27FC236}">
                <a16:creationId xmlns:a16="http://schemas.microsoft.com/office/drawing/2014/main" id="{161CD18D-78C2-43D1-A4F1-EA27FCA2D686}"/>
              </a:ext>
            </a:extLst>
          </p:cNvPr>
          <p:cNvSpPr>
            <a:spLocks noGrp="1"/>
          </p:cNvSpPr>
          <p:nvPr/>
        </p:nvSpPr>
        <p:spPr>
          <a:xfrm>
            <a:off x="8362950" y="4210050"/>
            <a:ext cx="2800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F5A5F"/>
                </a:solidFill>
                <a:latin typeface="Aptos"/>
                <a:ea typeface="Aptos"/>
                <a:cs typeface="Aptos"/>
              </a:defRPr>
            </a:pPr>
            <a:r>
              <a:rPr sz="1800" b="1">
                <a:solidFill>
                  <a:srgbClr val="FF5A5F"/>
                </a:solidFill>
                <a:latin typeface="Aptos"/>
                <a:ea typeface="Aptos"/>
                <a:cs typeface="Aptos"/>
              </a:rPr>
              <a:t>small but consistent</a:t>
            </a:r>
          </a:p>
        </p:txBody>
      </p:sp>
      <p:sp>
        <p:nvSpPr>
          <p:cNvPr id="72" name="metric-label">
            <a:extLst>
              <a:ext uri="{FF2B5EF4-FFF2-40B4-BE49-F238E27FC236}">
                <a16:creationId xmlns:a16="http://schemas.microsoft.com/office/drawing/2014/main" id="{FFD94CEE-474C-4758-A564-861013F11D9A}"/>
              </a:ext>
            </a:extLst>
          </p:cNvPr>
          <p:cNvSpPr>
            <a:spLocks noGrp="1"/>
          </p:cNvSpPr>
          <p:nvPr/>
        </p:nvSpPr>
        <p:spPr>
          <a:xfrm>
            <a:off x="8362950" y="4591050"/>
            <a:ext cx="2800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regularity lets lightweight models compete</a:t>
            </a:r>
          </a:p>
        </p:txBody>
      </p:sp>
      <p:sp>
        <p:nvSpPr>
          <p:cNvPr id="73" name="Rectangle 72">
            <a:extLst>
              <a:ext uri="{FF2B5EF4-FFF2-40B4-BE49-F238E27FC236}">
                <a16:creationId xmlns:a16="http://schemas.microsoft.com/office/drawing/2014/main" id="{44289565-E085-462A-8076-16A569F568C5}"/>
              </a:ext>
            </a:extLst>
          </p:cNvPr>
          <p:cNvSpPr>
            <a:spLocks noGrp="1"/>
          </p:cNvSpPr>
          <p:nvPr/>
        </p:nvSpPr>
        <p:spPr>
          <a:xfrm>
            <a:off x="971550" y="5295900"/>
            <a:ext cx="10287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4EFE7"/>
                </a:solidFill>
                <a:latin typeface="Aptos"/>
                <a:ea typeface="Aptos"/>
                <a:cs typeface="Aptos"/>
              </a:defRPr>
            </a:pPr>
            <a:r>
              <a:rPr sz="1800" b="1">
                <a:solidFill>
                  <a:srgbClr val="F4EFE7"/>
                </a:solidFill>
                <a:latin typeface="Aptos"/>
                <a:ea typeface="Aptos"/>
                <a:cs typeface="Aptos"/>
              </a:rPr>
              <a:t>Punchline: the model does not need to learn every possible musical style. It needs to learn a compact, key-relative folk style.</a:t>
            </a:r>
          </a:p>
        </p:txBody>
      </p:sp>
    </p:spTree>
    <p:extLst>
      <p:ext uri="{BB962C8B-B14F-4D97-AF65-F5344CB8AC3E}">
        <p14:creationId xmlns:p14="http://schemas.microsoft.com/office/powerpoint/2010/main" val="463309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F5225B71-70AB-441E-8CCA-07AA45CCB3B1}"/>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0BC7A9A2-009F-46CD-AF10-4FCBC0B1AD4E}"/>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FA5F32E-6CAC-4709-A278-C5169B149625}"/>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C8447005-F5F2-4DD4-90F2-E075841CE039}"/>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AF3EE59-8E7A-4B9A-91C6-E06D43B93EC0}"/>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67348B36-041C-4256-9BC6-F409E7155123}"/>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38725C59-39EB-412C-9828-ECF33CFD176A}"/>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3BE4513E-570E-478D-ABC0-0466D51195BF}"/>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1889CC39-5D7E-4A37-B21E-2CB3A7B9C187}"/>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17C0DC9B-253A-427F-9EF4-19A041DF773B}"/>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F30DA87C-8609-46EE-BD02-FDCE1E7A29EF}"/>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E50F34B9-918B-43AF-86F3-5166D0D45A39}"/>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55E33BA9-175F-4B99-8B41-C57827C0775E}"/>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B8ABAD63-0BCC-4446-801D-26AAEC478227}"/>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CBB32BF8-B21C-48A6-A904-BD3D8443C7E3}"/>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2F95B915-05F4-4474-B791-BB8CB6BB3A45}"/>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FEF8779-3676-4091-AE9C-5FFF4A0E5640}"/>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18FCCA9D-8B20-486C-9C8F-D431D7A0D687}"/>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BBA29F36-DF0C-459D-9D7C-30B386658889}"/>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436444A5-0B63-48B8-B784-CC6ABB91121B}"/>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B5C67D82-4ECD-4FDC-92AB-7F969F470FA8}"/>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C33C5CA1-72CD-4785-9B1C-D13D449D6276}"/>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F9A42C4A-99C0-4915-9399-924FF2FB5CDC}"/>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5A00928D-63B0-421B-AFEE-6BA56E56F253}"/>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57973052-76F4-4A09-8900-14A3FE4F1296}"/>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48A7D87E-9577-4B33-B980-0045E326A664}"/>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49118CBF-2F5E-4130-BADA-D0B0E848A86C}"/>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823C32C5-C93B-4C7D-9355-A21485DB93AC}"/>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F18A88B8-84F2-45C5-ACAF-F1DCB994950F}"/>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5BF95223-A2B8-4F0B-9630-74F5815FD009}"/>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9F553F1B-4815-4AD8-992C-B288CBA142FD}"/>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75462C7E-2133-4A66-A38F-D578EED44D45}"/>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1EA5841B-EF99-4F80-AA76-D0E966E5107B}"/>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8524A225-2BB9-4187-9591-4916AFC49A5A}"/>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CB08B89C-9333-4D50-8152-7ACEAFFFF8F7}"/>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45990313-F307-4138-843E-9546FFB84ABA}"/>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A1BE0EBE-39C9-4843-AA1E-72DBF6511335}"/>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3A8F4E20-5ADD-46D3-ABE8-D0BCF5DF66C1}"/>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1DA7E038-1D1F-43D1-B560-BC675B1C218A}"/>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62AF55B9-516D-40D5-834D-471FC69464B0}"/>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836C396D-C287-4373-83C4-D796D886DD7A}"/>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5CFAC3F9-6E32-43D1-A220-0987636C57B1}"/>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B8F6B78E-383E-49A2-9F77-7B713660D3A9}"/>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941BA4D3-62F0-4B31-BA9A-E09D5305C2C6}"/>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B5112560-2571-41C7-B86A-90B018353DF8}"/>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A7C321CA-6716-43DF-8A78-C73EC40CDD2B}"/>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BE745E5C-9111-4FC5-98C7-620649720539}"/>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8E6808DD-F8E0-468D-A61F-8139BED906DC}"/>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570D84F9-6C77-40D3-BC2A-E00EBBA249A8}"/>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546ACF81-845C-4E28-8D65-E8D6405C6AF6}"/>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30316A0D-2740-4DEB-AB95-EFF46E4E4008}"/>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E7F87919-6CA5-44C9-8344-CB7A2128E476}"/>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5A5F"/>
                </a:solidFill>
                <a:latin typeface="Aptos"/>
                <a:ea typeface="Aptos"/>
                <a:cs typeface="Aptos"/>
              </a:defRPr>
            </a:pPr>
            <a:r>
              <a:rPr sz="975" b="1">
                <a:solidFill>
                  <a:srgbClr val="FF5A5F"/>
                </a:solidFill>
                <a:latin typeface="Aptos"/>
                <a:ea typeface="Aptos"/>
                <a:cs typeface="Aptos"/>
              </a:rPr>
              <a:t>symbolic unconditioned generation</a:t>
            </a:r>
          </a:p>
        </p:txBody>
      </p:sp>
      <p:sp>
        <p:nvSpPr>
          <p:cNvPr id="53" name="slide-title">
            <a:extLst>
              <a:ext uri="{FF2B5EF4-FFF2-40B4-BE49-F238E27FC236}">
                <a16:creationId xmlns:a16="http://schemas.microsoft.com/office/drawing/2014/main" id="{E70A114F-8145-459E-8935-9A27A6CBBE00}"/>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Task 1 is language modeling over melody steps</a:t>
            </a:r>
          </a:p>
        </p:txBody>
      </p:sp>
      <p:sp>
        <p:nvSpPr>
          <p:cNvPr id="54" name="page-number">
            <a:extLst>
              <a:ext uri="{FF2B5EF4-FFF2-40B4-BE49-F238E27FC236}">
                <a16:creationId xmlns:a16="http://schemas.microsoft.com/office/drawing/2014/main" id="{4A9C189C-2953-44B3-8D96-223670F8F81C}"/>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5</a:t>
            </a:r>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10668000" y="400050"/>
            <a:ext cx="419100" cy="419100"/>
          </a:xfrm>
          <a:prstGeom prst="rect">
            <a:avLst/>
          </a:prstGeom>
        </p:spPr>
      </p:pic>
      <p:sp>
        <p:nvSpPr>
          <p:cNvPr id="56" name="Rectangle 55">
            <a:extLst>
              <a:ext uri="{FF2B5EF4-FFF2-40B4-BE49-F238E27FC236}">
                <a16:creationId xmlns:a16="http://schemas.microsoft.com/office/drawing/2014/main" id="{EECFAF28-0A8A-46D4-9600-CF5B92027E06}"/>
              </a:ext>
            </a:extLst>
          </p:cNvPr>
          <p:cNvSpPr>
            <a:spLocks noGrp="1"/>
          </p:cNvSpPr>
          <p:nvPr/>
        </p:nvSpPr>
        <p:spPr>
          <a:xfrm>
            <a:off x="704850" y="1485900"/>
            <a:ext cx="6191250" cy="2095500"/>
          </a:xfrm>
          <a:prstGeom prst="rect">
            <a:avLst/>
          </a:prstGeom>
          <a:solidFill>
            <a:srgbClr val="27211D"/>
          </a:solidFill>
          <a:ln w="9525">
            <a:solidFill>
              <a:srgbClr val="FF5A5F"/>
            </a:solidFill>
            <a:prstDash val="solid"/>
          </a:ln>
        </p:spPr>
        <p:txBody>
          <a:bodyPr/>
          <a:lstStyle/>
          <a:p>
            <a:endParaRPr lang="en-US"/>
          </a:p>
        </p:txBody>
      </p:sp>
      <p:sp>
        <p:nvSpPr>
          <p:cNvPr id="57" name="Rectangle 56">
            <a:extLst>
              <a:ext uri="{FF2B5EF4-FFF2-40B4-BE49-F238E27FC236}">
                <a16:creationId xmlns:a16="http://schemas.microsoft.com/office/drawing/2014/main" id="{BF1CDE70-894E-4D97-BA2E-9C860E8D6495}"/>
              </a:ext>
            </a:extLst>
          </p:cNvPr>
          <p:cNvSpPr>
            <a:spLocks noGrp="1"/>
          </p:cNvSpPr>
          <p:nvPr/>
        </p:nvSpPr>
        <p:spPr>
          <a:xfrm>
            <a:off x="1028700" y="1866900"/>
            <a:ext cx="56197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Mono"/>
                <a:ea typeface="Aptos Mono"/>
                <a:cs typeface="Aptos Mono"/>
              </a:defRPr>
            </a:pPr>
            <a:r>
              <a:rPr sz="2475" b="1">
                <a:solidFill>
                  <a:srgbClr val="F4EFE7"/>
                </a:solidFill>
                <a:latin typeface="Aptos Mono"/>
                <a:ea typeface="Aptos Mono"/>
                <a:cs typeface="Aptos Mono"/>
              </a:rPr>
              <a:t>p(x_1:T) = product_t p(x_t | x_&lt;t)</a:t>
            </a:r>
          </a:p>
        </p:txBody>
      </p:sp>
      <p:sp>
        <p:nvSpPr>
          <p:cNvPr id="58" name="Rectangle 57">
            <a:extLst>
              <a:ext uri="{FF2B5EF4-FFF2-40B4-BE49-F238E27FC236}">
                <a16:creationId xmlns:a16="http://schemas.microsoft.com/office/drawing/2014/main" id="{1937DABD-DA94-4BA7-9E0D-89BF993C3451}"/>
              </a:ext>
            </a:extLst>
          </p:cNvPr>
          <p:cNvSpPr>
            <a:spLocks noGrp="1"/>
          </p:cNvSpPr>
          <p:nvPr/>
        </p:nvSpPr>
        <p:spPr>
          <a:xfrm>
            <a:off x="1047750" y="2628900"/>
            <a:ext cx="5334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BFB6AA"/>
                </a:solidFill>
                <a:latin typeface="Aptos"/>
                <a:ea typeface="Aptos"/>
                <a:cs typeface="Aptos"/>
              </a:defRPr>
            </a:pPr>
            <a:r>
              <a:rPr sz="1650" b="0">
                <a:solidFill>
                  <a:srgbClr val="BFB6AA"/>
                </a:solidFill>
                <a:latin typeface="Aptos"/>
                <a:ea typeface="Aptos"/>
                <a:cs typeface="Aptos"/>
              </a:rPr>
              <a:t>Train with per-token negative log-likelihood; report perplexity = exp(NLL).</a:t>
            </a:r>
          </a:p>
        </p:txBody>
      </p:sp>
      <p:sp>
        <p:nvSpPr>
          <p:cNvPr id="59" name="Rectangle 58">
            <a:extLst>
              <a:ext uri="{FF2B5EF4-FFF2-40B4-BE49-F238E27FC236}">
                <a16:creationId xmlns:a16="http://schemas.microsoft.com/office/drawing/2014/main" id="{AD4B892F-1112-45E0-A062-C82D9F354F1C}"/>
              </a:ext>
            </a:extLst>
          </p:cNvPr>
          <p:cNvSpPr>
            <a:spLocks noGrp="1"/>
          </p:cNvSpPr>
          <p:nvPr/>
        </p:nvSpPr>
        <p:spPr>
          <a:xfrm>
            <a:off x="7429500" y="1485900"/>
            <a:ext cx="3810000" cy="2095500"/>
          </a:xfrm>
          <a:prstGeom prst="rect">
            <a:avLst/>
          </a:prstGeom>
          <a:solidFill>
            <a:srgbClr val="1E1A17"/>
          </a:solidFill>
          <a:ln w="9525">
            <a:solidFill>
              <a:srgbClr val="2EC4B6"/>
            </a:solidFill>
            <a:prstDash val="solid"/>
          </a:ln>
        </p:spPr>
        <p:txBody>
          <a:bodyPr/>
          <a:lstStyle/>
          <a:p>
            <a:endParaRPr lang="en-US"/>
          </a:p>
        </p:txBody>
      </p:sp>
      <p:sp>
        <p:nvSpPr>
          <p:cNvPr id="60" name="Rectangle 59">
            <a:extLst>
              <a:ext uri="{FF2B5EF4-FFF2-40B4-BE49-F238E27FC236}">
                <a16:creationId xmlns:a16="http://schemas.microsoft.com/office/drawing/2014/main" id="{92C7C343-EAC7-4F64-BCC0-5972B9A31543}"/>
              </a:ext>
            </a:extLst>
          </p:cNvPr>
          <p:cNvSpPr>
            <a:spLocks noGrp="1"/>
          </p:cNvSpPr>
          <p:nvPr/>
        </p:nvSpPr>
        <p:spPr>
          <a:xfrm>
            <a:off x="7734300" y="1828800"/>
            <a:ext cx="2952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EC4B6"/>
                </a:solidFill>
                <a:latin typeface="Aptos"/>
                <a:ea typeface="Aptos"/>
                <a:cs typeface="Aptos"/>
              </a:defRPr>
            </a:pPr>
            <a:r>
              <a:rPr sz="1350" b="1">
                <a:solidFill>
                  <a:srgbClr val="2EC4B6"/>
                </a:solidFill>
                <a:latin typeface="Aptos"/>
                <a:ea typeface="Aptos"/>
                <a:cs typeface="Aptos"/>
              </a:rPr>
              <a:t>Example token stream</a:t>
            </a:r>
          </a:p>
        </p:txBody>
      </p:sp>
      <p:sp>
        <p:nvSpPr>
          <p:cNvPr id="61" name="Rectangle 60">
            <a:extLst>
              <a:ext uri="{FF2B5EF4-FFF2-40B4-BE49-F238E27FC236}">
                <a16:creationId xmlns:a16="http://schemas.microsoft.com/office/drawing/2014/main" id="{EF863E30-014F-4A35-AA65-F9448F133A57}"/>
              </a:ext>
            </a:extLst>
          </p:cNvPr>
          <p:cNvSpPr>
            <a:spLocks noGrp="1"/>
          </p:cNvSpPr>
          <p:nvPr/>
        </p:nvSpPr>
        <p:spPr>
          <a:xfrm>
            <a:off x="7734300" y="2266950"/>
            <a:ext cx="2857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Mono"/>
                <a:ea typeface="Aptos Mono"/>
                <a:cs typeface="Aptos Mono"/>
              </a:defRPr>
            </a:pPr>
            <a:r>
              <a:rPr sz="1875" b="1">
                <a:solidFill>
                  <a:srgbClr val="F4EFE7"/>
                </a:solidFill>
                <a:latin typeface="Aptos Mono"/>
                <a:ea typeface="Aptos Mono"/>
                <a:cs typeface="Aptos Mono"/>
              </a:rPr>
              <a:t>BOS  REST  74  HOLD  76  77  HOLD  ...  EOS</a:t>
            </a:r>
          </a:p>
        </p:txBody>
      </p:sp>
      <p:sp>
        <p:nvSpPr>
          <p:cNvPr id="62" name="Rectangle 61">
            <a:extLst>
              <a:ext uri="{FF2B5EF4-FFF2-40B4-BE49-F238E27FC236}">
                <a16:creationId xmlns:a16="http://schemas.microsoft.com/office/drawing/2014/main" id="{0785436E-5678-4BC4-BEAD-9C24E6FB8670}"/>
              </a:ext>
            </a:extLst>
          </p:cNvPr>
          <p:cNvSpPr>
            <a:spLocks noGrp="1"/>
          </p:cNvSpPr>
          <p:nvPr/>
        </p:nvSpPr>
        <p:spPr>
          <a:xfrm>
            <a:off x="971550" y="4229100"/>
            <a:ext cx="2381250" cy="876300"/>
          </a:xfrm>
          <a:prstGeom prst="rect">
            <a:avLst/>
          </a:prstGeom>
          <a:solidFill>
            <a:srgbClr val="27211D"/>
          </a:solidFill>
          <a:ln w="9525">
            <a:solidFill>
              <a:srgbClr val="FFB000"/>
            </a:solidFill>
            <a:prstDash val="solid"/>
          </a:ln>
        </p:spPr>
        <p:txBody>
          <a:bodyPr/>
          <a:lstStyle/>
          <a:p>
            <a:endParaRPr lang="en-US"/>
          </a:p>
        </p:txBody>
      </p:sp>
      <p:sp>
        <p:nvSpPr>
          <p:cNvPr id="63" name="metric-value">
            <a:extLst>
              <a:ext uri="{FF2B5EF4-FFF2-40B4-BE49-F238E27FC236}">
                <a16:creationId xmlns:a16="http://schemas.microsoft.com/office/drawing/2014/main" id="{6774A809-71F5-4445-ADAD-D12B3D0E352F}"/>
              </a:ext>
            </a:extLst>
          </p:cNvPr>
          <p:cNvSpPr>
            <a:spLocks noGrp="1"/>
          </p:cNvSpPr>
          <p:nvPr/>
        </p:nvSpPr>
        <p:spPr>
          <a:xfrm>
            <a:off x="1143000" y="43434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B000"/>
                </a:solidFill>
                <a:latin typeface="Aptos"/>
                <a:ea typeface="Aptos"/>
                <a:cs typeface="Aptos"/>
              </a:defRPr>
            </a:pPr>
            <a:r>
              <a:rPr sz="2250" b="1">
                <a:solidFill>
                  <a:srgbClr val="FFB000"/>
                </a:solidFill>
                <a:latin typeface="Aptos"/>
                <a:ea typeface="Aptos"/>
                <a:cs typeface="Aptos"/>
              </a:rPr>
              <a:t>46</a:t>
            </a:r>
          </a:p>
        </p:txBody>
      </p:sp>
      <p:sp>
        <p:nvSpPr>
          <p:cNvPr id="64" name="metric-label">
            <a:extLst>
              <a:ext uri="{FF2B5EF4-FFF2-40B4-BE49-F238E27FC236}">
                <a16:creationId xmlns:a16="http://schemas.microsoft.com/office/drawing/2014/main" id="{F7CC02D4-20BE-47C1-BA60-9B7E1134A897}"/>
              </a:ext>
            </a:extLst>
          </p:cNvPr>
          <p:cNvSpPr>
            <a:spLocks noGrp="1"/>
          </p:cNvSpPr>
          <p:nvPr/>
        </p:nvSpPr>
        <p:spPr>
          <a:xfrm>
            <a:off x="1143000" y="47244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melody vocabulary tokens</a:t>
            </a:r>
          </a:p>
        </p:txBody>
      </p:sp>
      <p:sp>
        <p:nvSpPr>
          <p:cNvPr id="65" name="Rectangle 64">
            <a:extLst>
              <a:ext uri="{FF2B5EF4-FFF2-40B4-BE49-F238E27FC236}">
                <a16:creationId xmlns:a16="http://schemas.microsoft.com/office/drawing/2014/main" id="{4EBE6F8D-DD25-4477-8793-ED3E6FFD5659}"/>
              </a:ext>
            </a:extLst>
          </p:cNvPr>
          <p:cNvSpPr>
            <a:spLocks noGrp="1"/>
          </p:cNvSpPr>
          <p:nvPr/>
        </p:nvSpPr>
        <p:spPr>
          <a:xfrm>
            <a:off x="3676650" y="4229100"/>
            <a:ext cx="2381250" cy="876300"/>
          </a:xfrm>
          <a:prstGeom prst="rect">
            <a:avLst/>
          </a:prstGeom>
          <a:solidFill>
            <a:srgbClr val="27211D"/>
          </a:solidFill>
          <a:ln w="9525">
            <a:solidFill>
              <a:srgbClr val="FF5A5F"/>
            </a:solidFill>
            <a:prstDash val="solid"/>
          </a:ln>
        </p:spPr>
        <p:txBody>
          <a:bodyPr/>
          <a:lstStyle/>
          <a:p>
            <a:endParaRPr lang="en-US"/>
          </a:p>
        </p:txBody>
      </p:sp>
      <p:sp>
        <p:nvSpPr>
          <p:cNvPr id="66" name="metric-value">
            <a:extLst>
              <a:ext uri="{FF2B5EF4-FFF2-40B4-BE49-F238E27FC236}">
                <a16:creationId xmlns:a16="http://schemas.microsoft.com/office/drawing/2014/main" id="{27A6F702-9710-4F75-8EC9-68C5B19BCB95}"/>
              </a:ext>
            </a:extLst>
          </p:cNvPr>
          <p:cNvSpPr>
            <a:spLocks noGrp="1"/>
          </p:cNvSpPr>
          <p:nvPr/>
        </p:nvSpPr>
        <p:spPr>
          <a:xfrm>
            <a:off x="3848100" y="43434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5A5F"/>
                </a:solidFill>
                <a:latin typeface="Aptos"/>
                <a:ea typeface="Aptos"/>
                <a:cs typeface="Aptos"/>
              </a:defRPr>
            </a:pPr>
            <a:r>
              <a:rPr sz="2250" b="1">
                <a:solidFill>
                  <a:srgbClr val="FF5A5F"/>
                </a:solidFill>
                <a:latin typeface="Aptos"/>
                <a:ea typeface="Aptos"/>
                <a:cs typeface="Aptos"/>
              </a:rPr>
              <a:t>939K</a:t>
            </a:r>
          </a:p>
        </p:txBody>
      </p:sp>
      <p:sp>
        <p:nvSpPr>
          <p:cNvPr id="67" name="metric-label">
            <a:extLst>
              <a:ext uri="{FF2B5EF4-FFF2-40B4-BE49-F238E27FC236}">
                <a16:creationId xmlns:a16="http://schemas.microsoft.com/office/drawing/2014/main" id="{2F5F32CC-6EE7-4055-BD86-BF53BD75D210}"/>
              </a:ext>
            </a:extLst>
          </p:cNvPr>
          <p:cNvSpPr>
            <a:spLocks noGrp="1"/>
          </p:cNvSpPr>
          <p:nvPr/>
        </p:nvSpPr>
        <p:spPr>
          <a:xfrm>
            <a:off x="3848100" y="47244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LSTM parameters</a:t>
            </a:r>
          </a:p>
        </p:txBody>
      </p:sp>
      <p:sp>
        <p:nvSpPr>
          <p:cNvPr id="68" name="Rectangle 67">
            <a:extLst>
              <a:ext uri="{FF2B5EF4-FFF2-40B4-BE49-F238E27FC236}">
                <a16:creationId xmlns:a16="http://schemas.microsoft.com/office/drawing/2014/main" id="{FAEF8042-957C-49F9-8F98-DD4DF2940AB9}"/>
              </a:ext>
            </a:extLst>
          </p:cNvPr>
          <p:cNvSpPr>
            <a:spLocks noGrp="1"/>
          </p:cNvSpPr>
          <p:nvPr/>
        </p:nvSpPr>
        <p:spPr>
          <a:xfrm>
            <a:off x="6381750" y="4229100"/>
            <a:ext cx="2381250" cy="876300"/>
          </a:xfrm>
          <a:prstGeom prst="rect">
            <a:avLst/>
          </a:prstGeom>
          <a:solidFill>
            <a:srgbClr val="27211D"/>
          </a:solidFill>
          <a:ln w="9525">
            <a:solidFill>
              <a:srgbClr val="2EC4B6"/>
            </a:solidFill>
            <a:prstDash val="solid"/>
          </a:ln>
        </p:spPr>
        <p:txBody>
          <a:bodyPr/>
          <a:lstStyle/>
          <a:p>
            <a:endParaRPr lang="en-US"/>
          </a:p>
        </p:txBody>
      </p:sp>
      <p:sp>
        <p:nvSpPr>
          <p:cNvPr id="69" name="metric-value">
            <a:extLst>
              <a:ext uri="{FF2B5EF4-FFF2-40B4-BE49-F238E27FC236}">
                <a16:creationId xmlns:a16="http://schemas.microsoft.com/office/drawing/2014/main" id="{3BEB14BF-2FD8-436B-B232-26CE6A4A8B92}"/>
              </a:ext>
            </a:extLst>
          </p:cNvPr>
          <p:cNvSpPr>
            <a:spLocks noGrp="1"/>
          </p:cNvSpPr>
          <p:nvPr/>
        </p:nvSpPr>
        <p:spPr>
          <a:xfrm>
            <a:off x="6553200" y="43434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2EC4B6"/>
                </a:solidFill>
                <a:latin typeface="Aptos"/>
                <a:ea typeface="Aptos"/>
                <a:cs typeface="Aptos"/>
              </a:defRPr>
            </a:pPr>
            <a:r>
              <a:rPr sz="1950" b="1">
                <a:solidFill>
                  <a:srgbClr val="2EC4B6"/>
                </a:solidFill>
                <a:latin typeface="Aptos"/>
                <a:ea typeface="Aptos"/>
                <a:cs typeface="Aptos"/>
              </a:rPr>
              <a:t>temperature</a:t>
            </a:r>
          </a:p>
        </p:txBody>
      </p:sp>
      <p:sp>
        <p:nvSpPr>
          <p:cNvPr id="70" name="metric-label">
            <a:extLst>
              <a:ext uri="{FF2B5EF4-FFF2-40B4-BE49-F238E27FC236}">
                <a16:creationId xmlns:a16="http://schemas.microsoft.com/office/drawing/2014/main" id="{3E790A6B-174C-4952-9B7D-98B36D607A0A}"/>
              </a:ext>
            </a:extLst>
          </p:cNvPr>
          <p:cNvSpPr>
            <a:spLocks noGrp="1"/>
          </p:cNvSpPr>
          <p:nvPr/>
        </p:nvSpPr>
        <p:spPr>
          <a:xfrm>
            <a:off x="6553200" y="47244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sampling knob for generation</a:t>
            </a:r>
          </a:p>
        </p:txBody>
      </p:sp>
      <p:sp>
        <p:nvSpPr>
          <p:cNvPr id="71" name="Rectangle 70">
            <a:extLst>
              <a:ext uri="{FF2B5EF4-FFF2-40B4-BE49-F238E27FC236}">
                <a16:creationId xmlns:a16="http://schemas.microsoft.com/office/drawing/2014/main" id="{8C414E36-97FE-420B-BA0D-F04B1A4FA9AA}"/>
              </a:ext>
            </a:extLst>
          </p:cNvPr>
          <p:cNvSpPr>
            <a:spLocks noGrp="1"/>
          </p:cNvSpPr>
          <p:nvPr/>
        </p:nvSpPr>
        <p:spPr>
          <a:xfrm>
            <a:off x="9086850" y="4229100"/>
            <a:ext cx="2381250" cy="876300"/>
          </a:xfrm>
          <a:prstGeom prst="rect">
            <a:avLst/>
          </a:prstGeom>
          <a:solidFill>
            <a:srgbClr val="27211D"/>
          </a:solidFill>
          <a:ln w="9525">
            <a:solidFill>
              <a:srgbClr val="6AD58B"/>
            </a:solidFill>
            <a:prstDash val="solid"/>
          </a:ln>
        </p:spPr>
        <p:txBody>
          <a:bodyPr/>
          <a:lstStyle/>
          <a:p>
            <a:endParaRPr lang="en-US"/>
          </a:p>
        </p:txBody>
      </p:sp>
      <p:sp>
        <p:nvSpPr>
          <p:cNvPr id="72" name="metric-value">
            <a:extLst>
              <a:ext uri="{FF2B5EF4-FFF2-40B4-BE49-F238E27FC236}">
                <a16:creationId xmlns:a16="http://schemas.microsoft.com/office/drawing/2014/main" id="{9F2D470D-C74A-4C34-AEF0-5199262C708A}"/>
              </a:ext>
            </a:extLst>
          </p:cNvPr>
          <p:cNvSpPr>
            <a:spLocks noGrp="1"/>
          </p:cNvSpPr>
          <p:nvPr/>
        </p:nvSpPr>
        <p:spPr>
          <a:xfrm>
            <a:off x="9258300" y="43434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6AD58B"/>
                </a:solidFill>
                <a:latin typeface="Aptos"/>
                <a:ea typeface="Aptos"/>
                <a:cs typeface="Aptos"/>
              </a:defRPr>
            </a:pPr>
            <a:r>
              <a:rPr sz="1425" b="1">
                <a:solidFill>
                  <a:srgbClr val="6AD58B"/>
                </a:solidFill>
                <a:latin typeface="Aptos"/>
                <a:ea typeface="Aptos"/>
                <a:cs typeface="Aptos"/>
              </a:rPr>
              <a:t>symbolic_unconditioned.mid</a:t>
            </a:r>
          </a:p>
        </p:txBody>
      </p:sp>
      <p:sp>
        <p:nvSpPr>
          <p:cNvPr id="73" name="metric-label">
            <a:extLst>
              <a:ext uri="{FF2B5EF4-FFF2-40B4-BE49-F238E27FC236}">
                <a16:creationId xmlns:a16="http://schemas.microsoft.com/office/drawing/2014/main" id="{0B9357EF-9DA7-4020-A856-2A0CC496C99C}"/>
              </a:ext>
            </a:extLst>
          </p:cNvPr>
          <p:cNvSpPr>
            <a:spLocks noGrp="1"/>
          </p:cNvSpPr>
          <p:nvPr/>
        </p:nvSpPr>
        <p:spPr>
          <a:xfrm>
            <a:off x="9258300" y="47244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required output melody</a:t>
            </a:r>
          </a:p>
        </p:txBody>
      </p:sp>
    </p:spTree>
    <p:extLst>
      <p:ext uri="{BB962C8B-B14F-4D97-AF65-F5344CB8AC3E}">
        <p14:creationId xmlns:p14="http://schemas.microsoft.com/office/powerpoint/2010/main" val="2096000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A96900BD-E3E2-4EAB-8AEB-D3130B45FE00}"/>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86F1EDA7-E75C-4915-9BBB-40202ED23433}"/>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CF7FB3C-3F65-458B-9D11-0905CB7B21B6}"/>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E1D22CC8-86F9-481C-9311-EB1051DCE185}"/>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EA5E159F-11D1-46F8-9CB3-9FA0680D5962}"/>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06561DB4-BBEE-40FD-98EB-8B5DC4FD2706}"/>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04AA7F82-D4C8-41DB-BAB1-78F0CB695038}"/>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0DA3A184-13FB-412A-8275-82FE5303F6AB}"/>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F9A00493-72E5-447C-AFE7-CC1C5F0BFC00}"/>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AD6D92B4-F001-41AD-8492-36749B3FC487}"/>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DA4B906B-8810-4486-A2DA-080617017565}"/>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F1C2EC13-71E4-46EB-8A57-458477696812}"/>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403FB331-EB4D-4A40-A192-35C705AEB6A8}"/>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0CABAE16-19E2-4F20-A2CE-EC8E7C689460}"/>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2F65CD84-9098-49DE-A02E-C875C2293E04}"/>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DA615A3F-49A2-4656-BEF5-1F420066E621}"/>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DC8F3D93-2B74-4254-8D9C-3B4901D8A889}"/>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F2D9BC77-34A8-46B8-A987-CCADF4FEA175}"/>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4C6E954A-F36A-4BF0-9F50-CEC0623FDD31}"/>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C1AE8756-E7F1-4133-99E8-6A2D0F09E2DE}"/>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8574A5B6-6A04-4272-80C8-625952944271}"/>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5E0D38F5-7366-4067-9F93-7729E1CDD4E1}"/>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5729753D-48C3-4BF5-A69B-4F81C1699D20}"/>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95286DB4-CF99-44EF-9CC3-7C2941001D21}"/>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6B74C727-39A4-4366-9867-856C02412FF1}"/>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B5486B91-FB0D-41D3-B44B-BF117C330C7D}"/>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EC2EDF65-37C9-4EC2-BDE2-6EDDAEC0CB9B}"/>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A2EEDF5E-40E9-4203-8E6A-21F0B05B8A88}"/>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FFB47BF6-BCBC-4CBD-B8B8-7F25E0E660A8}"/>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81CB8AC7-7732-41CD-B964-4CAAD00766DA}"/>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D47668C2-120F-4307-83C7-CE07D34AFBB4}"/>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899A961B-63FB-43FC-8DD1-00AE59C1E716}"/>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C2497272-E067-4BF5-97DE-65B0C3360749}"/>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2758066E-B83C-435F-8524-C02CB42D1E48}"/>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6167EA84-6FE7-4E73-A007-325BB833B059}"/>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77979FFD-2608-474C-9F8F-6DD0FFBCF6C1}"/>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ED212BD3-5D48-4544-94EE-9500178E75CB}"/>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0A4F33BA-9C77-4165-ABFC-83C75800D52A}"/>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EDA3E975-C718-4554-96B7-43DDEE184490}"/>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49C13278-5D50-42B3-B5BD-7622860E1686}"/>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E9FCB6E6-44CF-40A0-9A5A-67BE5C7C3BAB}"/>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62D6875E-AE57-40AC-87C6-A4831A2B8DFC}"/>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019B584E-3B6F-4AE7-8677-34FFC42853F5}"/>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EAA56AAD-A697-402D-AE20-08A2135557F3}"/>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8F2D23C5-6FDB-41A3-B988-1504D8AA1B79}"/>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1E0515F1-6F00-4ACC-8E7C-BB2B7B1EF708}"/>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0F5364B0-8480-44C4-B9D2-291010030AB7}"/>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BD294835-2206-45A0-B70A-7A6D58FD9A23}"/>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4CC08770-5867-4678-A054-874ACE6C5951}"/>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0FEE00DE-A818-4DF9-889D-4FA99563A0C4}"/>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AA9D3027-7D7F-4C5A-9751-DBBE7E2A6DE7}"/>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F0C36F14-4964-47B9-9B2A-0B197BAA56CC}"/>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2EC4B6"/>
                </a:solidFill>
                <a:latin typeface="Aptos"/>
                <a:ea typeface="Aptos"/>
                <a:cs typeface="Aptos"/>
              </a:defRPr>
            </a:pPr>
            <a:r>
              <a:rPr sz="975" b="1">
                <a:solidFill>
                  <a:srgbClr val="2EC4B6"/>
                </a:solidFill>
                <a:latin typeface="Aptos"/>
                <a:ea typeface="Aptos"/>
                <a:cs typeface="Aptos"/>
              </a:rPr>
              <a:t>Task 1 model choice</a:t>
            </a:r>
          </a:p>
        </p:txBody>
      </p:sp>
      <p:sp>
        <p:nvSpPr>
          <p:cNvPr id="53" name="slide-title">
            <a:extLst>
              <a:ext uri="{FF2B5EF4-FFF2-40B4-BE49-F238E27FC236}">
                <a16:creationId xmlns:a16="http://schemas.microsoft.com/office/drawing/2014/main" id="{7493CE39-7B45-486A-BBFF-71B1CDF3CA64}"/>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The learned hidden state is the difference</a:t>
            </a:r>
          </a:p>
        </p:txBody>
      </p:sp>
      <p:sp>
        <p:nvSpPr>
          <p:cNvPr id="54" name="page-number">
            <a:extLst>
              <a:ext uri="{FF2B5EF4-FFF2-40B4-BE49-F238E27FC236}">
                <a16:creationId xmlns:a16="http://schemas.microsoft.com/office/drawing/2014/main" id="{4ACA9DF9-E21E-4F8E-99FF-E8A4A0A1132A}"/>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6</a:t>
            </a:r>
          </a:p>
        </p:txBody>
      </p:sp>
      <p:sp>
        <p:nvSpPr>
          <p:cNvPr id="55" name="Rectangle 54">
            <a:extLst>
              <a:ext uri="{FF2B5EF4-FFF2-40B4-BE49-F238E27FC236}">
                <a16:creationId xmlns:a16="http://schemas.microsoft.com/office/drawing/2014/main" id="{5173E3A2-D27B-42DF-A980-FFD9522D1FF9}"/>
              </a:ext>
            </a:extLst>
          </p:cNvPr>
          <p:cNvSpPr>
            <a:spLocks noGrp="1"/>
          </p:cNvSpPr>
          <p:nvPr/>
        </p:nvSpPr>
        <p:spPr>
          <a:xfrm>
            <a:off x="742950" y="1524000"/>
            <a:ext cx="4762500" cy="3429000"/>
          </a:xfrm>
          <a:prstGeom prst="rect">
            <a:avLst/>
          </a:prstGeom>
          <a:solidFill>
            <a:srgbClr val="27211D"/>
          </a:solidFill>
          <a:ln w="9525">
            <a:solidFill>
              <a:srgbClr val="FFB000"/>
            </a:solidFill>
            <a:prstDash val="solid"/>
          </a:ln>
        </p:spPr>
        <p:txBody>
          <a:bodyPr/>
          <a:lstStyle/>
          <a:p>
            <a:endParaRPr lang="en-US"/>
          </a:p>
        </p:txBody>
      </p:sp>
      <p:pic>
        <p:nvPicPr>
          <p:cNvPr id="56" name="Graphic 55"/>
          <p:cNvPicPr>
            <a:picLocks noChangeAspect="1"/>
          </p:cNvPicPr>
          <p:nvPr/>
        </p:nvPicPr>
        <p:blipFill>
          <a:blip>
            <a:extLst>
              <a:ext uri="{96DAC541-7B7A-43D3-8B79-37D633B846F1}">
                <asvg:svgBlip xmlns:asvg="http://schemas.microsoft.com/office/drawing/2016/SVG/main" r:embed="rId3"/>
              </a:ext>
            </a:extLst>
          </a:blip>
          <a:stretch/>
        </p:blipFill>
        <p:spPr>
          <a:xfrm>
            <a:off x="1047750" y="1847850"/>
            <a:ext cx="381000" cy="381000"/>
          </a:xfrm>
          <a:prstGeom prst="rect">
            <a:avLst/>
          </a:prstGeom>
        </p:spPr>
      </p:pic>
      <p:sp>
        <p:nvSpPr>
          <p:cNvPr id="57" name="Rectangle 56">
            <a:extLst>
              <a:ext uri="{FF2B5EF4-FFF2-40B4-BE49-F238E27FC236}">
                <a16:creationId xmlns:a16="http://schemas.microsoft.com/office/drawing/2014/main" id="{9535B53B-20F5-4F66-8F13-E972E7EEFDBD}"/>
              </a:ext>
            </a:extLst>
          </p:cNvPr>
          <p:cNvSpPr>
            <a:spLocks noGrp="1"/>
          </p:cNvSpPr>
          <p:nvPr/>
        </p:nvSpPr>
        <p:spPr>
          <a:xfrm>
            <a:off x="1600200" y="1866900"/>
            <a:ext cx="3143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Markov n-gram baseline</a:t>
            </a:r>
          </a:p>
        </p:txBody>
      </p:sp>
      <p:sp>
        <p:nvSpPr>
          <p:cNvPr id="58" name="Rectangle 57">
            <a:extLst>
              <a:ext uri="{FF2B5EF4-FFF2-40B4-BE49-F238E27FC236}">
                <a16:creationId xmlns:a16="http://schemas.microsoft.com/office/drawing/2014/main" id="{AEE8F80D-5606-4AF8-929B-F8FDE7B8F13D}"/>
              </a:ext>
            </a:extLst>
          </p:cNvPr>
          <p:cNvSpPr>
            <a:spLocks noGrp="1"/>
          </p:cNvSpPr>
          <p:nvPr/>
        </p:nvSpPr>
        <p:spPr>
          <a:xfrm>
            <a:off x="1104900" y="25527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59" name="Rectangle 58">
            <a:extLst>
              <a:ext uri="{FF2B5EF4-FFF2-40B4-BE49-F238E27FC236}">
                <a16:creationId xmlns:a16="http://schemas.microsoft.com/office/drawing/2014/main" id="{9FF017A6-A178-455C-9057-0630018B3445}"/>
              </a:ext>
            </a:extLst>
          </p:cNvPr>
          <p:cNvSpPr>
            <a:spLocks noGrp="1"/>
          </p:cNvSpPr>
          <p:nvPr/>
        </p:nvSpPr>
        <p:spPr>
          <a:xfrm>
            <a:off x="1314450" y="24765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Transparent transition counts</a:t>
            </a:r>
          </a:p>
        </p:txBody>
      </p:sp>
      <p:sp>
        <p:nvSpPr>
          <p:cNvPr id="60" name="Rectangle 59">
            <a:extLst>
              <a:ext uri="{FF2B5EF4-FFF2-40B4-BE49-F238E27FC236}">
                <a16:creationId xmlns:a16="http://schemas.microsoft.com/office/drawing/2014/main" id="{F39ED99F-5FAA-4D44-AACB-50EDBF2EB5DA}"/>
              </a:ext>
            </a:extLst>
          </p:cNvPr>
          <p:cNvSpPr>
            <a:spLocks noGrp="1"/>
          </p:cNvSpPr>
          <p:nvPr/>
        </p:nvSpPr>
        <p:spPr>
          <a:xfrm>
            <a:off x="1104900" y="30099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E5A94390-7C0D-488D-ACCB-A906CDEED3E6}"/>
              </a:ext>
            </a:extLst>
          </p:cNvPr>
          <p:cNvSpPr>
            <a:spLocks noGrp="1"/>
          </p:cNvSpPr>
          <p:nvPr/>
        </p:nvSpPr>
        <p:spPr>
          <a:xfrm>
            <a:off x="1314450" y="29337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Order-n context only</a:t>
            </a:r>
          </a:p>
        </p:txBody>
      </p:sp>
      <p:sp>
        <p:nvSpPr>
          <p:cNvPr id="62" name="Rectangle 61">
            <a:extLst>
              <a:ext uri="{FF2B5EF4-FFF2-40B4-BE49-F238E27FC236}">
                <a16:creationId xmlns:a16="http://schemas.microsoft.com/office/drawing/2014/main" id="{1990B10E-5A4E-4BB5-8D28-E74AE9BB1BA1}"/>
              </a:ext>
            </a:extLst>
          </p:cNvPr>
          <p:cNvSpPr>
            <a:spLocks noGrp="1"/>
          </p:cNvSpPr>
          <p:nvPr/>
        </p:nvSpPr>
        <p:spPr>
          <a:xfrm>
            <a:off x="1104900" y="34671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3" name="Rectangle 62">
            <a:extLst>
              <a:ext uri="{FF2B5EF4-FFF2-40B4-BE49-F238E27FC236}">
                <a16:creationId xmlns:a16="http://schemas.microsoft.com/office/drawing/2014/main" id="{1EDA1C05-DAE8-467B-A4FA-0883CBABEBB5}"/>
              </a:ext>
            </a:extLst>
          </p:cNvPr>
          <p:cNvSpPr>
            <a:spLocks noGrp="1"/>
          </p:cNvSpPr>
          <p:nvPr/>
        </p:nvSpPr>
        <p:spPr>
          <a:xfrm>
            <a:off x="1314450" y="33909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Tables get sparse as n grows</a:t>
            </a:r>
          </a:p>
        </p:txBody>
      </p:sp>
      <p:sp>
        <p:nvSpPr>
          <p:cNvPr id="64" name="Rectangle 63">
            <a:extLst>
              <a:ext uri="{FF2B5EF4-FFF2-40B4-BE49-F238E27FC236}">
                <a16:creationId xmlns:a16="http://schemas.microsoft.com/office/drawing/2014/main" id="{4B555817-E302-444C-B9A5-E3D72D29E995}"/>
              </a:ext>
            </a:extLst>
          </p:cNvPr>
          <p:cNvSpPr>
            <a:spLocks noGrp="1"/>
          </p:cNvSpPr>
          <p:nvPr/>
        </p:nvSpPr>
        <p:spPr>
          <a:xfrm>
            <a:off x="1104900" y="392430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5" name="Rectangle 64">
            <a:extLst>
              <a:ext uri="{FF2B5EF4-FFF2-40B4-BE49-F238E27FC236}">
                <a16:creationId xmlns:a16="http://schemas.microsoft.com/office/drawing/2014/main" id="{3B875EDD-2B73-4D79-88B9-2E1CBB5E8AEB}"/>
              </a:ext>
            </a:extLst>
          </p:cNvPr>
          <p:cNvSpPr>
            <a:spLocks noGrp="1"/>
          </p:cNvSpPr>
          <p:nvPr/>
        </p:nvSpPr>
        <p:spPr>
          <a:xfrm>
            <a:off x="1314450" y="38481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Good baseline, weak phrase memory</a:t>
            </a:r>
          </a:p>
        </p:txBody>
      </p:sp>
      <p:sp>
        <p:nvSpPr>
          <p:cNvPr id="66" name="Rectangle 65">
            <a:extLst>
              <a:ext uri="{FF2B5EF4-FFF2-40B4-BE49-F238E27FC236}">
                <a16:creationId xmlns:a16="http://schemas.microsoft.com/office/drawing/2014/main" id="{DD749BB6-C504-4A21-B7A2-5D1F4F53938B}"/>
              </a:ext>
            </a:extLst>
          </p:cNvPr>
          <p:cNvSpPr>
            <a:spLocks noGrp="1"/>
          </p:cNvSpPr>
          <p:nvPr/>
        </p:nvSpPr>
        <p:spPr>
          <a:xfrm>
            <a:off x="6686550" y="1524000"/>
            <a:ext cx="4762500" cy="3429000"/>
          </a:xfrm>
          <a:prstGeom prst="rect">
            <a:avLst/>
          </a:prstGeom>
          <a:solidFill>
            <a:srgbClr val="27211D"/>
          </a:solidFill>
          <a:ln w="9525">
            <a:solidFill>
              <a:srgbClr val="2EC4B6"/>
            </a:solidFill>
            <a:prstDash val="solid"/>
          </a:ln>
        </p:spPr>
        <p:txBody>
          <a:bodyPr/>
          <a:lstStyle/>
          <a:p>
            <a:endParaRPr lang="en-US"/>
          </a:p>
        </p:txBody>
      </p:sp>
      <p:pic>
        <p:nvPicPr>
          <p:cNvPr id="67" name="Graphic 66"/>
          <p:cNvPicPr>
            <a:picLocks noChangeAspect="1"/>
          </p:cNvPicPr>
          <p:nvPr/>
        </p:nvPicPr>
        <p:blipFill>
          <a:blip>
            <a:extLst>
              <a:ext uri="{96DAC541-7B7A-43D3-8B79-37D633B846F1}">
                <asvg:svgBlip xmlns:asvg="http://schemas.microsoft.com/office/drawing/2016/SVG/main" r:embed="rId4"/>
              </a:ext>
            </a:extLst>
          </a:blip>
          <a:stretch/>
        </p:blipFill>
        <p:spPr>
          <a:xfrm>
            <a:off x="6991350" y="1847850"/>
            <a:ext cx="381000" cy="381000"/>
          </a:xfrm>
          <a:prstGeom prst="rect">
            <a:avLst/>
          </a:prstGeom>
        </p:spPr>
      </p:pic>
      <p:sp>
        <p:nvSpPr>
          <p:cNvPr id="68" name="Rectangle 67">
            <a:extLst>
              <a:ext uri="{FF2B5EF4-FFF2-40B4-BE49-F238E27FC236}">
                <a16:creationId xmlns:a16="http://schemas.microsoft.com/office/drawing/2014/main" id="{F907B080-6C48-4592-B3BE-063CFBD174A7}"/>
              </a:ext>
            </a:extLst>
          </p:cNvPr>
          <p:cNvSpPr>
            <a:spLocks noGrp="1"/>
          </p:cNvSpPr>
          <p:nvPr/>
        </p:nvSpPr>
        <p:spPr>
          <a:xfrm>
            <a:off x="7543800" y="1866900"/>
            <a:ext cx="3333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2-layer LSTM language model</a:t>
            </a:r>
          </a:p>
        </p:txBody>
      </p:sp>
      <p:sp>
        <p:nvSpPr>
          <p:cNvPr id="69" name="Rectangle 68">
            <a:extLst>
              <a:ext uri="{FF2B5EF4-FFF2-40B4-BE49-F238E27FC236}">
                <a16:creationId xmlns:a16="http://schemas.microsoft.com/office/drawing/2014/main" id="{55560D69-BA48-4671-BD9A-3EC8EF95EA69}"/>
              </a:ext>
            </a:extLst>
          </p:cNvPr>
          <p:cNvSpPr>
            <a:spLocks noGrp="1"/>
          </p:cNvSpPr>
          <p:nvPr/>
        </p:nvSpPr>
        <p:spPr>
          <a:xfrm>
            <a:off x="7048500" y="2552700"/>
            <a:ext cx="76200" cy="76200"/>
          </a:xfrm>
          <a:prstGeom prst="rect">
            <a:avLst/>
          </a:prstGeom>
          <a:solidFill>
            <a:srgbClr val="2EC4B6"/>
          </a:solidFill>
          <a:ln w="0">
            <a:solidFill>
              <a:srgbClr val="000000">
                <a:alpha val="0"/>
              </a:srgbClr>
            </a:solidFill>
            <a:prstDash val="solid"/>
          </a:ln>
        </p:spPr>
        <p:txBody>
          <a:bodyPr/>
          <a:lstStyle/>
          <a:p>
            <a:endParaRPr lang="en-US"/>
          </a:p>
        </p:txBody>
      </p:sp>
      <p:sp>
        <p:nvSpPr>
          <p:cNvPr id="70" name="Rectangle 69">
            <a:extLst>
              <a:ext uri="{FF2B5EF4-FFF2-40B4-BE49-F238E27FC236}">
                <a16:creationId xmlns:a16="http://schemas.microsoft.com/office/drawing/2014/main" id="{ACB06B05-8DD6-4DE6-96BF-8D2E4A7D239F}"/>
              </a:ext>
            </a:extLst>
          </p:cNvPr>
          <p:cNvSpPr>
            <a:spLocks noGrp="1"/>
          </p:cNvSpPr>
          <p:nvPr/>
        </p:nvSpPr>
        <p:spPr>
          <a:xfrm>
            <a:off x="7258050" y="24765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Embedding -&gt; LSTM -&gt; token head</a:t>
            </a:r>
          </a:p>
        </p:txBody>
      </p:sp>
      <p:sp>
        <p:nvSpPr>
          <p:cNvPr id="71" name="Rectangle 70">
            <a:extLst>
              <a:ext uri="{FF2B5EF4-FFF2-40B4-BE49-F238E27FC236}">
                <a16:creationId xmlns:a16="http://schemas.microsoft.com/office/drawing/2014/main" id="{9EF5254A-2300-4934-B341-A6889E290629}"/>
              </a:ext>
            </a:extLst>
          </p:cNvPr>
          <p:cNvSpPr>
            <a:spLocks noGrp="1"/>
          </p:cNvSpPr>
          <p:nvPr/>
        </p:nvSpPr>
        <p:spPr>
          <a:xfrm>
            <a:off x="7048500" y="3009900"/>
            <a:ext cx="76200" cy="76200"/>
          </a:xfrm>
          <a:prstGeom prst="rect">
            <a:avLst/>
          </a:prstGeom>
          <a:solidFill>
            <a:srgbClr val="2EC4B6"/>
          </a:solidFill>
          <a:ln w="0">
            <a:solidFill>
              <a:srgbClr val="000000">
                <a:alpha val="0"/>
              </a:srgbClr>
            </a:solidFill>
            <a:prstDash val="solid"/>
          </a:ln>
        </p:spPr>
        <p:txBody>
          <a:bodyPr/>
          <a:lstStyle/>
          <a:p>
            <a:endParaRPr lang="en-US"/>
          </a:p>
        </p:txBody>
      </p:sp>
      <p:sp>
        <p:nvSpPr>
          <p:cNvPr id="72" name="Rectangle 71">
            <a:extLst>
              <a:ext uri="{FF2B5EF4-FFF2-40B4-BE49-F238E27FC236}">
                <a16:creationId xmlns:a16="http://schemas.microsoft.com/office/drawing/2014/main" id="{92FE6645-B188-4D9F-9C13-865F8096E643}"/>
              </a:ext>
            </a:extLst>
          </p:cNvPr>
          <p:cNvSpPr>
            <a:spLocks noGrp="1"/>
          </p:cNvSpPr>
          <p:nvPr/>
        </p:nvSpPr>
        <p:spPr>
          <a:xfrm>
            <a:off x="7258050" y="29337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Hidden state carries phrase context</a:t>
            </a:r>
          </a:p>
        </p:txBody>
      </p:sp>
      <p:sp>
        <p:nvSpPr>
          <p:cNvPr id="73" name="Rectangle 72">
            <a:extLst>
              <a:ext uri="{FF2B5EF4-FFF2-40B4-BE49-F238E27FC236}">
                <a16:creationId xmlns:a16="http://schemas.microsoft.com/office/drawing/2014/main" id="{D132C69C-32C1-47B3-9BB9-FFA9481EE927}"/>
              </a:ext>
            </a:extLst>
          </p:cNvPr>
          <p:cNvSpPr>
            <a:spLocks noGrp="1"/>
          </p:cNvSpPr>
          <p:nvPr/>
        </p:nvSpPr>
        <p:spPr>
          <a:xfrm>
            <a:off x="7048500" y="3467100"/>
            <a:ext cx="76200" cy="76200"/>
          </a:xfrm>
          <a:prstGeom prst="rect">
            <a:avLst/>
          </a:prstGeom>
          <a:solidFill>
            <a:srgbClr val="2EC4B6"/>
          </a:solidFill>
          <a:ln w="0">
            <a:solidFill>
              <a:srgbClr val="000000">
                <a:alpha val="0"/>
              </a:srgbClr>
            </a:solidFill>
            <a:prstDash val="solid"/>
          </a:ln>
        </p:spPr>
        <p:txBody>
          <a:bodyPr/>
          <a:lstStyle/>
          <a:p>
            <a:endParaRPr lang="en-US"/>
          </a:p>
        </p:txBody>
      </p:sp>
      <p:sp>
        <p:nvSpPr>
          <p:cNvPr id="74" name="Rectangle 73">
            <a:extLst>
              <a:ext uri="{FF2B5EF4-FFF2-40B4-BE49-F238E27FC236}">
                <a16:creationId xmlns:a16="http://schemas.microsoft.com/office/drawing/2014/main" id="{C7F8E06D-0E6C-41BD-B77E-A88F289DE849}"/>
              </a:ext>
            </a:extLst>
          </p:cNvPr>
          <p:cNvSpPr>
            <a:spLocks noGrp="1"/>
          </p:cNvSpPr>
          <p:nvPr/>
        </p:nvSpPr>
        <p:spPr>
          <a:xfrm>
            <a:off x="7258050" y="33909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Captures cadences and repetition</a:t>
            </a:r>
          </a:p>
        </p:txBody>
      </p:sp>
      <p:sp>
        <p:nvSpPr>
          <p:cNvPr id="75" name="Rectangle 74">
            <a:extLst>
              <a:ext uri="{FF2B5EF4-FFF2-40B4-BE49-F238E27FC236}">
                <a16:creationId xmlns:a16="http://schemas.microsoft.com/office/drawing/2014/main" id="{F58DEC88-671A-4638-A0EF-918CE79C9885}"/>
              </a:ext>
            </a:extLst>
          </p:cNvPr>
          <p:cNvSpPr>
            <a:spLocks noGrp="1"/>
          </p:cNvSpPr>
          <p:nvPr/>
        </p:nvSpPr>
        <p:spPr>
          <a:xfrm>
            <a:off x="7048500" y="3924300"/>
            <a:ext cx="76200" cy="76200"/>
          </a:xfrm>
          <a:prstGeom prst="rect">
            <a:avLst/>
          </a:prstGeom>
          <a:solidFill>
            <a:srgbClr val="2EC4B6"/>
          </a:solidFill>
          <a:ln w="0">
            <a:solidFill>
              <a:srgbClr val="000000">
                <a:alpha val="0"/>
              </a:srgbClr>
            </a:solidFill>
            <a:prstDash val="solid"/>
          </a:ln>
        </p:spPr>
        <p:txBody>
          <a:bodyPr/>
          <a:lstStyle/>
          <a:p>
            <a:endParaRPr lang="en-US"/>
          </a:p>
        </p:txBody>
      </p:sp>
      <p:sp>
        <p:nvSpPr>
          <p:cNvPr id="76" name="Rectangle 75">
            <a:extLst>
              <a:ext uri="{FF2B5EF4-FFF2-40B4-BE49-F238E27FC236}">
                <a16:creationId xmlns:a16="http://schemas.microsoft.com/office/drawing/2014/main" id="{34BD7DB2-D8CF-46EE-B23E-F6061D756DD5}"/>
              </a:ext>
            </a:extLst>
          </p:cNvPr>
          <p:cNvSpPr>
            <a:spLocks noGrp="1"/>
          </p:cNvSpPr>
          <p:nvPr/>
        </p:nvSpPr>
        <p:spPr>
          <a:xfrm>
            <a:off x="7258050" y="3848100"/>
            <a:ext cx="35052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Less interpretable, but more musical</a:t>
            </a:r>
          </a:p>
        </p:txBody>
      </p:sp>
      <p:sp>
        <p:nvSpPr>
          <p:cNvPr id="77" name="Rectangle 76">
            <a:extLst>
              <a:ext uri="{FF2B5EF4-FFF2-40B4-BE49-F238E27FC236}">
                <a16:creationId xmlns:a16="http://schemas.microsoft.com/office/drawing/2014/main" id="{C85A6CA9-7F37-464E-81A7-20D90D3799FC}"/>
              </a:ext>
            </a:extLst>
          </p:cNvPr>
          <p:cNvSpPr>
            <a:spLocks noGrp="1"/>
          </p:cNvSpPr>
          <p:nvPr/>
        </p:nvSpPr>
        <p:spPr>
          <a:xfrm>
            <a:off x="5572125" y="3219450"/>
            <a:ext cx="1000125" cy="19050"/>
          </a:xfrm>
          <a:prstGeom prst="rect">
            <a:avLst/>
          </a:prstGeom>
          <a:solidFill>
            <a:srgbClr val="FF5A5F"/>
          </a:solidFill>
          <a:ln w="0">
            <a:solidFill>
              <a:srgbClr val="000000">
                <a:alpha val="0"/>
              </a:srgbClr>
            </a:solidFill>
            <a:prstDash val="solid"/>
          </a:ln>
        </p:spPr>
        <p:txBody>
          <a:bodyPr/>
          <a:lstStyle/>
          <a:p>
            <a:endParaRPr lang="en-US"/>
          </a:p>
        </p:txBody>
      </p:sp>
      <p:sp>
        <p:nvSpPr>
          <p:cNvPr id="78" name="Rectangle 77">
            <a:extLst>
              <a:ext uri="{FF2B5EF4-FFF2-40B4-BE49-F238E27FC236}">
                <a16:creationId xmlns:a16="http://schemas.microsoft.com/office/drawing/2014/main" id="{F83C4ECE-61FB-4CAD-BE4A-FC0FEB74BB91}"/>
              </a:ext>
            </a:extLst>
          </p:cNvPr>
          <p:cNvSpPr>
            <a:spLocks noGrp="1"/>
          </p:cNvSpPr>
          <p:nvPr/>
        </p:nvSpPr>
        <p:spPr>
          <a:xfrm>
            <a:off x="6496050" y="3171825"/>
            <a:ext cx="95250" cy="114300"/>
          </a:xfrm>
          <a:prstGeom prst="rect">
            <a:avLst/>
          </a:prstGeom>
          <a:solidFill>
            <a:srgbClr val="FF5A5F"/>
          </a:solidFill>
          <a:ln w="0">
            <a:solidFill>
              <a:srgbClr val="000000">
                <a:alpha val="0"/>
              </a:srgbClr>
            </a:solidFill>
            <a:prstDash val="solid"/>
          </a:ln>
        </p:spPr>
        <p:txBody>
          <a:bodyPr/>
          <a:lstStyle/>
          <a:p>
            <a:endParaRPr lang="en-US"/>
          </a:p>
        </p:txBody>
      </p:sp>
      <p:sp>
        <p:nvSpPr>
          <p:cNvPr id="79" name="Rectangle 78">
            <a:extLst>
              <a:ext uri="{FF2B5EF4-FFF2-40B4-BE49-F238E27FC236}">
                <a16:creationId xmlns:a16="http://schemas.microsoft.com/office/drawing/2014/main" id="{C9CE6CAE-B181-4925-A630-268F30714EC5}"/>
              </a:ext>
            </a:extLst>
          </p:cNvPr>
          <p:cNvSpPr>
            <a:spLocks noGrp="1"/>
          </p:cNvSpPr>
          <p:nvPr/>
        </p:nvSpPr>
        <p:spPr>
          <a:xfrm>
            <a:off x="5638800" y="285750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5A5F"/>
                </a:solidFill>
                <a:latin typeface="Aptos"/>
                <a:ea typeface="Aptos"/>
                <a:cs typeface="Aptos"/>
              </a:defRPr>
            </a:pPr>
            <a:r>
              <a:rPr sz="1125" b="1">
                <a:solidFill>
                  <a:srgbClr val="FF5A5F"/>
                </a:solidFill>
                <a:latin typeface="Aptos"/>
                <a:ea typeface="Aptos"/>
                <a:cs typeface="Aptos"/>
              </a:rPr>
              <a:t>baseline to beat</a:t>
            </a:r>
          </a:p>
        </p:txBody>
      </p:sp>
      <p:sp>
        <p:nvSpPr>
          <p:cNvPr id="80" name="Rectangle 79">
            <a:extLst>
              <a:ext uri="{FF2B5EF4-FFF2-40B4-BE49-F238E27FC236}">
                <a16:creationId xmlns:a16="http://schemas.microsoft.com/office/drawing/2014/main" id="{4F38D98E-098F-4E2C-8E42-9BCF1A962355}"/>
              </a:ext>
            </a:extLst>
          </p:cNvPr>
          <p:cNvSpPr>
            <a:spLocks noGrp="1"/>
          </p:cNvSpPr>
          <p:nvPr/>
        </p:nvSpPr>
        <p:spPr>
          <a:xfrm>
            <a:off x="1390650" y="5124450"/>
            <a:ext cx="94297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F4EFE7"/>
                </a:solidFill>
                <a:latin typeface="Aptos"/>
                <a:ea typeface="Aptos"/>
                <a:cs typeface="Aptos"/>
              </a:defRPr>
            </a:pPr>
            <a:r>
              <a:rPr sz="1725" b="1">
                <a:solidFill>
                  <a:srgbClr val="F4EFE7"/>
                </a:solidFill>
                <a:latin typeface="Aptos"/>
                <a:ea typeface="Aptos"/>
                <a:cs typeface="Aptos"/>
              </a:rPr>
              <a:t>Assignment logic: keep the baseline simple and honest, then show that the learned sequence model adds long-range structure.</a:t>
            </a:r>
          </a:p>
        </p:txBody>
      </p:sp>
    </p:spTree>
    <p:extLst>
      <p:ext uri="{BB962C8B-B14F-4D97-AF65-F5344CB8AC3E}">
        <p14:creationId xmlns:p14="http://schemas.microsoft.com/office/powerpoint/2010/main" val="181152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1F86EB9F-26AF-4A9A-B4A1-4D189514F9EA}"/>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CBF2810-BF95-4D80-AC34-7B3162911647}"/>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B61821B-2BD5-46F7-BB3E-08A097C9C223}"/>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854B0F54-5CD1-4FEA-927B-FE7F0D74F801}"/>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24E3411-C1ED-4820-BCDE-43C9EC8F5C64}"/>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B390C6E-649A-4A3E-8000-DEFA4B0BA51D}"/>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F0500185-9BF5-4CDE-9DD1-A362B25722D2}"/>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D412DC3F-D932-4EDD-81AA-9E36733F48CF}"/>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7248AE06-CF28-49B2-8B36-CFB5B9CB6BB6}"/>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9E38654-DFFD-44A6-9755-C655A9BE6908}"/>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4DD35AC3-F69A-450C-9709-6579FC3B5D12}"/>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74087B59-A69E-43AE-9992-1E447D2C6904}"/>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2A79C5D6-FA75-4C45-B427-AD9E6EDE9E0F}"/>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DAD1917B-923C-456B-9B3C-28BCDBF7E2AB}"/>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3841278A-0C13-48BD-8C46-77C0F16DAA12}"/>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F1F19EB4-8F2C-4F2F-8341-D0CEC370EB49}"/>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AED52542-353C-4227-8A69-E2BE3A56B1B0}"/>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C5C38641-0510-4CCF-885B-8BEB47D54F8E}"/>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F144FA2E-30F8-43F1-9A40-EA9A18AA26F1}"/>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8D92973E-2AF4-473E-B111-8355C816244F}"/>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40762FEA-ECEE-44DA-9798-0F54010F8B87}"/>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87AA9CAE-ABC3-496F-BE01-A7657BAB2FDD}"/>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C89D27DC-40D4-48F6-963C-3B9DEEA4B88F}"/>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ACF96CE4-36C9-40A7-B9F2-6FF196140C28}"/>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1D568D6F-0727-48BB-A8B9-633E799872F4}"/>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54097825-CAAF-4CE0-AD58-46F9B929B2F6}"/>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65280C59-4F18-41E8-93B4-DD3653B5CE62}"/>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6A79E00B-35B6-47A7-A95C-EC1F6B923A5E}"/>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DE2F1EE9-1A4A-49F9-808F-34E8F7DB080C}"/>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3BD271C7-C29C-44CD-829D-C718DF8C8FDC}"/>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068336F5-BB44-4743-9AB8-D2E86C9D8E71}"/>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605AC567-733C-4CD4-8568-A9EA5EB4B6FF}"/>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4D91A522-AE6F-4F03-9B48-AF43C12CC86F}"/>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00FE882A-E255-48D7-8BC4-B1C27E039E47}"/>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BE0AAB1E-8633-4324-B1E6-0BC9572468CA}"/>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95E8B92D-4100-4346-90E7-94D212E559CA}"/>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CB92951D-4D88-4B6C-B237-D1FC22419748}"/>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267A6095-A518-4B58-8B83-CBC382545194}"/>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56B16AA8-21D8-4437-AF43-A928D92B725F}"/>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6A75F119-4331-448B-8127-B74DAB1B77F8}"/>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C46D7A80-1E77-4B34-A732-790CA250DEE0}"/>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27909BC8-B3F9-48D2-B977-A754F3B44190}"/>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7F6A9A29-FC6F-458F-B341-CDF1327CC768}"/>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9DAFDD02-E297-459F-8345-33AA7EA15AB4}"/>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7B17A636-9506-4ADD-AEDD-1344F0220065}"/>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DB2E157A-D11D-438A-BC5D-0B954B8F319B}"/>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37B98C29-8A39-4706-8530-495DBEBA87FE}"/>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C5EDD707-D391-4935-A9CC-D422EB97189C}"/>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AC9EB883-7A3A-4954-BA29-C6F2363E455B}"/>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B45A76D2-3270-4F18-8729-3E56ED8AE2FA}"/>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8749A77E-2173-44D4-9C7C-FA2F77AB18F3}"/>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58EC23D9-9235-4F03-A9D4-79B590B1D0CE}"/>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5A5F"/>
                </a:solidFill>
                <a:latin typeface="Aptos"/>
                <a:ea typeface="Aptos"/>
                <a:cs typeface="Aptos"/>
              </a:defRPr>
            </a:pPr>
            <a:r>
              <a:rPr sz="975" b="1">
                <a:solidFill>
                  <a:srgbClr val="FF5A5F"/>
                </a:solidFill>
                <a:latin typeface="Aptos"/>
                <a:ea typeface="Aptos"/>
                <a:cs typeface="Aptos"/>
              </a:rPr>
              <a:t>Task 1 quantitative result</a:t>
            </a:r>
          </a:p>
        </p:txBody>
      </p:sp>
      <p:sp>
        <p:nvSpPr>
          <p:cNvPr id="53" name="slide-title">
            <a:extLst>
              <a:ext uri="{FF2B5EF4-FFF2-40B4-BE49-F238E27FC236}">
                <a16:creationId xmlns:a16="http://schemas.microsoft.com/office/drawing/2014/main" id="{9C1CFA9E-20FF-47C5-BE43-8337E12219FC}"/>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LSTM cuts melody perplexity below every Markov order</a:t>
            </a:r>
          </a:p>
        </p:txBody>
      </p:sp>
      <p:sp>
        <p:nvSpPr>
          <p:cNvPr id="54" name="page-number">
            <a:extLst>
              <a:ext uri="{FF2B5EF4-FFF2-40B4-BE49-F238E27FC236}">
                <a16:creationId xmlns:a16="http://schemas.microsoft.com/office/drawing/2014/main" id="{A82EB7A1-5C7A-4C01-A1BA-B9DBE71A22A5}"/>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7</a:t>
            </a:r>
          </a:p>
        </p:txBody>
      </p:sp>
      <p:sp>
        <p:nvSpPr>
          <p:cNvPr id="55" name="Rectangle 54">
            <a:extLst>
              <a:ext uri="{FF2B5EF4-FFF2-40B4-BE49-F238E27FC236}">
                <a16:creationId xmlns:a16="http://schemas.microsoft.com/office/drawing/2014/main" id="{F38EC184-D570-45CC-87C2-835CDF021255}"/>
              </a:ext>
            </a:extLst>
          </p:cNvPr>
          <p:cNvSpPr>
            <a:spLocks noGrp="1"/>
          </p:cNvSpPr>
          <p:nvPr/>
        </p:nvSpPr>
        <p:spPr>
          <a:xfrm>
            <a:off x="685800" y="1466850"/>
            <a:ext cx="4762500" cy="3143250"/>
          </a:xfrm>
          <a:prstGeom prst="rect">
            <a:avLst/>
          </a:prstGeom>
          <a:solidFill>
            <a:srgbClr val="F7F2EA"/>
          </a:solidFill>
          <a:ln w="9525">
            <a:solidFill>
              <a:srgbClr val="3A302A"/>
            </a:solidFill>
            <a:prstDash val="solid"/>
          </a:ln>
        </p:spPr>
        <p:txBody>
          <a:bodyPr/>
          <a:lstStyle/>
          <a:p>
            <a:endParaRPr lang="en-US"/>
          </a:p>
        </p:txBody>
      </p:sp>
      <p:pic>
        <p:nvPicPr>
          <p:cNvPr id="56" name="Picture 55"/>
          <p:cNvPicPr>
            <a:picLocks noChangeAspect="1"/>
          </p:cNvPicPr>
          <p:nvPr/>
        </p:nvPicPr>
        <p:blipFill>
          <a:blip r:embed="rId3"/>
          <a:stretch/>
        </p:blipFill>
        <p:spPr>
          <a:xfrm>
            <a:off x="781050" y="1847932"/>
            <a:ext cx="4572000" cy="2171536"/>
          </a:xfrm>
          <a:prstGeom prst="rect">
            <a:avLst/>
          </a:prstGeom>
        </p:spPr>
      </p:pic>
      <p:sp>
        <p:nvSpPr>
          <p:cNvPr id="57" name="Rectangle 56">
            <a:extLst>
              <a:ext uri="{FF2B5EF4-FFF2-40B4-BE49-F238E27FC236}">
                <a16:creationId xmlns:a16="http://schemas.microsoft.com/office/drawing/2014/main" id="{22528B57-98E5-4830-AB55-68F2F145D510}"/>
              </a:ext>
            </a:extLst>
          </p:cNvPr>
          <p:cNvSpPr>
            <a:spLocks noGrp="1"/>
          </p:cNvSpPr>
          <p:nvPr/>
        </p:nvSpPr>
        <p:spPr>
          <a:xfrm>
            <a:off x="819150" y="4343400"/>
            <a:ext cx="449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validation perplexity settles near 2.5</a:t>
            </a:r>
          </a:p>
        </p:txBody>
      </p:sp>
      <p:sp>
        <p:nvSpPr>
          <p:cNvPr id="58" name="Rectangle 57">
            <a:extLst>
              <a:ext uri="{FF2B5EF4-FFF2-40B4-BE49-F238E27FC236}">
                <a16:creationId xmlns:a16="http://schemas.microsoft.com/office/drawing/2014/main" id="{2C7159C8-E41C-458D-A7FC-57AB5433249D}"/>
              </a:ext>
            </a:extLst>
          </p:cNvPr>
          <p:cNvSpPr>
            <a:spLocks noGrp="1"/>
          </p:cNvSpPr>
          <p:nvPr/>
        </p:nvSpPr>
        <p:spPr>
          <a:xfrm>
            <a:off x="6076950" y="1466850"/>
            <a:ext cx="4762500" cy="3143250"/>
          </a:xfrm>
          <a:prstGeom prst="rect">
            <a:avLst/>
          </a:prstGeom>
          <a:solidFill>
            <a:srgbClr val="1E1A17"/>
          </a:solidFill>
          <a:ln w="9525">
            <a:solidFill>
              <a:srgbClr val="3A302A"/>
            </a:solidFill>
            <a:prstDash val="solid"/>
          </a:ln>
        </p:spPr>
        <p:txBody>
          <a:bodyPr/>
          <a:lstStyle/>
          <a:p>
            <a:endParaRPr lang="en-US"/>
          </a:p>
        </p:txBody>
      </p:sp>
      <p:sp>
        <p:nvSpPr>
          <p:cNvPr id="59" name="Rectangle 58">
            <a:extLst>
              <a:ext uri="{FF2B5EF4-FFF2-40B4-BE49-F238E27FC236}">
                <a16:creationId xmlns:a16="http://schemas.microsoft.com/office/drawing/2014/main" id="{F82DAA15-9BF7-4F15-94BD-0E97CA6F1557}"/>
              </a:ext>
            </a:extLst>
          </p:cNvPr>
          <p:cNvSpPr>
            <a:spLocks noGrp="1"/>
          </p:cNvSpPr>
          <p:nvPr/>
        </p:nvSpPr>
        <p:spPr>
          <a:xfrm>
            <a:off x="6248400" y="1600200"/>
            <a:ext cx="441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4EFE7"/>
                </a:solidFill>
                <a:latin typeface="Aptos"/>
                <a:ea typeface="Aptos"/>
                <a:cs typeface="Aptos"/>
              </a:defRPr>
            </a:pPr>
            <a:r>
              <a:rPr sz="1125" b="1">
                <a:solidFill>
                  <a:srgbClr val="F4EFE7"/>
                </a:solidFill>
                <a:latin typeface="Aptos"/>
                <a:ea typeface="Aptos"/>
                <a:cs typeface="Aptos"/>
              </a:rPr>
              <a:t>held-out test perplexity (lower is better)</a:t>
            </a:r>
          </a:p>
        </p:txBody>
      </p:sp>
      <p:sp>
        <p:nvSpPr>
          <p:cNvPr id="60" name="Rectangle 59">
            <a:extLst>
              <a:ext uri="{FF2B5EF4-FFF2-40B4-BE49-F238E27FC236}">
                <a16:creationId xmlns:a16="http://schemas.microsoft.com/office/drawing/2014/main" id="{DCD8B05D-4EBB-406C-9D9B-06241A5F9956}"/>
              </a:ext>
            </a:extLst>
          </p:cNvPr>
          <p:cNvSpPr>
            <a:spLocks noGrp="1"/>
          </p:cNvSpPr>
          <p:nvPr/>
        </p:nvSpPr>
        <p:spPr>
          <a:xfrm>
            <a:off x="6305550" y="2067712"/>
            <a:ext cx="1019175" cy="2351888"/>
          </a:xfrm>
          <a:prstGeom prst="rect">
            <a:avLst/>
          </a:prstGeom>
          <a:solidFill>
            <a:srgbClr val="5C534B"/>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547C7E51-F1B4-4065-B652-BA585469011A}"/>
              </a:ext>
            </a:extLst>
          </p:cNvPr>
          <p:cNvSpPr>
            <a:spLocks noGrp="1"/>
          </p:cNvSpPr>
          <p:nvPr/>
        </p:nvSpPr>
        <p:spPr>
          <a:xfrm>
            <a:off x="6286500" y="1839112"/>
            <a:ext cx="1057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5C534B"/>
                </a:solidFill>
                <a:latin typeface="Aptos"/>
                <a:ea typeface="Aptos"/>
                <a:cs typeface="Aptos"/>
              </a:defRPr>
            </a:pPr>
            <a:r>
              <a:rPr sz="900" b="1">
                <a:solidFill>
                  <a:srgbClr val="5C534B"/>
                </a:solidFill>
                <a:latin typeface="Aptos"/>
                <a:ea typeface="Aptos"/>
                <a:cs typeface="Aptos"/>
              </a:rPr>
              <a:t>4.27</a:t>
            </a:r>
          </a:p>
        </p:txBody>
      </p:sp>
      <p:sp>
        <p:nvSpPr>
          <p:cNvPr id="62" name="Rectangle 61">
            <a:extLst>
              <a:ext uri="{FF2B5EF4-FFF2-40B4-BE49-F238E27FC236}">
                <a16:creationId xmlns:a16="http://schemas.microsoft.com/office/drawing/2014/main" id="{D424EFB8-4D47-45BA-B490-E3A4C4511382}"/>
              </a:ext>
            </a:extLst>
          </p:cNvPr>
          <p:cNvSpPr>
            <a:spLocks noGrp="1"/>
          </p:cNvSpPr>
          <p:nvPr/>
        </p:nvSpPr>
        <p:spPr>
          <a:xfrm>
            <a:off x="6305550" y="4286250"/>
            <a:ext cx="10191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M1</a:t>
            </a:r>
          </a:p>
        </p:txBody>
      </p:sp>
      <p:sp>
        <p:nvSpPr>
          <p:cNvPr id="63" name="Rectangle 62">
            <a:extLst>
              <a:ext uri="{FF2B5EF4-FFF2-40B4-BE49-F238E27FC236}">
                <a16:creationId xmlns:a16="http://schemas.microsoft.com/office/drawing/2014/main" id="{B3DEE405-C609-476F-AE9F-89AABEF5999C}"/>
              </a:ext>
            </a:extLst>
          </p:cNvPr>
          <p:cNvSpPr>
            <a:spLocks noGrp="1"/>
          </p:cNvSpPr>
          <p:nvPr/>
        </p:nvSpPr>
        <p:spPr>
          <a:xfrm>
            <a:off x="7439025" y="2574442"/>
            <a:ext cx="1019175" cy="1845158"/>
          </a:xfrm>
          <a:prstGeom prst="rect">
            <a:avLst/>
          </a:prstGeom>
          <a:solidFill>
            <a:srgbClr val="5C534B"/>
          </a:solidFill>
          <a:ln w="0">
            <a:solidFill>
              <a:srgbClr val="000000">
                <a:alpha val="0"/>
              </a:srgbClr>
            </a:solidFill>
            <a:prstDash val="solid"/>
          </a:ln>
        </p:spPr>
        <p:txBody>
          <a:bodyPr/>
          <a:lstStyle/>
          <a:p>
            <a:endParaRPr lang="en-US"/>
          </a:p>
        </p:txBody>
      </p:sp>
      <p:sp>
        <p:nvSpPr>
          <p:cNvPr id="64" name="Rectangle 63">
            <a:extLst>
              <a:ext uri="{FF2B5EF4-FFF2-40B4-BE49-F238E27FC236}">
                <a16:creationId xmlns:a16="http://schemas.microsoft.com/office/drawing/2014/main" id="{36108A48-2A5B-41CD-BC75-AD045A985CF0}"/>
              </a:ext>
            </a:extLst>
          </p:cNvPr>
          <p:cNvSpPr>
            <a:spLocks noGrp="1"/>
          </p:cNvSpPr>
          <p:nvPr/>
        </p:nvSpPr>
        <p:spPr>
          <a:xfrm>
            <a:off x="7419975" y="2345842"/>
            <a:ext cx="1057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5C534B"/>
                </a:solidFill>
                <a:latin typeface="Aptos"/>
                <a:ea typeface="Aptos"/>
                <a:cs typeface="Aptos"/>
              </a:defRPr>
            </a:pPr>
            <a:r>
              <a:rPr sz="900" b="1">
                <a:solidFill>
                  <a:srgbClr val="5C534B"/>
                </a:solidFill>
                <a:latin typeface="Aptos"/>
                <a:ea typeface="Aptos"/>
                <a:cs typeface="Aptos"/>
              </a:rPr>
              <a:t>3.35</a:t>
            </a:r>
          </a:p>
        </p:txBody>
      </p:sp>
      <p:sp>
        <p:nvSpPr>
          <p:cNvPr id="65" name="Rectangle 64">
            <a:extLst>
              <a:ext uri="{FF2B5EF4-FFF2-40B4-BE49-F238E27FC236}">
                <a16:creationId xmlns:a16="http://schemas.microsoft.com/office/drawing/2014/main" id="{449BDCDC-59BD-4BCA-AAAD-81BC0B1E4F7A}"/>
              </a:ext>
            </a:extLst>
          </p:cNvPr>
          <p:cNvSpPr>
            <a:spLocks noGrp="1"/>
          </p:cNvSpPr>
          <p:nvPr/>
        </p:nvSpPr>
        <p:spPr>
          <a:xfrm>
            <a:off x="7439025" y="4286250"/>
            <a:ext cx="10191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M2</a:t>
            </a:r>
          </a:p>
        </p:txBody>
      </p:sp>
      <p:sp>
        <p:nvSpPr>
          <p:cNvPr id="66" name="Rectangle 65">
            <a:extLst>
              <a:ext uri="{FF2B5EF4-FFF2-40B4-BE49-F238E27FC236}">
                <a16:creationId xmlns:a16="http://schemas.microsoft.com/office/drawing/2014/main" id="{DC72D33C-1A72-4FD7-9403-F38DABD9C10D}"/>
              </a:ext>
            </a:extLst>
          </p:cNvPr>
          <p:cNvSpPr>
            <a:spLocks noGrp="1"/>
          </p:cNvSpPr>
          <p:nvPr/>
        </p:nvSpPr>
        <p:spPr>
          <a:xfrm>
            <a:off x="8572500" y="2668077"/>
            <a:ext cx="1019175" cy="1751523"/>
          </a:xfrm>
          <a:prstGeom prst="rect">
            <a:avLst/>
          </a:prstGeom>
          <a:solidFill>
            <a:srgbClr val="5C534B"/>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2D775B3C-28DD-4207-AE50-2235454CC62E}"/>
              </a:ext>
            </a:extLst>
          </p:cNvPr>
          <p:cNvSpPr>
            <a:spLocks noGrp="1"/>
          </p:cNvSpPr>
          <p:nvPr/>
        </p:nvSpPr>
        <p:spPr>
          <a:xfrm>
            <a:off x="8553450" y="2439477"/>
            <a:ext cx="1057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5C534B"/>
                </a:solidFill>
                <a:latin typeface="Aptos"/>
                <a:ea typeface="Aptos"/>
                <a:cs typeface="Aptos"/>
              </a:defRPr>
            </a:pPr>
            <a:r>
              <a:rPr sz="900" b="1">
                <a:solidFill>
                  <a:srgbClr val="5C534B"/>
                </a:solidFill>
                <a:latin typeface="Aptos"/>
                <a:ea typeface="Aptos"/>
                <a:cs typeface="Aptos"/>
              </a:rPr>
              <a:t>3.18</a:t>
            </a:r>
          </a:p>
        </p:txBody>
      </p:sp>
      <p:sp>
        <p:nvSpPr>
          <p:cNvPr id="68" name="Rectangle 67">
            <a:extLst>
              <a:ext uri="{FF2B5EF4-FFF2-40B4-BE49-F238E27FC236}">
                <a16:creationId xmlns:a16="http://schemas.microsoft.com/office/drawing/2014/main" id="{6D021747-565F-44E6-ABE4-F7AA27A6439B}"/>
              </a:ext>
            </a:extLst>
          </p:cNvPr>
          <p:cNvSpPr>
            <a:spLocks noGrp="1"/>
          </p:cNvSpPr>
          <p:nvPr/>
        </p:nvSpPr>
        <p:spPr>
          <a:xfrm>
            <a:off x="8572500" y="4286250"/>
            <a:ext cx="10191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M3</a:t>
            </a:r>
          </a:p>
        </p:txBody>
      </p:sp>
      <p:sp>
        <p:nvSpPr>
          <p:cNvPr id="69" name="Rectangle 68">
            <a:extLst>
              <a:ext uri="{FF2B5EF4-FFF2-40B4-BE49-F238E27FC236}">
                <a16:creationId xmlns:a16="http://schemas.microsoft.com/office/drawing/2014/main" id="{4F034E05-966D-49A8-9B68-63EE82CA87BC}"/>
              </a:ext>
            </a:extLst>
          </p:cNvPr>
          <p:cNvSpPr>
            <a:spLocks noGrp="1"/>
          </p:cNvSpPr>
          <p:nvPr/>
        </p:nvSpPr>
        <p:spPr>
          <a:xfrm>
            <a:off x="9705975" y="3086680"/>
            <a:ext cx="1019175" cy="1332920"/>
          </a:xfrm>
          <a:prstGeom prst="rect">
            <a:avLst/>
          </a:prstGeom>
          <a:solidFill>
            <a:srgbClr val="FF5A5F"/>
          </a:solidFill>
          <a:ln w="0">
            <a:solidFill>
              <a:srgbClr val="000000">
                <a:alpha val="0"/>
              </a:srgbClr>
            </a:solidFill>
            <a:prstDash val="solid"/>
          </a:ln>
        </p:spPr>
        <p:txBody>
          <a:bodyPr/>
          <a:lstStyle/>
          <a:p>
            <a:endParaRPr lang="en-US"/>
          </a:p>
        </p:txBody>
      </p:sp>
      <p:sp>
        <p:nvSpPr>
          <p:cNvPr id="70" name="Rectangle 69">
            <a:extLst>
              <a:ext uri="{FF2B5EF4-FFF2-40B4-BE49-F238E27FC236}">
                <a16:creationId xmlns:a16="http://schemas.microsoft.com/office/drawing/2014/main" id="{906FC789-0B4E-43C5-B077-23AAC00FC905}"/>
              </a:ext>
            </a:extLst>
          </p:cNvPr>
          <p:cNvSpPr>
            <a:spLocks noGrp="1"/>
          </p:cNvSpPr>
          <p:nvPr/>
        </p:nvSpPr>
        <p:spPr>
          <a:xfrm>
            <a:off x="9686925" y="2858080"/>
            <a:ext cx="1057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5A5F"/>
                </a:solidFill>
                <a:latin typeface="Aptos"/>
                <a:ea typeface="Aptos"/>
                <a:cs typeface="Aptos"/>
              </a:defRPr>
            </a:pPr>
            <a:r>
              <a:rPr sz="900" b="1">
                <a:solidFill>
                  <a:srgbClr val="FF5A5F"/>
                </a:solidFill>
                <a:latin typeface="Aptos"/>
                <a:ea typeface="Aptos"/>
                <a:cs typeface="Aptos"/>
              </a:rPr>
              <a:t>2.42</a:t>
            </a:r>
          </a:p>
        </p:txBody>
      </p:sp>
      <p:sp>
        <p:nvSpPr>
          <p:cNvPr id="71" name="Rectangle 70">
            <a:extLst>
              <a:ext uri="{FF2B5EF4-FFF2-40B4-BE49-F238E27FC236}">
                <a16:creationId xmlns:a16="http://schemas.microsoft.com/office/drawing/2014/main" id="{758A62E3-1176-4DF1-A8D3-A377943EC266}"/>
              </a:ext>
            </a:extLst>
          </p:cNvPr>
          <p:cNvSpPr>
            <a:spLocks noGrp="1"/>
          </p:cNvSpPr>
          <p:nvPr/>
        </p:nvSpPr>
        <p:spPr>
          <a:xfrm>
            <a:off x="9705975" y="4286250"/>
            <a:ext cx="10191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LSTM</a:t>
            </a:r>
          </a:p>
        </p:txBody>
      </p:sp>
      <p:sp>
        <p:nvSpPr>
          <p:cNvPr id="72" name="Rectangle 71">
            <a:extLst>
              <a:ext uri="{FF2B5EF4-FFF2-40B4-BE49-F238E27FC236}">
                <a16:creationId xmlns:a16="http://schemas.microsoft.com/office/drawing/2014/main" id="{8987A680-D011-4604-A602-90307B2A7244}"/>
              </a:ext>
            </a:extLst>
          </p:cNvPr>
          <p:cNvSpPr>
            <a:spLocks noGrp="1"/>
          </p:cNvSpPr>
          <p:nvPr/>
        </p:nvSpPr>
        <p:spPr>
          <a:xfrm>
            <a:off x="933450" y="5105400"/>
            <a:ext cx="98107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F4EFE7"/>
                </a:solidFill>
                <a:latin typeface="Aptos"/>
                <a:ea typeface="Aptos"/>
                <a:cs typeface="Aptos"/>
              </a:defRPr>
            </a:pPr>
            <a:r>
              <a:rPr sz="1725" b="1">
                <a:solidFill>
                  <a:srgbClr val="F4EFE7"/>
                </a:solidFill>
                <a:latin typeface="Aptos"/>
                <a:ea typeface="Aptos"/>
                <a:cs typeface="Aptos"/>
              </a:rPr>
              <a:t>The n-gram improves from order 1 to 3, then plateaus as contexts become sparse. The LSTM keeps a learned state instead of a fixed table, so it predicts real tunes more confidently.</a:t>
            </a:r>
          </a:p>
        </p:txBody>
      </p:sp>
    </p:spTree>
    <p:extLst>
      <p:ext uri="{BB962C8B-B14F-4D97-AF65-F5344CB8AC3E}">
        <p14:creationId xmlns:p14="http://schemas.microsoft.com/office/powerpoint/2010/main" val="1567601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a:extLst>
              <a:ext uri="{FF2B5EF4-FFF2-40B4-BE49-F238E27FC236}">
                <a16:creationId xmlns:a16="http://schemas.microsoft.com/office/drawing/2014/main" id="{3AF84A5B-5CAD-47FF-8FDA-C354B145E69C}"/>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D512172-9D93-4EE6-B7D0-1DA832F09640}"/>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1EA9E005-B750-4CAD-966A-A3CCA0D5F3CE}"/>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6CBC7F65-3F60-425B-B99C-850B54BB9624}"/>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9D4D1337-8555-4B16-B56A-3B0201B37AF6}"/>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2484B78B-90FE-4437-86CD-FD72D5850DB1}"/>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FCF68F00-97FD-44CE-B445-07ADFDC98191}"/>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2A08E249-AB8E-43D0-BE30-53F85DF5375C}"/>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D77C4719-F9F9-4382-82BA-56862610F946}"/>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CC060C14-1386-4FD4-8F52-021D340B6C0C}"/>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0F9D28BE-6E62-4D1A-9132-C80A2722730F}"/>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05B3D1E2-3704-44F1-BD7F-09E160AEF1B3}"/>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5B552DB2-2DDD-4E04-BBF0-50C333E9A6A5}"/>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7011CC50-0BA2-48AC-891E-6FDE59261443}"/>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CA3D4F00-6977-486B-904B-B03C41707C09}"/>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CD600284-F987-4BE9-A469-2B5F6C5B6167}"/>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0E61101-9E05-458C-A350-FAB1B9D80372}"/>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C42BD5E9-8F6B-4277-ACD8-FC6DF7B226D0}"/>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EE3BC596-5BCB-4CEE-83DB-C16136FB1D36}"/>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EBE02FF5-D8D3-4EE6-8116-351D5B02D4EC}"/>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A2D26FBD-61F8-43C9-AA14-8AA6E2BCC6EC}"/>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2C5076A1-2588-4F9D-8DA3-34392D42021B}"/>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A67E9D70-6889-4BC2-A800-F57CBEE412A5}"/>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C9C1B4EF-598D-4E48-91B1-7BDDDAC1EF8C}"/>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39FA7F91-2818-4023-9474-13ED473E8310}"/>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DBE05D1E-62CD-43D1-8623-E53352B017B8}"/>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038FF6C-99BA-4530-908F-52382D4DD9EC}"/>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31ABF9DC-F94F-49EE-8136-3282AD333137}"/>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E98F2F18-F323-4263-B779-8A6BDBFAB342}"/>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C116ECBD-72F0-4BDB-AAFD-D151AE71F9FA}"/>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E8074752-9857-46E0-AAA8-05EAFB2175C2}"/>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66EFD29D-CDDE-4A83-9782-05A2DFAA8312}"/>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73219F10-8AED-4CFA-9D47-6E7E525F2AAA}"/>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336692B0-B1F2-4F2C-A200-31FEC98694F8}"/>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0B373430-792D-4CBE-A2DF-78DE8CAF294F}"/>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BDB54E58-59A3-4D23-BA37-5EC94C167B5A}"/>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4F3E067C-AE96-48B8-905F-8CB3BCDEC913}"/>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521B018C-BDE8-457C-96A3-D79A3C54C0F4}"/>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E904B987-FA81-4F53-9672-488A1FFFC7D0}"/>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C4EB064B-6370-4905-BA58-ED9ABCE2198A}"/>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881E3559-288C-4475-B2C3-874139247172}"/>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F65E9BC7-E4ED-4938-8361-55BDABC979E2}"/>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26D694AB-3A49-4119-9A93-76A58FC8C068}"/>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09D2A789-1BED-499B-851A-BAC761A7E89F}"/>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13EE62F9-4605-4296-9834-1940A3BE829F}"/>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13C848D3-B80A-4E3B-8445-AF9F3E2D1820}"/>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9431FA67-B979-493E-9541-A9899CA0B3D6}"/>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E2F75564-D989-4C5B-8A9A-4902FD136179}"/>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BB64F40D-692B-43B0-A7DA-CA68C500BDFB}"/>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7B06D53D-C183-4022-BE6C-DDF9A9A8FAB5}"/>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EDA5F0C8-829F-4AE0-ABD6-62228C44B70D}"/>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EC65B668-2A2A-431C-8EF2-0AF2AC9DD14D}"/>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Task 1 musical evaluation</a:t>
            </a:r>
          </a:p>
        </p:txBody>
      </p:sp>
      <p:sp>
        <p:nvSpPr>
          <p:cNvPr id="53" name="slide-title">
            <a:extLst>
              <a:ext uri="{FF2B5EF4-FFF2-40B4-BE49-F238E27FC236}">
                <a16:creationId xmlns:a16="http://schemas.microsoft.com/office/drawing/2014/main" id="{D34C149A-A637-4420-AA5C-C098C4AE9C9F}"/>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Perplexity agrees with the musical texture checks</a:t>
            </a:r>
          </a:p>
        </p:txBody>
      </p:sp>
      <p:sp>
        <p:nvSpPr>
          <p:cNvPr id="54" name="page-number">
            <a:extLst>
              <a:ext uri="{FF2B5EF4-FFF2-40B4-BE49-F238E27FC236}">
                <a16:creationId xmlns:a16="http://schemas.microsoft.com/office/drawing/2014/main" id="{96FCA666-9676-4D70-8D7D-4D1652919EA5}"/>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8</a:t>
            </a:r>
          </a:p>
        </p:txBody>
      </p:sp>
      <p:sp>
        <p:nvSpPr>
          <p:cNvPr id="55" name="Rectangle 54">
            <a:extLst>
              <a:ext uri="{FF2B5EF4-FFF2-40B4-BE49-F238E27FC236}">
                <a16:creationId xmlns:a16="http://schemas.microsoft.com/office/drawing/2014/main" id="{81CAE3EB-ED84-4902-A612-9B0C8EDD49B8}"/>
              </a:ext>
            </a:extLst>
          </p:cNvPr>
          <p:cNvSpPr>
            <a:spLocks noGrp="1"/>
          </p:cNvSpPr>
          <p:nvPr/>
        </p:nvSpPr>
        <p:spPr>
          <a:xfrm>
            <a:off x="552450" y="1390650"/>
            <a:ext cx="5048250" cy="2343150"/>
          </a:xfrm>
          <a:prstGeom prst="rect">
            <a:avLst/>
          </a:prstGeom>
          <a:solidFill>
            <a:srgbClr val="F7F2EA"/>
          </a:solidFill>
          <a:ln w="9525">
            <a:solidFill>
              <a:srgbClr val="3A302A"/>
            </a:solidFill>
            <a:prstDash val="solid"/>
          </a:ln>
        </p:spPr>
        <p:txBody>
          <a:bodyPr/>
          <a:lstStyle/>
          <a:p>
            <a:endParaRPr lang="en-US"/>
          </a:p>
        </p:txBody>
      </p:sp>
      <p:pic>
        <p:nvPicPr>
          <p:cNvPr id="56" name="Picture 55"/>
          <p:cNvPicPr>
            <a:picLocks noChangeAspect="1"/>
          </p:cNvPicPr>
          <p:nvPr/>
        </p:nvPicPr>
        <p:blipFill>
          <a:blip r:embed="rId3"/>
          <a:stretch/>
        </p:blipFill>
        <p:spPr>
          <a:xfrm>
            <a:off x="647700" y="1826228"/>
            <a:ext cx="4857750" cy="1262443"/>
          </a:xfrm>
          <a:prstGeom prst="rect">
            <a:avLst/>
          </a:prstGeom>
        </p:spPr>
      </p:pic>
      <p:sp>
        <p:nvSpPr>
          <p:cNvPr id="57" name="Rectangle 56">
            <a:extLst>
              <a:ext uri="{FF2B5EF4-FFF2-40B4-BE49-F238E27FC236}">
                <a16:creationId xmlns:a16="http://schemas.microsoft.com/office/drawing/2014/main" id="{D16CB538-6850-4DA8-80E2-7BE641EAD835}"/>
              </a:ext>
            </a:extLst>
          </p:cNvPr>
          <p:cNvSpPr>
            <a:spLocks noGrp="1"/>
          </p:cNvSpPr>
          <p:nvPr/>
        </p:nvSpPr>
        <p:spPr>
          <a:xfrm>
            <a:off x="685800" y="3467100"/>
            <a:ext cx="4781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generated pitch-class and duration distributions</a:t>
            </a:r>
          </a:p>
        </p:txBody>
      </p:sp>
      <p:sp>
        <p:nvSpPr>
          <p:cNvPr id="58" name="Rectangle 57">
            <a:extLst>
              <a:ext uri="{FF2B5EF4-FFF2-40B4-BE49-F238E27FC236}">
                <a16:creationId xmlns:a16="http://schemas.microsoft.com/office/drawing/2014/main" id="{091CCAEE-AFE5-4B08-A83F-A4B0576C83AD}"/>
              </a:ext>
            </a:extLst>
          </p:cNvPr>
          <p:cNvSpPr>
            <a:spLocks noGrp="1"/>
          </p:cNvSpPr>
          <p:nvPr/>
        </p:nvSpPr>
        <p:spPr>
          <a:xfrm>
            <a:off x="552450" y="4000500"/>
            <a:ext cx="5048250" cy="1504950"/>
          </a:xfrm>
          <a:prstGeom prst="rect">
            <a:avLst/>
          </a:prstGeom>
          <a:solidFill>
            <a:srgbClr val="F7F2EA"/>
          </a:solidFill>
          <a:ln w="9525">
            <a:solidFill>
              <a:srgbClr val="3A302A"/>
            </a:solidFill>
            <a:prstDash val="solid"/>
          </a:ln>
        </p:spPr>
        <p:txBody>
          <a:bodyPr/>
          <a:lstStyle/>
          <a:p>
            <a:endParaRPr lang="en-US"/>
          </a:p>
        </p:txBody>
      </p:sp>
      <p:pic>
        <p:nvPicPr>
          <p:cNvPr id="59" name="Picture 58"/>
          <p:cNvPicPr>
            <a:picLocks noChangeAspect="1"/>
          </p:cNvPicPr>
          <p:nvPr/>
        </p:nvPicPr>
        <p:blipFill>
          <a:blip r:embed="rId4"/>
          <a:stretch/>
        </p:blipFill>
        <p:spPr>
          <a:xfrm>
            <a:off x="1295166" y="4095750"/>
            <a:ext cx="3562818" cy="1104900"/>
          </a:xfrm>
          <a:prstGeom prst="rect">
            <a:avLst/>
          </a:prstGeom>
        </p:spPr>
      </p:pic>
      <p:sp>
        <p:nvSpPr>
          <p:cNvPr id="60" name="Rectangle 59">
            <a:extLst>
              <a:ext uri="{FF2B5EF4-FFF2-40B4-BE49-F238E27FC236}">
                <a16:creationId xmlns:a16="http://schemas.microsoft.com/office/drawing/2014/main" id="{1745847C-4DC6-483F-B68D-7918FE7E5D66}"/>
              </a:ext>
            </a:extLst>
          </p:cNvPr>
          <p:cNvSpPr>
            <a:spLocks noGrp="1"/>
          </p:cNvSpPr>
          <p:nvPr/>
        </p:nvSpPr>
        <p:spPr>
          <a:xfrm>
            <a:off x="685800" y="5238750"/>
            <a:ext cx="4781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generated melody piano roll</a:t>
            </a:r>
          </a:p>
        </p:txBody>
      </p:sp>
      <p:sp>
        <p:nvSpPr>
          <p:cNvPr id="61" name="Rectangle 60">
            <a:extLst>
              <a:ext uri="{FF2B5EF4-FFF2-40B4-BE49-F238E27FC236}">
                <a16:creationId xmlns:a16="http://schemas.microsoft.com/office/drawing/2014/main" id="{275B9D81-A354-4794-8630-D215A8975675}"/>
              </a:ext>
            </a:extLst>
          </p:cNvPr>
          <p:cNvSpPr>
            <a:spLocks noGrp="1"/>
          </p:cNvSpPr>
          <p:nvPr/>
        </p:nvSpPr>
        <p:spPr>
          <a:xfrm>
            <a:off x="6057900" y="1524000"/>
            <a:ext cx="4953000" cy="2162175"/>
          </a:xfrm>
          <a:prstGeom prst="rect">
            <a:avLst/>
          </a:prstGeom>
          <a:solidFill>
            <a:srgbClr val="1E1A17"/>
          </a:solidFill>
          <a:ln w="9525">
            <a:solidFill>
              <a:srgbClr val="3A302A"/>
            </a:solidFill>
            <a:prstDash val="solid"/>
          </a:ln>
        </p:spPr>
        <p:txBody>
          <a:bodyPr/>
          <a:lstStyle/>
          <a:p>
            <a:endParaRPr lang="en-US"/>
          </a:p>
        </p:txBody>
      </p:sp>
      <p:sp>
        <p:nvSpPr>
          <p:cNvPr id="62" name="Rectangle 61">
            <a:extLst>
              <a:ext uri="{FF2B5EF4-FFF2-40B4-BE49-F238E27FC236}">
                <a16:creationId xmlns:a16="http://schemas.microsoft.com/office/drawing/2014/main" id="{53F2ED07-EF9F-4C59-A7D0-315759E3A2C6}"/>
              </a:ext>
            </a:extLst>
          </p:cNvPr>
          <p:cNvSpPr>
            <a:spLocks noGrp="1"/>
          </p:cNvSpPr>
          <p:nvPr/>
        </p:nvSpPr>
        <p:spPr>
          <a:xfrm>
            <a:off x="6172200" y="1619250"/>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B000"/>
                </a:solidFill>
                <a:latin typeface="Aptos"/>
                <a:ea typeface="Aptos"/>
                <a:cs typeface="Aptos"/>
              </a:defRPr>
            </a:pPr>
            <a:r>
              <a:rPr sz="825" b="1">
                <a:solidFill>
                  <a:srgbClr val="FFB000"/>
                </a:solidFill>
                <a:latin typeface="Aptos"/>
                <a:ea typeface="Aptos"/>
                <a:cs typeface="Aptos"/>
              </a:rPr>
              <a:t>metric</a:t>
            </a:r>
          </a:p>
        </p:txBody>
      </p:sp>
      <p:sp>
        <p:nvSpPr>
          <p:cNvPr id="63" name="Rectangle 62">
            <a:extLst>
              <a:ext uri="{FF2B5EF4-FFF2-40B4-BE49-F238E27FC236}">
                <a16:creationId xmlns:a16="http://schemas.microsoft.com/office/drawing/2014/main" id="{A99B2F99-4973-4CA8-940A-88E3DCFAA718}"/>
              </a:ext>
            </a:extLst>
          </p:cNvPr>
          <p:cNvSpPr>
            <a:spLocks noGrp="1"/>
          </p:cNvSpPr>
          <p:nvPr/>
        </p:nvSpPr>
        <p:spPr>
          <a:xfrm>
            <a:off x="7410450" y="1619250"/>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B000"/>
                </a:solidFill>
                <a:latin typeface="Aptos"/>
                <a:ea typeface="Aptos"/>
                <a:cs typeface="Aptos"/>
              </a:defRPr>
            </a:pPr>
            <a:r>
              <a:rPr sz="825" b="1">
                <a:solidFill>
                  <a:srgbClr val="FFB000"/>
                </a:solidFill>
                <a:latin typeface="Aptos"/>
                <a:ea typeface="Aptos"/>
                <a:cs typeface="Aptos"/>
              </a:rPr>
              <a:t>real</a:t>
            </a:r>
          </a:p>
        </p:txBody>
      </p:sp>
      <p:sp>
        <p:nvSpPr>
          <p:cNvPr id="64" name="Rectangle 63">
            <a:extLst>
              <a:ext uri="{FF2B5EF4-FFF2-40B4-BE49-F238E27FC236}">
                <a16:creationId xmlns:a16="http://schemas.microsoft.com/office/drawing/2014/main" id="{5A355106-4D72-43ED-B7FC-0B6C9EA27A86}"/>
              </a:ext>
            </a:extLst>
          </p:cNvPr>
          <p:cNvSpPr>
            <a:spLocks noGrp="1"/>
          </p:cNvSpPr>
          <p:nvPr/>
        </p:nvSpPr>
        <p:spPr>
          <a:xfrm>
            <a:off x="8648700" y="1619250"/>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B000"/>
                </a:solidFill>
                <a:latin typeface="Aptos"/>
                <a:ea typeface="Aptos"/>
                <a:cs typeface="Aptos"/>
              </a:defRPr>
            </a:pPr>
            <a:r>
              <a:rPr sz="825" b="1">
                <a:solidFill>
                  <a:srgbClr val="FFB000"/>
                </a:solidFill>
                <a:latin typeface="Aptos"/>
                <a:ea typeface="Aptos"/>
                <a:cs typeface="Aptos"/>
              </a:rPr>
              <a:t>LSTM</a:t>
            </a:r>
          </a:p>
        </p:txBody>
      </p:sp>
      <p:sp>
        <p:nvSpPr>
          <p:cNvPr id="65" name="Rectangle 64">
            <a:extLst>
              <a:ext uri="{FF2B5EF4-FFF2-40B4-BE49-F238E27FC236}">
                <a16:creationId xmlns:a16="http://schemas.microsoft.com/office/drawing/2014/main" id="{58F137F3-52DB-4534-B88F-707CD7B6D1D8}"/>
              </a:ext>
            </a:extLst>
          </p:cNvPr>
          <p:cNvSpPr>
            <a:spLocks noGrp="1"/>
          </p:cNvSpPr>
          <p:nvPr/>
        </p:nvSpPr>
        <p:spPr>
          <a:xfrm>
            <a:off x="9886950" y="1619250"/>
            <a:ext cx="1066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FB000"/>
                </a:solidFill>
                <a:latin typeface="Aptos"/>
                <a:ea typeface="Aptos"/>
                <a:cs typeface="Aptos"/>
              </a:defRPr>
            </a:pPr>
            <a:r>
              <a:rPr sz="825" b="1">
                <a:solidFill>
                  <a:srgbClr val="FFB000"/>
                </a:solidFill>
                <a:latin typeface="Aptos"/>
                <a:ea typeface="Aptos"/>
                <a:cs typeface="Aptos"/>
              </a:rPr>
              <a:t>Markov-3</a:t>
            </a:r>
          </a:p>
        </p:txBody>
      </p:sp>
      <p:sp>
        <p:nvSpPr>
          <p:cNvPr id="66" name="Rectangle 65">
            <a:extLst>
              <a:ext uri="{FF2B5EF4-FFF2-40B4-BE49-F238E27FC236}">
                <a16:creationId xmlns:a16="http://schemas.microsoft.com/office/drawing/2014/main" id="{70E23E4E-8510-4D0A-81EE-B330E95F073C}"/>
              </a:ext>
            </a:extLst>
          </p:cNvPr>
          <p:cNvSpPr>
            <a:spLocks noGrp="1"/>
          </p:cNvSpPr>
          <p:nvPr/>
        </p:nvSpPr>
        <p:spPr>
          <a:xfrm>
            <a:off x="6153150" y="1971675"/>
            <a:ext cx="4762500" cy="9525"/>
          </a:xfrm>
          <a:prstGeom prst="rect">
            <a:avLst/>
          </a:prstGeom>
          <a:solidFill>
            <a:srgbClr val="3A302A"/>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AA46CA44-0005-446B-A02F-A291F922061F}"/>
              </a:ext>
            </a:extLst>
          </p:cNvPr>
          <p:cNvSpPr>
            <a:spLocks noGrp="1"/>
          </p:cNvSpPr>
          <p:nvPr/>
        </p:nvSpPr>
        <p:spPr>
          <a:xfrm>
            <a:off x="6172200" y="200977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PC cosine</a:t>
            </a:r>
          </a:p>
        </p:txBody>
      </p:sp>
      <p:sp>
        <p:nvSpPr>
          <p:cNvPr id="68" name="Rectangle 67">
            <a:extLst>
              <a:ext uri="{FF2B5EF4-FFF2-40B4-BE49-F238E27FC236}">
                <a16:creationId xmlns:a16="http://schemas.microsoft.com/office/drawing/2014/main" id="{4198E940-7CDA-4F57-B058-34C64FECB174}"/>
              </a:ext>
            </a:extLst>
          </p:cNvPr>
          <p:cNvSpPr>
            <a:spLocks noGrp="1"/>
          </p:cNvSpPr>
          <p:nvPr/>
        </p:nvSpPr>
        <p:spPr>
          <a:xfrm>
            <a:off x="7410450" y="200977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1.000</a:t>
            </a:r>
          </a:p>
        </p:txBody>
      </p:sp>
      <p:sp>
        <p:nvSpPr>
          <p:cNvPr id="69" name="Rectangle 68">
            <a:extLst>
              <a:ext uri="{FF2B5EF4-FFF2-40B4-BE49-F238E27FC236}">
                <a16:creationId xmlns:a16="http://schemas.microsoft.com/office/drawing/2014/main" id="{92BFD713-5271-4DD4-B3B7-F6D99524E842}"/>
              </a:ext>
            </a:extLst>
          </p:cNvPr>
          <p:cNvSpPr>
            <a:spLocks noGrp="1"/>
          </p:cNvSpPr>
          <p:nvPr/>
        </p:nvSpPr>
        <p:spPr>
          <a:xfrm>
            <a:off x="8648700" y="200977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0.994</a:t>
            </a:r>
          </a:p>
        </p:txBody>
      </p:sp>
      <p:sp>
        <p:nvSpPr>
          <p:cNvPr id="70" name="Rectangle 69">
            <a:extLst>
              <a:ext uri="{FF2B5EF4-FFF2-40B4-BE49-F238E27FC236}">
                <a16:creationId xmlns:a16="http://schemas.microsoft.com/office/drawing/2014/main" id="{8A164380-3C60-4EE1-AAAA-4383E775ECA8}"/>
              </a:ext>
            </a:extLst>
          </p:cNvPr>
          <p:cNvSpPr>
            <a:spLocks noGrp="1"/>
          </p:cNvSpPr>
          <p:nvPr/>
        </p:nvSpPr>
        <p:spPr>
          <a:xfrm>
            <a:off x="9886950" y="200977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0.996</a:t>
            </a:r>
          </a:p>
        </p:txBody>
      </p:sp>
      <p:sp>
        <p:nvSpPr>
          <p:cNvPr id="71" name="Rectangle 70">
            <a:extLst>
              <a:ext uri="{FF2B5EF4-FFF2-40B4-BE49-F238E27FC236}">
                <a16:creationId xmlns:a16="http://schemas.microsoft.com/office/drawing/2014/main" id="{ACF5BF4F-B630-4ED3-B03F-127BD566563E}"/>
              </a:ext>
            </a:extLst>
          </p:cNvPr>
          <p:cNvSpPr>
            <a:spLocks noGrp="1"/>
          </p:cNvSpPr>
          <p:nvPr/>
        </p:nvSpPr>
        <p:spPr>
          <a:xfrm>
            <a:off x="6153150" y="2381250"/>
            <a:ext cx="4762500" cy="9525"/>
          </a:xfrm>
          <a:prstGeom prst="rect">
            <a:avLst/>
          </a:prstGeom>
          <a:solidFill>
            <a:srgbClr val="3A302A"/>
          </a:solidFill>
          <a:ln w="0">
            <a:solidFill>
              <a:srgbClr val="000000">
                <a:alpha val="0"/>
              </a:srgbClr>
            </a:solidFill>
            <a:prstDash val="solid"/>
          </a:ln>
        </p:spPr>
        <p:txBody>
          <a:bodyPr/>
          <a:lstStyle/>
          <a:p>
            <a:endParaRPr lang="en-US"/>
          </a:p>
        </p:txBody>
      </p:sp>
      <p:sp>
        <p:nvSpPr>
          <p:cNvPr id="72" name="Rectangle 71">
            <a:extLst>
              <a:ext uri="{FF2B5EF4-FFF2-40B4-BE49-F238E27FC236}">
                <a16:creationId xmlns:a16="http://schemas.microsoft.com/office/drawing/2014/main" id="{44A8F5C5-0588-41E4-92D7-92A60750DBA1}"/>
              </a:ext>
            </a:extLst>
          </p:cNvPr>
          <p:cNvSpPr>
            <a:spLocks noGrp="1"/>
          </p:cNvSpPr>
          <p:nvPr/>
        </p:nvSpPr>
        <p:spPr>
          <a:xfrm>
            <a:off x="6172200" y="241935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duration cosine</a:t>
            </a:r>
          </a:p>
        </p:txBody>
      </p:sp>
      <p:sp>
        <p:nvSpPr>
          <p:cNvPr id="73" name="Rectangle 72">
            <a:extLst>
              <a:ext uri="{FF2B5EF4-FFF2-40B4-BE49-F238E27FC236}">
                <a16:creationId xmlns:a16="http://schemas.microsoft.com/office/drawing/2014/main" id="{5C830E8D-C6FF-48E2-B95B-67D53A8061E5}"/>
              </a:ext>
            </a:extLst>
          </p:cNvPr>
          <p:cNvSpPr>
            <a:spLocks noGrp="1"/>
          </p:cNvSpPr>
          <p:nvPr/>
        </p:nvSpPr>
        <p:spPr>
          <a:xfrm>
            <a:off x="7410450" y="241935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1.000</a:t>
            </a:r>
          </a:p>
        </p:txBody>
      </p:sp>
      <p:sp>
        <p:nvSpPr>
          <p:cNvPr id="74" name="Rectangle 73">
            <a:extLst>
              <a:ext uri="{FF2B5EF4-FFF2-40B4-BE49-F238E27FC236}">
                <a16:creationId xmlns:a16="http://schemas.microsoft.com/office/drawing/2014/main" id="{F5C8DE9F-7605-4820-95E1-2C2FC07898DA}"/>
              </a:ext>
            </a:extLst>
          </p:cNvPr>
          <p:cNvSpPr>
            <a:spLocks noGrp="1"/>
          </p:cNvSpPr>
          <p:nvPr/>
        </p:nvSpPr>
        <p:spPr>
          <a:xfrm>
            <a:off x="8648700" y="241935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0.991</a:t>
            </a:r>
          </a:p>
        </p:txBody>
      </p:sp>
      <p:sp>
        <p:nvSpPr>
          <p:cNvPr id="75" name="Rectangle 74">
            <a:extLst>
              <a:ext uri="{FF2B5EF4-FFF2-40B4-BE49-F238E27FC236}">
                <a16:creationId xmlns:a16="http://schemas.microsoft.com/office/drawing/2014/main" id="{778B5ED1-5CC3-4DC6-B221-4C3B9DFA8D8A}"/>
              </a:ext>
            </a:extLst>
          </p:cNvPr>
          <p:cNvSpPr>
            <a:spLocks noGrp="1"/>
          </p:cNvSpPr>
          <p:nvPr/>
        </p:nvSpPr>
        <p:spPr>
          <a:xfrm>
            <a:off x="9886950" y="241935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0.983</a:t>
            </a:r>
          </a:p>
        </p:txBody>
      </p:sp>
      <p:sp>
        <p:nvSpPr>
          <p:cNvPr id="76" name="Rectangle 75">
            <a:extLst>
              <a:ext uri="{FF2B5EF4-FFF2-40B4-BE49-F238E27FC236}">
                <a16:creationId xmlns:a16="http://schemas.microsoft.com/office/drawing/2014/main" id="{E97670EF-AFB6-48ED-BD69-5A0B7D30D30A}"/>
              </a:ext>
            </a:extLst>
          </p:cNvPr>
          <p:cNvSpPr>
            <a:spLocks noGrp="1"/>
          </p:cNvSpPr>
          <p:nvPr/>
        </p:nvSpPr>
        <p:spPr>
          <a:xfrm>
            <a:off x="6153150" y="2790825"/>
            <a:ext cx="4762500" cy="9525"/>
          </a:xfrm>
          <a:prstGeom prst="rect">
            <a:avLst/>
          </a:prstGeom>
          <a:solidFill>
            <a:srgbClr val="3A302A"/>
          </a:solidFill>
          <a:ln w="0">
            <a:solidFill>
              <a:srgbClr val="000000">
                <a:alpha val="0"/>
              </a:srgbClr>
            </a:solidFill>
            <a:prstDash val="solid"/>
          </a:ln>
        </p:spPr>
        <p:txBody>
          <a:bodyPr/>
          <a:lstStyle/>
          <a:p>
            <a:endParaRPr lang="en-US"/>
          </a:p>
        </p:txBody>
      </p:sp>
      <p:sp>
        <p:nvSpPr>
          <p:cNvPr id="77" name="Rectangle 76">
            <a:extLst>
              <a:ext uri="{FF2B5EF4-FFF2-40B4-BE49-F238E27FC236}">
                <a16:creationId xmlns:a16="http://schemas.microsoft.com/office/drawing/2014/main" id="{EA779613-091F-4E99-93FA-22A3809AABA4}"/>
              </a:ext>
            </a:extLst>
          </p:cNvPr>
          <p:cNvSpPr>
            <a:spLocks noGrp="1"/>
          </p:cNvSpPr>
          <p:nvPr/>
        </p:nvSpPr>
        <p:spPr>
          <a:xfrm>
            <a:off x="6172200" y="282892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in-key fraction</a:t>
            </a:r>
          </a:p>
        </p:txBody>
      </p:sp>
      <p:sp>
        <p:nvSpPr>
          <p:cNvPr id="78" name="Rectangle 77">
            <a:extLst>
              <a:ext uri="{FF2B5EF4-FFF2-40B4-BE49-F238E27FC236}">
                <a16:creationId xmlns:a16="http://schemas.microsoft.com/office/drawing/2014/main" id="{FB929092-3417-4372-A732-BD975209520A}"/>
              </a:ext>
            </a:extLst>
          </p:cNvPr>
          <p:cNvSpPr>
            <a:spLocks noGrp="1"/>
          </p:cNvSpPr>
          <p:nvPr/>
        </p:nvSpPr>
        <p:spPr>
          <a:xfrm>
            <a:off x="7410450" y="282892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0.975</a:t>
            </a:r>
          </a:p>
        </p:txBody>
      </p:sp>
      <p:sp>
        <p:nvSpPr>
          <p:cNvPr id="79" name="Rectangle 78">
            <a:extLst>
              <a:ext uri="{FF2B5EF4-FFF2-40B4-BE49-F238E27FC236}">
                <a16:creationId xmlns:a16="http://schemas.microsoft.com/office/drawing/2014/main" id="{361C9583-745C-43D8-A907-C76728B1CE6B}"/>
              </a:ext>
            </a:extLst>
          </p:cNvPr>
          <p:cNvSpPr>
            <a:spLocks noGrp="1"/>
          </p:cNvSpPr>
          <p:nvPr/>
        </p:nvSpPr>
        <p:spPr>
          <a:xfrm>
            <a:off x="8648700" y="282892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0.989</a:t>
            </a:r>
          </a:p>
        </p:txBody>
      </p:sp>
      <p:sp>
        <p:nvSpPr>
          <p:cNvPr id="80" name="Rectangle 79">
            <a:extLst>
              <a:ext uri="{FF2B5EF4-FFF2-40B4-BE49-F238E27FC236}">
                <a16:creationId xmlns:a16="http://schemas.microsoft.com/office/drawing/2014/main" id="{A0569152-1FA2-4170-9B20-06F193B862B1}"/>
              </a:ext>
            </a:extLst>
          </p:cNvPr>
          <p:cNvSpPr>
            <a:spLocks noGrp="1"/>
          </p:cNvSpPr>
          <p:nvPr/>
        </p:nvSpPr>
        <p:spPr>
          <a:xfrm>
            <a:off x="9886950" y="2828925"/>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0.969</a:t>
            </a:r>
          </a:p>
        </p:txBody>
      </p:sp>
      <p:sp>
        <p:nvSpPr>
          <p:cNvPr id="81" name="Rectangle 80">
            <a:extLst>
              <a:ext uri="{FF2B5EF4-FFF2-40B4-BE49-F238E27FC236}">
                <a16:creationId xmlns:a16="http://schemas.microsoft.com/office/drawing/2014/main" id="{9D0C0AE2-6503-48B1-879C-C6E36376CCFD}"/>
              </a:ext>
            </a:extLst>
          </p:cNvPr>
          <p:cNvSpPr>
            <a:spLocks noGrp="1"/>
          </p:cNvSpPr>
          <p:nvPr/>
        </p:nvSpPr>
        <p:spPr>
          <a:xfrm>
            <a:off x="6153150" y="3200400"/>
            <a:ext cx="4762500" cy="9525"/>
          </a:xfrm>
          <a:prstGeom prst="rect">
            <a:avLst/>
          </a:prstGeom>
          <a:solidFill>
            <a:srgbClr val="3A302A"/>
          </a:solidFill>
          <a:ln w="0">
            <a:solidFill>
              <a:srgbClr val="000000">
                <a:alpha val="0"/>
              </a:srgbClr>
            </a:solidFill>
            <a:prstDash val="solid"/>
          </a:ln>
        </p:spPr>
        <p:txBody>
          <a:bodyPr/>
          <a:lstStyle/>
          <a:p>
            <a:endParaRPr lang="en-US"/>
          </a:p>
        </p:txBody>
      </p:sp>
      <p:sp>
        <p:nvSpPr>
          <p:cNvPr id="82" name="Rectangle 81">
            <a:extLst>
              <a:ext uri="{FF2B5EF4-FFF2-40B4-BE49-F238E27FC236}">
                <a16:creationId xmlns:a16="http://schemas.microsoft.com/office/drawing/2014/main" id="{C349B00B-ED04-4790-90AF-958E8F8C479D}"/>
              </a:ext>
            </a:extLst>
          </p:cNvPr>
          <p:cNvSpPr>
            <a:spLocks noGrp="1"/>
          </p:cNvSpPr>
          <p:nvPr/>
        </p:nvSpPr>
        <p:spPr>
          <a:xfrm>
            <a:off x="6172200" y="323850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4-gram diversity</a:t>
            </a:r>
          </a:p>
        </p:txBody>
      </p:sp>
      <p:sp>
        <p:nvSpPr>
          <p:cNvPr id="83" name="Rectangle 82">
            <a:extLst>
              <a:ext uri="{FF2B5EF4-FFF2-40B4-BE49-F238E27FC236}">
                <a16:creationId xmlns:a16="http://schemas.microsoft.com/office/drawing/2014/main" id="{A3D59FC9-75CA-482E-B5B9-CDCDEC6AF283}"/>
              </a:ext>
            </a:extLst>
          </p:cNvPr>
          <p:cNvSpPr>
            <a:spLocks noGrp="1"/>
          </p:cNvSpPr>
          <p:nvPr/>
        </p:nvSpPr>
        <p:spPr>
          <a:xfrm>
            <a:off x="7410450" y="323850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0.020</a:t>
            </a:r>
          </a:p>
        </p:txBody>
      </p:sp>
      <p:sp>
        <p:nvSpPr>
          <p:cNvPr id="84" name="Rectangle 83">
            <a:extLst>
              <a:ext uri="{FF2B5EF4-FFF2-40B4-BE49-F238E27FC236}">
                <a16:creationId xmlns:a16="http://schemas.microsoft.com/office/drawing/2014/main" id="{D5762E62-F066-4846-A72B-1FF967597E81}"/>
              </a:ext>
            </a:extLst>
          </p:cNvPr>
          <p:cNvSpPr>
            <a:spLocks noGrp="1"/>
          </p:cNvSpPr>
          <p:nvPr/>
        </p:nvSpPr>
        <p:spPr>
          <a:xfrm>
            <a:off x="8648700" y="323850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0.043</a:t>
            </a:r>
          </a:p>
        </p:txBody>
      </p:sp>
      <p:sp>
        <p:nvSpPr>
          <p:cNvPr id="85" name="Rectangle 84">
            <a:extLst>
              <a:ext uri="{FF2B5EF4-FFF2-40B4-BE49-F238E27FC236}">
                <a16:creationId xmlns:a16="http://schemas.microsoft.com/office/drawing/2014/main" id="{87BCDD18-F329-46BF-B029-6FEF2B0892CA}"/>
              </a:ext>
            </a:extLst>
          </p:cNvPr>
          <p:cNvSpPr>
            <a:spLocks noGrp="1"/>
          </p:cNvSpPr>
          <p:nvPr/>
        </p:nvSpPr>
        <p:spPr>
          <a:xfrm>
            <a:off x="9886950" y="3238500"/>
            <a:ext cx="10668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4EFE7"/>
                </a:solidFill>
                <a:latin typeface="Aptos"/>
                <a:ea typeface="Aptos"/>
                <a:cs typeface="Aptos"/>
              </a:defRPr>
            </a:pPr>
            <a:r>
              <a:rPr sz="975" b="1">
                <a:solidFill>
                  <a:srgbClr val="F4EFE7"/>
                </a:solidFill>
                <a:latin typeface="Aptos"/>
                <a:ea typeface="Aptos"/>
                <a:cs typeface="Aptos"/>
              </a:rPr>
              <a:t>0.080</a:t>
            </a:r>
          </a:p>
        </p:txBody>
      </p:sp>
      <p:sp>
        <p:nvSpPr>
          <p:cNvPr id="86" name="Rectangle 85">
            <a:extLst>
              <a:ext uri="{FF2B5EF4-FFF2-40B4-BE49-F238E27FC236}">
                <a16:creationId xmlns:a16="http://schemas.microsoft.com/office/drawing/2014/main" id="{4B43729D-6777-4FBD-8A13-FA7DCCC44AAC}"/>
              </a:ext>
            </a:extLst>
          </p:cNvPr>
          <p:cNvSpPr>
            <a:spLocks noGrp="1"/>
          </p:cNvSpPr>
          <p:nvPr/>
        </p:nvSpPr>
        <p:spPr>
          <a:xfrm>
            <a:off x="6248400" y="4057650"/>
            <a:ext cx="2190750" cy="876300"/>
          </a:xfrm>
          <a:prstGeom prst="rect">
            <a:avLst/>
          </a:prstGeom>
          <a:solidFill>
            <a:srgbClr val="27211D"/>
          </a:solidFill>
          <a:ln w="9525">
            <a:solidFill>
              <a:srgbClr val="FFB000"/>
            </a:solidFill>
            <a:prstDash val="solid"/>
          </a:ln>
        </p:spPr>
        <p:txBody>
          <a:bodyPr/>
          <a:lstStyle/>
          <a:p>
            <a:endParaRPr lang="en-US"/>
          </a:p>
        </p:txBody>
      </p:sp>
      <p:sp>
        <p:nvSpPr>
          <p:cNvPr id="87" name="metric-value">
            <a:extLst>
              <a:ext uri="{FF2B5EF4-FFF2-40B4-BE49-F238E27FC236}">
                <a16:creationId xmlns:a16="http://schemas.microsoft.com/office/drawing/2014/main" id="{3CCE6D02-A3C7-4889-AB44-B35A0F1CAD5B}"/>
              </a:ext>
            </a:extLst>
          </p:cNvPr>
          <p:cNvSpPr>
            <a:spLocks noGrp="1"/>
          </p:cNvSpPr>
          <p:nvPr/>
        </p:nvSpPr>
        <p:spPr>
          <a:xfrm>
            <a:off x="6419850" y="4171950"/>
            <a:ext cx="18478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B000"/>
                </a:solidFill>
                <a:latin typeface="Aptos"/>
                <a:ea typeface="Aptos"/>
                <a:cs typeface="Aptos"/>
              </a:defRPr>
            </a:pPr>
            <a:r>
              <a:rPr sz="1950" b="1">
                <a:solidFill>
                  <a:srgbClr val="FFB000"/>
                </a:solidFill>
                <a:latin typeface="Aptos"/>
                <a:ea typeface="Aptos"/>
                <a:cs typeface="Aptos"/>
              </a:rPr>
              <a:t>184 notes</a:t>
            </a:r>
          </a:p>
        </p:txBody>
      </p:sp>
      <p:sp>
        <p:nvSpPr>
          <p:cNvPr id="88" name="metric-label">
            <a:extLst>
              <a:ext uri="{FF2B5EF4-FFF2-40B4-BE49-F238E27FC236}">
                <a16:creationId xmlns:a16="http://schemas.microsoft.com/office/drawing/2014/main" id="{03773382-2012-4E47-831A-3139406A6ED0}"/>
              </a:ext>
            </a:extLst>
          </p:cNvPr>
          <p:cNvSpPr>
            <a:spLocks noGrp="1"/>
          </p:cNvSpPr>
          <p:nvPr/>
        </p:nvSpPr>
        <p:spPr>
          <a:xfrm>
            <a:off x="6419850" y="4552950"/>
            <a:ext cx="1847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sample exported to symbolic_unconditioned.mid</a:t>
            </a:r>
          </a:p>
        </p:txBody>
      </p:sp>
      <p:sp>
        <p:nvSpPr>
          <p:cNvPr id="89" name="Rectangle 88">
            <a:extLst>
              <a:ext uri="{FF2B5EF4-FFF2-40B4-BE49-F238E27FC236}">
                <a16:creationId xmlns:a16="http://schemas.microsoft.com/office/drawing/2014/main" id="{27799A16-4492-4B04-AF88-68727053B9E9}"/>
              </a:ext>
            </a:extLst>
          </p:cNvPr>
          <p:cNvSpPr>
            <a:spLocks noGrp="1"/>
          </p:cNvSpPr>
          <p:nvPr/>
        </p:nvSpPr>
        <p:spPr>
          <a:xfrm>
            <a:off x="8763000" y="4057650"/>
            <a:ext cx="2247900" cy="876300"/>
          </a:xfrm>
          <a:prstGeom prst="rect">
            <a:avLst/>
          </a:prstGeom>
          <a:solidFill>
            <a:srgbClr val="27211D"/>
          </a:solidFill>
          <a:ln w="9525">
            <a:solidFill>
              <a:srgbClr val="6AD58B"/>
            </a:solidFill>
            <a:prstDash val="solid"/>
          </a:ln>
        </p:spPr>
        <p:txBody>
          <a:bodyPr/>
          <a:lstStyle/>
          <a:p>
            <a:endParaRPr lang="en-US"/>
          </a:p>
        </p:txBody>
      </p:sp>
      <p:sp>
        <p:nvSpPr>
          <p:cNvPr id="90" name="metric-value">
            <a:extLst>
              <a:ext uri="{FF2B5EF4-FFF2-40B4-BE49-F238E27FC236}">
                <a16:creationId xmlns:a16="http://schemas.microsoft.com/office/drawing/2014/main" id="{07D2B5FA-6395-426F-B0F6-2B47F5B333CB}"/>
              </a:ext>
            </a:extLst>
          </p:cNvPr>
          <p:cNvSpPr>
            <a:spLocks noGrp="1"/>
          </p:cNvSpPr>
          <p:nvPr/>
        </p:nvSpPr>
        <p:spPr>
          <a:xfrm>
            <a:off x="8934450" y="4171950"/>
            <a:ext cx="1905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6AD58B"/>
                </a:solidFill>
                <a:latin typeface="Aptos"/>
                <a:ea typeface="Aptos"/>
                <a:cs typeface="Aptos"/>
              </a:defRPr>
            </a:pPr>
            <a:r>
              <a:rPr sz="2250" b="1">
                <a:solidFill>
                  <a:srgbClr val="6AD58B"/>
                </a:solidFill>
                <a:latin typeface="Aptos"/>
                <a:ea typeface="Aptos"/>
                <a:cs typeface="Aptos"/>
              </a:rPr>
              <a:t>0.043</a:t>
            </a:r>
          </a:p>
        </p:txBody>
      </p:sp>
      <p:sp>
        <p:nvSpPr>
          <p:cNvPr id="91" name="metric-label">
            <a:extLst>
              <a:ext uri="{FF2B5EF4-FFF2-40B4-BE49-F238E27FC236}">
                <a16:creationId xmlns:a16="http://schemas.microsoft.com/office/drawing/2014/main" id="{FB31E283-83CE-4566-B746-67C1FAA8E332}"/>
              </a:ext>
            </a:extLst>
          </p:cNvPr>
          <p:cNvSpPr>
            <a:spLocks noGrp="1"/>
          </p:cNvSpPr>
          <p:nvPr/>
        </p:nvSpPr>
        <p:spPr>
          <a:xfrm>
            <a:off x="8934450" y="4552950"/>
            <a:ext cx="1905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LSTM 4-gram diversity, closer to real repetition</a:t>
            </a:r>
          </a:p>
        </p:txBody>
      </p:sp>
      <p:sp>
        <p:nvSpPr>
          <p:cNvPr id="92" name="Rectangle 91">
            <a:extLst>
              <a:ext uri="{FF2B5EF4-FFF2-40B4-BE49-F238E27FC236}">
                <a16:creationId xmlns:a16="http://schemas.microsoft.com/office/drawing/2014/main" id="{A1F8FA87-EC87-4A3B-88F7-AA87AA81CA98}"/>
              </a:ext>
            </a:extLst>
          </p:cNvPr>
          <p:cNvSpPr>
            <a:spLocks noGrp="1"/>
          </p:cNvSpPr>
          <p:nvPr/>
        </p:nvSpPr>
        <p:spPr>
          <a:xfrm>
            <a:off x="6191250" y="5029200"/>
            <a:ext cx="476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The nuance is repetition: Markov is too random, while the LSTM stays closer to the repetitive structure of real folk tunes.</a:t>
            </a:r>
          </a:p>
        </p:txBody>
      </p:sp>
    </p:spTree>
    <p:extLst>
      <p:ext uri="{BB962C8B-B14F-4D97-AF65-F5344CB8AC3E}">
        <p14:creationId xmlns:p14="http://schemas.microsoft.com/office/powerpoint/2010/main" val="600661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6D75BF9F-230E-404F-96FF-39C5CEF3E9CE}"/>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777A8761-6EAB-45FD-9BF4-1D247AB7CD0C}"/>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843F184B-F209-41BC-92C5-A9218C9EA85E}"/>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57039A2A-E3A3-46B0-95D1-4230CA77856B}"/>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551429A-3D98-425D-9E0A-74C7D24CC342}"/>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5F8F04B-EA8C-4885-B802-A0C1715694B5}"/>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FE389EAC-8D72-4C08-AD3E-D9CDF6A267F6}"/>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A32CCE13-E8E6-4A75-9D00-8DE7775DEAE5}"/>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5FB37037-ABCD-44E1-A230-0F7D3B573D4A}"/>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DC216996-C8B1-4AA3-8297-4496A4FCFD57}"/>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8FC4DAD5-2FC0-42E9-9CCF-AAF72E9E58C3}"/>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14E3462F-0D01-472E-B177-46D44B673AA6}"/>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73CE03D8-969D-413B-8541-780B0EE7D49E}"/>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BBA5BB4A-0B6C-4B39-B1B7-C4EE16C55A84}"/>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A23B8069-336D-4CBC-8C8F-696232D24FFF}"/>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BB3A887F-8A9B-4F63-AA96-52D538538CE3}"/>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4FF3746-2D72-4E9E-89C0-FB935D44178B}"/>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4ECFBEA3-FF66-4180-896C-ED64319A8A52}"/>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769D9EC8-F90D-4C8F-9A00-922921BDA4D9}"/>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99EE166D-A968-403D-819C-FEDF140B0318}"/>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ADE27189-53C5-4768-9198-32E578186747}"/>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DFD20FF3-7153-4CF5-83F5-2F77C00DBC37}"/>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8DF4D6AB-2187-40D6-A87B-774652F0E4F3}"/>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331B4130-7D9F-42EB-B639-A02F239FB5E1}"/>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D1204465-E444-49AF-8F22-CE1FE67B07BE}"/>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BA400EF8-C45C-4A92-8DB5-4497FEE03D6C}"/>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8233ACF-0B71-493D-8116-207388BBA2E1}"/>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14516989-739B-4D43-98DE-068969C1B1FD}"/>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BD0B48A4-1159-42A9-9248-3ED8A69E69A5}"/>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5AE51BA2-6E17-4E82-A298-645EAF4E0059}"/>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AC411246-5734-4DCF-8A04-F574D734B6CD}"/>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C1194429-2B16-4ED7-BD9B-A8F05288E9EF}"/>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C0CA438A-88D0-4370-96B1-D9E4967D8F03}"/>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8AEC9B3D-9C16-4D3F-B1CE-AAD5FEE2092A}"/>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17065A32-A418-4D20-ACEC-25F88C10D8AC}"/>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644072CF-764E-4DD1-AE1D-C65E13EF6F0B}"/>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DAE197AA-0845-4DBB-B346-5AFF1EF38D0F}"/>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62AFA3F5-8192-4895-8C1F-4EAB9FBE8135}"/>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3246E82B-4473-4F84-890F-C46B02EAFF95}"/>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37B6AE13-A698-474F-A929-EFA857ED2597}"/>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4606A3BB-43E1-4769-8715-023621527983}"/>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322D5112-C6F9-4E90-8AC7-D002BA690235}"/>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D8D2A24B-4D2E-4BA8-B330-8E59B24EB732}"/>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A2E971D4-8BAB-48F4-814F-113D63139155}"/>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826D41D8-1A81-472D-B252-E1C9A9557FFB}"/>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4AF185B7-0E73-44F2-9BDC-8289657DC311}"/>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49E3E37F-BE9E-4C8F-BE58-690C34CAF02D}"/>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56CD2509-5DD9-4F09-853B-87C479D75904}"/>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A51B265F-5325-4527-AA20-2649E8E9D479}"/>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A14AE360-895C-4E50-A8F2-7D70CFE4027B}"/>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1B4FAB5D-DBB8-4851-B111-E4018DB32BE8}"/>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C59B7F93-1EEF-44FB-B736-6C5EAE630A72}"/>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8D6B94"/>
                </a:solidFill>
                <a:latin typeface="Aptos"/>
                <a:ea typeface="Aptos"/>
                <a:cs typeface="Aptos"/>
              </a:defRPr>
            </a:pPr>
            <a:r>
              <a:rPr sz="975" b="1">
                <a:solidFill>
                  <a:srgbClr val="8D6B94"/>
                </a:solidFill>
                <a:latin typeface="Aptos"/>
                <a:ea typeface="Aptos"/>
                <a:cs typeface="Aptos"/>
              </a:rPr>
              <a:t>symbolic conditioned generation</a:t>
            </a:r>
          </a:p>
        </p:txBody>
      </p:sp>
      <p:sp>
        <p:nvSpPr>
          <p:cNvPr id="53" name="slide-title">
            <a:extLst>
              <a:ext uri="{FF2B5EF4-FFF2-40B4-BE49-F238E27FC236}">
                <a16:creationId xmlns:a16="http://schemas.microsoft.com/office/drawing/2014/main" id="{D8682E35-5849-4195-A15F-951BA611591E}"/>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Task 2 turns melody into one chord label per bar</a:t>
            </a:r>
          </a:p>
        </p:txBody>
      </p:sp>
      <p:sp>
        <p:nvSpPr>
          <p:cNvPr id="54" name="page-number">
            <a:extLst>
              <a:ext uri="{FF2B5EF4-FFF2-40B4-BE49-F238E27FC236}">
                <a16:creationId xmlns:a16="http://schemas.microsoft.com/office/drawing/2014/main" id="{EEE0CE2C-2ED1-47B6-9FDC-8F3C68CDF35C}"/>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9</a:t>
            </a:r>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10668000" y="400050"/>
            <a:ext cx="419100" cy="419100"/>
          </a:xfrm>
          <a:prstGeom prst="rect">
            <a:avLst/>
          </a:prstGeom>
        </p:spPr>
      </p:pic>
      <p:sp>
        <p:nvSpPr>
          <p:cNvPr id="56" name="Rectangle 55">
            <a:extLst>
              <a:ext uri="{FF2B5EF4-FFF2-40B4-BE49-F238E27FC236}">
                <a16:creationId xmlns:a16="http://schemas.microsoft.com/office/drawing/2014/main" id="{C1E746B3-8096-4AFF-9732-DBFB789DF803}"/>
              </a:ext>
            </a:extLst>
          </p:cNvPr>
          <p:cNvSpPr>
            <a:spLocks noGrp="1"/>
          </p:cNvSpPr>
          <p:nvPr/>
        </p:nvSpPr>
        <p:spPr>
          <a:xfrm>
            <a:off x="762000" y="1695450"/>
            <a:ext cx="2476500" cy="2000250"/>
          </a:xfrm>
          <a:prstGeom prst="rect">
            <a:avLst/>
          </a:prstGeom>
          <a:solidFill>
            <a:srgbClr val="27211D"/>
          </a:solidFill>
          <a:ln w="9525">
            <a:solidFill>
              <a:srgbClr val="2EC4B6"/>
            </a:solidFill>
            <a:prstDash val="solid"/>
          </a:ln>
        </p:spPr>
        <p:txBody>
          <a:bodyPr/>
          <a:lstStyle/>
          <a:p>
            <a:endParaRPr lang="en-US"/>
          </a:p>
        </p:txBody>
      </p:sp>
      <p:sp>
        <p:nvSpPr>
          <p:cNvPr id="57" name="Rectangle 56">
            <a:extLst>
              <a:ext uri="{FF2B5EF4-FFF2-40B4-BE49-F238E27FC236}">
                <a16:creationId xmlns:a16="http://schemas.microsoft.com/office/drawing/2014/main" id="{43658E19-2C34-42E3-A780-5A104EA59D6E}"/>
              </a:ext>
            </a:extLst>
          </p:cNvPr>
          <p:cNvSpPr>
            <a:spLocks noGrp="1"/>
          </p:cNvSpPr>
          <p:nvPr/>
        </p:nvSpPr>
        <p:spPr>
          <a:xfrm>
            <a:off x="1085850" y="2000250"/>
            <a:ext cx="1905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melody bar</a:t>
            </a:r>
          </a:p>
        </p:txBody>
      </p:sp>
      <p:sp>
        <p:nvSpPr>
          <p:cNvPr id="58" name="Rectangle 57">
            <a:extLst>
              <a:ext uri="{FF2B5EF4-FFF2-40B4-BE49-F238E27FC236}">
                <a16:creationId xmlns:a16="http://schemas.microsoft.com/office/drawing/2014/main" id="{9B2472FE-E413-4F63-BF95-73C79BB759DE}"/>
              </a:ext>
            </a:extLst>
          </p:cNvPr>
          <p:cNvSpPr>
            <a:spLocks noGrp="1"/>
          </p:cNvSpPr>
          <p:nvPr/>
        </p:nvSpPr>
        <p:spPr>
          <a:xfrm>
            <a:off x="1085850" y="2419350"/>
            <a:ext cx="18097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BFB6AA"/>
                </a:solidFill>
                <a:latin typeface="Aptos"/>
                <a:ea typeface="Aptos"/>
                <a:cs typeface="Aptos"/>
              </a:defRPr>
            </a:pPr>
            <a:r>
              <a:rPr sz="1350" b="0">
                <a:solidFill>
                  <a:srgbClr val="BFB6AA"/>
                </a:solidFill>
                <a:latin typeface="Aptos"/>
                <a:ea typeface="Aptos"/>
                <a:cs typeface="Aptos"/>
              </a:rPr>
              <a:t>duration-weighted notes</a:t>
            </a:r>
          </a:p>
        </p:txBody>
      </p:sp>
      <p:sp>
        <p:nvSpPr>
          <p:cNvPr id="59" name="Rectangle 58">
            <a:extLst>
              <a:ext uri="{FF2B5EF4-FFF2-40B4-BE49-F238E27FC236}">
                <a16:creationId xmlns:a16="http://schemas.microsoft.com/office/drawing/2014/main" id="{67F2C030-2E1C-46CB-9B6B-A76368BAE7A0}"/>
              </a:ext>
            </a:extLst>
          </p:cNvPr>
          <p:cNvSpPr>
            <a:spLocks noGrp="1"/>
          </p:cNvSpPr>
          <p:nvPr/>
        </p:nvSpPr>
        <p:spPr>
          <a:xfrm>
            <a:off x="1085850" y="3009900"/>
            <a:ext cx="180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EC4B6"/>
                </a:solidFill>
                <a:latin typeface="Aptos Mono"/>
                <a:ea typeface="Aptos Mono"/>
                <a:cs typeface="Aptos Mono"/>
              </a:defRPr>
            </a:pPr>
            <a:r>
              <a:rPr sz="1350" b="1">
                <a:solidFill>
                  <a:srgbClr val="2EC4B6"/>
                </a:solidFill>
                <a:latin typeface="Aptos Mono"/>
                <a:ea typeface="Aptos Mono"/>
                <a:cs typeface="Aptos Mono"/>
              </a:rPr>
              <a:t>C  D  E  F  G  A  B</a:t>
            </a:r>
          </a:p>
        </p:txBody>
      </p:sp>
      <p:sp>
        <p:nvSpPr>
          <p:cNvPr id="60" name="Rectangle 59">
            <a:extLst>
              <a:ext uri="{FF2B5EF4-FFF2-40B4-BE49-F238E27FC236}">
                <a16:creationId xmlns:a16="http://schemas.microsoft.com/office/drawing/2014/main" id="{D0DCACAE-3A1E-4E15-9BFB-42D5F2325264}"/>
              </a:ext>
            </a:extLst>
          </p:cNvPr>
          <p:cNvSpPr>
            <a:spLocks noGrp="1"/>
          </p:cNvSpPr>
          <p:nvPr/>
        </p:nvSpPr>
        <p:spPr>
          <a:xfrm>
            <a:off x="3333750" y="2705100"/>
            <a:ext cx="1162050" cy="19050"/>
          </a:xfrm>
          <a:prstGeom prst="rect">
            <a:avLst/>
          </a:prstGeom>
          <a:solidFill>
            <a:srgbClr val="8D6B94"/>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7FAF18CF-C0BF-4B6C-BB04-2A2652FF6E71}"/>
              </a:ext>
            </a:extLst>
          </p:cNvPr>
          <p:cNvSpPr>
            <a:spLocks noGrp="1"/>
          </p:cNvSpPr>
          <p:nvPr/>
        </p:nvSpPr>
        <p:spPr>
          <a:xfrm>
            <a:off x="4419600" y="2657475"/>
            <a:ext cx="95250" cy="114300"/>
          </a:xfrm>
          <a:prstGeom prst="rect">
            <a:avLst/>
          </a:prstGeom>
          <a:solidFill>
            <a:srgbClr val="8D6B94"/>
          </a:solidFill>
          <a:ln w="0">
            <a:solidFill>
              <a:srgbClr val="000000">
                <a:alpha val="0"/>
              </a:srgbClr>
            </a:solidFill>
            <a:prstDash val="solid"/>
          </a:ln>
        </p:spPr>
        <p:txBody>
          <a:bodyPr/>
          <a:lstStyle/>
          <a:p>
            <a:endParaRPr lang="en-US"/>
          </a:p>
        </p:txBody>
      </p:sp>
      <p:sp>
        <p:nvSpPr>
          <p:cNvPr id="62" name="Rectangle 61">
            <a:extLst>
              <a:ext uri="{FF2B5EF4-FFF2-40B4-BE49-F238E27FC236}">
                <a16:creationId xmlns:a16="http://schemas.microsoft.com/office/drawing/2014/main" id="{1B646D2D-0AC5-4930-AEDE-520FC58172B7}"/>
              </a:ext>
            </a:extLst>
          </p:cNvPr>
          <p:cNvSpPr>
            <a:spLocks noGrp="1"/>
          </p:cNvSpPr>
          <p:nvPr/>
        </p:nvSpPr>
        <p:spPr>
          <a:xfrm>
            <a:off x="4610100" y="1695450"/>
            <a:ext cx="2857500" cy="2000250"/>
          </a:xfrm>
          <a:prstGeom prst="rect">
            <a:avLst/>
          </a:prstGeom>
          <a:solidFill>
            <a:srgbClr val="27211D"/>
          </a:solidFill>
          <a:ln w="9525">
            <a:solidFill>
              <a:srgbClr val="8D6B94"/>
            </a:solidFill>
            <a:prstDash val="solid"/>
          </a:ln>
        </p:spPr>
        <p:txBody>
          <a:bodyPr/>
          <a:lstStyle/>
          <a:p>
            <a:endParaRPr lang="en-US"/>
          </a:p>
        </p:txBody>
      </p:sp>
      <p:sp>
        <p:nvSpPr>
          <p:cNvPr id="63" name="Rectangle 62">
            <a:extLst>
              <a:ext uri="{FF2B5EF4-FFF2-40B4-BE49-F238E27FC236}">
                <a16:creationId xmlns:a16="http://schemas.microsoft.com/office/drawing/2014/main" id="{30B80B77-AB7D-4A1E-8E8C-6B877F706261}"/>
              </a:ext>
            </a:extLst>
          </p:cNvPr>
          <p:cNvSpPr>
            <a:spLocks noGrp="1"/>
          </p:cNvSpPr>
          <p:nvPr/>
        </p:nvSpPr>
        <p:spPr>
          <a:xfrm>
            <a:off x="4953000" y="2000250"/>
            <a:ext cx="2190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12-d pitch-class vector</a:t>
            </a:r>
          </a:p>
        </p:txBody>
      </p:sp>
      <p:sp>
        <p:nvSpPr>
          <p:cNvPr id="64" name="Rectangle 63">
            <a:extLst>
              <a:ext uri="{FF2B5EF4-FFF2-40B4-BE49-F238E27FC236}">
                <a16:creationId xmlns:a16="http://schemas.microsoft.com/office/drawing/2014/main" id="{9889E693-0C46-420D-A243-9B0ED5119CC2}"/>
              </a:ext>
            </a:extLst>
          </p:cNvPr>
          <p:cNvSpPr>
            <a:spLocks noGrp="1"/>
          </p:cNvSpPr>
          <p:nvPr/>
        </p:nvSpPr>
        <p:spPr>
          <a:xfrm>
            <a:off x="4953000" y="2647950"/>
            <a:ext cx="2095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8D6B94"/>
                </a:solidFill>
                <a:latin typeface="Aptos Mono"/>
                <a:ea typeface="Aptos Mono"/>
                <a:cs typeface="Aptos Mono"/>
              </a:defRPr>
            </a:pPr>
            <a:r>
              <a:rPr sz="1725" b="1">
                <a:solidFill>
                  <a:srgbClr val="8D6B94"/>
                </a:solidFill>
                <a:latin typeface="Aptos Mono"/>
                <a:ea typeface="Aptos Mono"/>
                <a:cs typeface="Aptos Mono"/>
              </a:rPr>
              <a:t>[0.42, 0, 0.20, ...]</a:t>
            </a:r>
          </a:p>
        </p:txBody>
      </p:sp>
      <p:sp>
        <p:nvSpPr>
          <p:cNvPr id="65" name="Rectangle 64">
            <a:extLst>
              <a:ext uri="{FF2B5EF4-FFF2-40B4-BE49-F238E27FC236}">
                <a16:creationId xmlns:a16="http://schemas.microsoft.com/office/drawing/2014/main" id="{1EDC71AE-B2E9-44A5-896F-22B298F0F71E}"/>
              </a:ext>
            </a:extLst>
          </p:cNvPr>
          <p:cNvSpPr>
            <a:spLocks noGrp="1"/>
          </p:cNvSpPr>
          <p:nvPr/>
        </p:nvSpPr>
        <p:spPr>
          <a:xfrm>
            <a:off x="7562850" y="2705100"/>
            <a:ext cx="1104900" cy="19050"/>
          </a:xfrm>
          <a:prstGeom prst="rect">
            <a:avLst/>
          </a:prstGeom>
          <a:solidFill>
            <a:srgbClr val="FFB000"/>
          </a:solidFill>
          <a:ln w="0">
            <a:solidFill>
              <a:srgbClr val="000000">
                <a:alpha val="0"/>
              </a:srgbClr>
            </a:solidFill>
            <a:prstDash val="solid"/>
          </a:ln>
        </p:spPr>
        <p:txBody>
          <a:bodyPr/>
          <a:lstStyle/>
          <a:p>
            <a:endParaRPr lang="en-US"/>
          </a:p>
        </p:txBody>
      </p:sp>
      <p:sp>
        <p:nvSpPr>
          <p:cNvPr id="66" name="Rectangle 65">
            <a:extLst>
              <a:ext uri="{FF2B5EF4-FFF2-40B4-BE49-F238E27FC236}">
                <a16:creationId xmlns:a16="http://schemas.microsoft.com/office/drawing/2014/main" id="{6B446F87-D717-4E66-86AB-F60FDD992413}"/>
              </a:ext>
            </a:extLst>
          </p:cNvPr>
          <p:cNvSpPr>
            <a:spLocks noGrp="1"/>
          </p:cNvSpPr>
          <p:nvPr/>
        </p:nvSpPr>
        <p:spPr>
          <a:xfrm>
            <a:off x="8591550" y="2657475"/>
            <a:ext cx="95250" cy="114300"/>
          </a:xfrm>
          <a:prstGeom prst="rect">
            <a:avLst/>
          </a:prstGeom>
          <a:solidFill>
            <a:srgbClr val="FFB000"/>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4E78674E-89C6-4B8D-9208-4B6B83B1DC67}"/>
              </a:ext>
            </a:extLst>
          </p:cNvPr>
          <p:cNvSpPr>
            <a:spLocks noGrp="1"/>
          </p:cNvSpPr>
          <p:nvPr/>
        </p:nvSpPr>
        <p:spPr>
          <a:xfrm>
            <a:off x="8782050" y="1695450"/>
            <a:ext cx="2476500" cy="2000250"/>
          </a:xfrm>
          <a:prstGeom prst="rect">
            <a:avLst/>
          </a:prstGeom>
          <a:solidFill>
            <a:srgbClr val="27211D"/>
          </a:solidFill>
          <a:ln w="9525">
            <a:solidFill>
              <a:srgbClr val="FFB000"/>
            </a:solidFill>
            <a:prstDash val="solid"/>
          </a:ln>
        </p:spPr>
        <p:txBody>
          <a:bodyPr/>
          <a:lstStyle/>
          <a:p>
            <a:endParaRPr lang="en-US"/>
          </a:p>
        </p:txBody>
      </p:sp>
      <p:sp>
        <p:nvSpPr>
          <p:cNvPr id="68" name="Rectangle 67">
            <a:extLst>
              <a:ext uri="{FF2B5EF4-FFF2-40B4-BE49-F238E27FC236}">
                <a16:creationId xmlns:a16="http://schemas.microsoft.com/office/drawing/2014/main" id="{E7041E8D-814E-461B-970B-9D1384201CD1}"/>
              </a:ext>
            </a:extLst>
          </p:cNvPr>
          <p:cNvSpPr>
            <a:spLocks noGrp="1"/>
          </p:cNvSpPr>
          <p:nvPr/>
        </p:nvSpPr>
        <p:spPr>
          <a:xfrm>
            <a:off x="9105900" y="2000250"/>
            <a:ext cx="1809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chord label</a:t>
            </a:r>
          </a:p>
        </p:txBody>
      </p:sp>
      <p:sp>
        <p:nvSpPr>
          <p:cNvPr id="69" name="Rectangle 68">
            <a:extLst>
              <a:ext uri="{FF2B5EF4-FFF2-40B4-BE49-F238E27FC236}">
                <a16:creationId xmlns:a16="http://schemas.microsoft.com/office/drawing/2014/main" id="{31C660CD-EAC8-4368-AC5C-F3CE872A52F4}"/>
              </a:ext>
            </a:extLst>
          </p:cNvPr>
          <p:cNvSpPr>
            <a:spLocks noGrp="1"/>
          </p:cNvSpPr>
          <p:nvPr/>
        </p:nvSpPr>
        <p:spPr>
          <a:xfrm>
            <a:off x="9105900" y="2686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B000"/>
                </a:solidFill>
                <a:latin typeface="Aptos"/>
                <a:ea typeface="Aptos"/>
                <a:cs typeface="Aptos"/>
              </a:defRPr>
            </a:pPr>
            <a:r>
              <a:rPr sz="1875" b="1">
                <a:solidFill>
                  <a:srgbClr val="FFB000"/>
                </a:solidFill>
                <a:latin typeface="Aptos"/>
                <a:ea typeface="Aptos"/>
                <a:cs typeface="Aptos"/>
              </a:rPr>
              <a:t>C, G7, F, Am, ...</a:t>
            </a:r>
          </a:p>
        </p:txBody>
      </p:sp>
      <p:sp>
        <p:nvSpPr>
          <p:cNvPr id="70" name="Rectangle 69">
            <a:extLst>
              <a:ext uri="{FF2B5EF4-FFF2-40B4-BE49-F238E27FC236}">
                <a16:creationId xmlns:a16="http://schemas.microsoft.com/office/drawing/2014/main" id="{166B470D-1197-4320-B088-3A293963328C}"/>
              </a:ext>
            </a:extLst>
          </p:cNvPr>
          <p:cNvSpPr>
            <a:spLocks noGrp="1"/>
          </p:cNvSpPr>
          <p:nvPr/>
        </p:nvSpPr>
        <p:spPr>
          <a:xfrm>
            <a:off x="1047750" y="4438650"/>
            <a:ext cx="2857500" cy="876300"/>
          </a:xfrm>
          <a:prstGeom prst="rect">
            <a:avLst/>
          </a:prstGeom>
          <a:solidFill>
            <a:srgbClr val="27211D"/>
          </a:solidFill>
          <a:ln w="9525">
            <a:solidFill>
              <a:srgbClr val="2EC4B6"/>
            </a:solidFill>
            <a:prstDash val="solid"/>
          </a:ln>
        </p:spPr>
        <p:txBody>
          <a:bodyPr/>
          <a:lstStyle/>
          <a:p>
            <a:endParaRPr lang="en-US"/>
          </a:p>
        </p:txBody>
      </p:sp>
      <p:sp>
        <p:nvSpPr>
          <p:cNvPr id="71" name="metric-value">
            <a:extLst>
              <a:ext uri="{FF2B5EF4-FFF2-40B4-BE49-F238E27FC236}">
                <a16:creationId xmlns:a16="http://schemas.microsoft.com/office/drawing/2014/main" id="{76C33AB5-2C6A-430A-A3C4-9BEC991A8E87}"/>
              </a:ext>
            </a:extLst>
          </p:cNvPr>
          <p:cNvSpPr>
            <a:spLocks noGrp="1"/>
          </p:cNvSpPr>
          <p:nvPr/>
        </p:nvSpPr>
        <p:spPr>
          <a:xfrm>
            <a:off x="1219200" y="4552950"/>
            <a:ext cx="2514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EC4B6"/>
                </a:solidFill>
                <a:latin typeface="Aptos"/>
                <a:ea typeface="Aptos"/>
                <a:cs typeface="Aptos"/>
              </a:defRPr>
            </a:pPr>
            <a:r>
              <a:rPr sz="1875" b="1">
                <a:solidFill>
                  <a:srgbClr val="2EC4B6"/>
                </a:solidFill>
                <a:latin typeface="Aptos"/>
                <a:ea typeface="Aptos"/>
                <a:cs typeface="Aptos"/>
              </a:rPr>
              <a:t>bar-level</a:t>
            </a:r>
          </a:p>
        </p:txBody>
      </p:sp>
      <p:sp>
        <p:nvSpPr>
          <p:cNvPr id="72" name="metric-label">
            <a:extLst>
              <a:ext uri="{FF2B5EF4-FFF2-40B4-BE49-F238E27FC236}">
                <a16:creationId xmlns:a16="http://schemas.microsoft.com/office/drawing/2014/main" id="{67339C9A-5AD0-4B7E-A97E-DFFB1872D020}"/>
              </a:ext>
            </a:extLst>
          </p:cNvPr>
          <p:cNvSpPr>
            <a:spLocks noGrp="1"/>
          </p:cNvSpPr>
          <p:nvPr/>
        </p:nvSpPr>
        <p:spPr>
          <a:xfrm>
            <a:off x="1219200" y="4933950"/>
            <a:ext cx="2514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sequence labeling, not full audio synthesis</a:t>
            </a:r>
          </a:p>
        </p:txBody>
      </p:sp>
      <p:sp>
        <p:nvSpPr>
          <p:cNvPr id="73" name="Rectangle 72">
            <a:extLst>
              <a:ext uri="{FF2B5EF4-FFF2-40B4-BE49-F238E27FC236}">
                <a16:creationId xmlns:a16="http://schemas.microsoft.com/office/drawing/2014/main" id="{59AB6BFA-6782-481B-95AC-0273E85E15CE}"/>
              </a:ext>
            </a:extLst>
          </p:cNvPr>
          <p:cNvSpPr>
            <a:spLocks noGrp="1"/>
          </p:cNvSpPr>
          <p:nvPr/>
        </p:nvSpPr>
        <p:spPr>
          <a:xfrm>
            <a:off x="4667250" y="4438650"/>
            <a:ext cx="2857500" cy="876300"/>
          </a:xfrm>
          <a:prstGeom prst="rect">
            <a:avLst/>
          </a:prstGeom>
          <a:solidFill>
            <a:srgbClr val="27211D"/>
          </a:solidFill>
          <a:ln w="9525">
            <a:solidFill>
              <a:srgbClr val="FFB000"/>
            </a:solidFill>
            <a:prstDash val="solid"/>
          </a:ln>
        </p:spPr>
        <p:txBody>
          <a:bodyPr/>
          <a:lstStyle/>
          <a:p>
            <a:endParaRPr lang="en-US"/>
          </a:p>
        </p:txBody>
      </p:sp>
      <p:sp>
        <p:nvSpPr>
          <p:cNvPr id="74" name="metric-value">
            <a:extLst>
              <a:ext uri="{FF2B5EF4-FFF2-40B4-BE49-F238E27FC236}">
                <a16:creationId xmlns:a16="http://schemas.microsoft.com/office/drawing/2014/main" id="{7588AED2-B3A8-413D-8C7D-69C3631046AA}"/>
              </a:ext>
            </a:extLst>
          </p:cNvPr>
          <p:cNvSpPr>
            <a:spLocks noGrp="1"/>
          </p:cNvSpPr>
          <p:nvPr/>
        </p:nvSpPr>
        <p:spPr>
          <a:xfrm>
            <a:off x="4838700" y="4552950"/>
            <a:ext cx="2514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B000"/>
                </a:solidFill>
                <a:latin typeface="Aptos"/>
                <a:ea typeface="Aptos"/>
                <a:cs typeface="Aptos"/>
              </a:defRPr>
            </a:pPr>
            <a:r>
              <a:rPr sz="1875" b="1">
                <a:solidFill>
                  <a:srgbClr val="FFB000"/>
                </a:solidFill>
                <a:latin typeface="Aptos"/>
                <a:ea typeface="Aptos"/>
                <a:cs typeface="Aptos"/>
              </a:rPr>
              <a:t>chord + root</a:t>
            </a:r>
          </a:p>
        </p:txBody>
      </p:sp>
      <p:sp>
        <p:nvSpPr>
          <p:cNvPr id="75" name="metric-label">
            <a:extLst>
              <a:ext uri="{FF2B5EF4-FFF2-40B4-BE49-F238E27FC236}">
                <a16:creationId xmlns:a16="http://schemas.microsoft.com/office/drawing/2014/main" id="{B7623E19-639E-4F3F-9893-377C6E365818}"/>
              </a:ext>
            </a:extLst>
          </p:cNvPr>
          <p:cNvSpPr>
            <a:spLocks noGrp="1"/>
          </p:cNvSpPr>
          <p:nvPr/>
        </p:nvSpPr>
        <p:spPr>
          <a:xfrm>
            <a:off x="4838700" y="4933950"/>
            <a:ext cx="2514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evaluation metrics</a:t>
            </a:r>
          </a:p>
        </p:txBody>
      </p:sp>
      <p:sp>
        <p:nvSpPr>
          <p:cNvPr id="76" name="Rectangle 75">
            <a:extLst>
              <a:ext uri="{FF2B5EF4-FFF2-40B4-BE49-F238E27FC236}">
                <a16:creationId xmlns:a16="http://schemas.microsoft.com/office/drawing/2014/main" id="{AE59717D-0582-4CDE-AE81-1D8AF4A4EE24}"/>
              </a:ext>
            </a:extLst>
          </p:cNvPr>
          <p:cNvSpPr>
            <a:spLocks noGrp="1"/>
          </p:cNvSpPr>
          <p:nvPr/>
        </p:nvSpPr>
        <p:spPr>
          <a:xfrm>
            <a:off x="8286750" y="4438650"/>
            <a:ext cx="2857500" cy="876300"/>
          </a:xfrm>
          <a:prstGeom prst="rect">
            <a:avLst/>
          </a:prstGeom>
          <a:solidFill>
            <a:srgbClr val="27211D"/>
          </a:solidFill>
          <a:ln w="9525">
            <a:solidFill>
              <a:srgbClr val="FF5A5F"/>
            </a:solidFill>
            <a:prstDash val="solid"/>
          </a:ln>
        </p:spPr>
        <p:txBody>
          <a:bodyPr/>
          <a:lstStyle/>
          <a:p>
            <a:endParaRPr lang="en-US"/>
          </a:p>
        </p:txBody>
      </p:sp>
      <p:sp>
        <p:nvSpPr>
          <p:cNvPr id="77" name="metric-value">
            <a:extLst>
              <a:ext uri="{FF2B5EF4-FFF2-40B4-BE49-F238E27FC236}">
                <a16:creationId xmlns:a16="http://schemas.microsoft.com/office/drawing/2014/main" id="{F4E2DB91-2DF2-4184-98E4-3FB2D0995522}"/>
              </a:ext>
            </a:extLst>
          </p:cNvPr>
          <p:cNvSpPr>
            <a:spLocks noGrp="1"/>
          </p:cNvSpPr>
          <p:nvPr/>
        </p:nvSpPr>
        <p:spPr>
          <a:xfrm>
            <a:off x="8458200" y="4552950"/>
            <a:ext cx="25146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FF5A5F"/>
                </a:solidFill>
                <a:latin typeface="Aptos"/>
                <a:ea typeface="Aptos"/>
                <a:cs typeface="Aptos"/>
              </a:defRPr>
            </a:pPr>
            <a:r>
              <a:rPr sz="1725" b="1">
                <a:solidFill>
                  <a:srgbClr val="FF5A5F"/>
                </a:solidFill>
                <a:latin typeface="Aptos"/>
                <a:ea typeface="Aptos"/>
                <a:cs typeface="Aptos"/>
              </a:rPr>
              <a:t>multiple answers</a:t>
            </a:r>
          </a:p>
        </p:txBody>
      </p:sp>
      <p:sp>
        <p:nvSpPr>
          <p:cNvPr id="78" name="metric-label">
            <a:extLst>
              <a:ext uri="{FF2B5EF4-FFF2-40B4-BE49-F238E27FC236}">
                <a16:creationId xmlns:a16="http://schemas.microsoft.com/office/drawing/2014/main" id="{D529A55E-4F3E-4D17-A38E-1DCE2F289BCB}"/>
              </a:ext>
            </a:extLst>
          </p:cNvPr>
          <p:cNvSpPr>
            <a:spLocks noGrp="1"/>
          </p:cNvSpPr>
          <p:nvPr/>
        </p:nvSpPr>
        <p:spPr>
          <a:xfrm>
            <a:off x="8458200" y="4933950"/>
            <a:ext cx="2514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accuracy under-counts musical acceptability</a:t>
            </a:r>
          </a:p>
        </p:txBody>
      </p:sp>
    </p:spTree>
    <p:extLst>
      <p:ext uri="{BB962C8B-B14F-4D97-AF65-F5344CB8AC3E}">
        <p14:creationId xmlns:p14="http://schemas.microsoft.com/office/powerpoint/2010/main" val="2022450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BD8CF759-F1DA-4DB8-A630-EA0594045CB3}"/>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18AB645-7B63-45F9-A163-D4225BAC51DD}"/>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624F074-75B7-4546-96FE-A3DC7F07EBD9}"/>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3DA4A12F-E1C1-4590-8B3D-1C60DC58E4A4}"/>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89F9879-255A-4216-A3D9-A7CE0C34A682}"/>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3DF2582-0BC1-4872-86EB-C8EC905D68C6}"/>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94489511-E9A3-492E-8CB0-55309FFFA66C}"/>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53B1609A-8B49-4065-A102-91CB6CAFC3EB}"/>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D8128687-3E23-4DB1-AC3F-F4F6E1BEC13E}"/>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5B4D340D-D6D1-45AA-96DB-3EB43DA1A804}"/>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7FF9F058-C20F-438E-BD02-E83B6475E5AA}"/>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DF9A227F-9E10-4960-8D01-6782E9845177}"/>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762849AE-62FC-4060-87A8-E4E537122CE8}"/>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2C277AA2-9AE7-45DB-88C5-6A64A9C63040}"/>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47B497D2-0730-4C31-953A-F8EACAF4F52F}"/>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4436A228-1266-47CA-84C6-A00FEC48E646}"/>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3FBDD45-EA55-47C7-BCD3-09F8F7F85429}"/>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419B882C-6AA0-4E80-86F1-25215B115661}"/>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B11CD82E-F35C-4144-BDF9-583A029C0CEA}"/>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4DF546AE-1163-44B9-9A7F-EDCC6DE849D1}"/>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09527EFE-6963-4083-A735-F82C3E037101}"/>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2DDB18E4-92A0-4241-8A9C-909E45DE4B18}"/>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33948461-B570-47DB-BF6A-77F82746907D}"/>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6D89B5A3-5736-4E0A-BCC2-FFE0E0AC719A}"/>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E2BC5555-A90E-4FF1-B0DC-7F577471BF19}"/>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B03ED637-A771-4280-9CB1-2500B5F09527}"/>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5A5E37E-A120-4A99-B152-13C806C8B607}"/>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CA8C62B0-2738-4AC2-9D2F-123DA49CEACE}"/>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B4696645-9294-4DDE-93CC-590A2E2B875D}"/>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B47C9D7F-C365-4EA3-8E05-82F8BEB57258}"/>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5A8EB49A-9498-4E15-B4DA-B835C114E030}"/>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02DCCDD8-EFB1-43E5-B9BF-88A1DABB5B62}"/>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23126AC7-12D0-40BD-B623-68E9B96834A0}"/>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709DE065-C121-4944-A194-A0531AE70113}"/>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56B1EDBD-DF28-423A-9495-2F9CEBDDFDDA}"/>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0C8C0FF4-EC86-49EB-BF98-97C496CD1F9C}"/>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C3B98C3F-2498-4AF2-84A9-173E4F039510}"/>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81CFD373-4066-4838-B4F7-165198313617}"/>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DEE4D1C8-6DB8-4A21-A3A9-D3D28B82099A}"/>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46E49600-DF1D-4ED5-A157-3E590CDA1B56}"/>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46E2D49E-BAF2-4764-BDAB-D9DE3B0646E4}"/>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864EE584-9275-4951-8E75-097139EE33F0}"/>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D849A470-288E-4165-9449-E69F9B4B84D6}"/>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698BA135-FA65-4A17-A50C-6DD828F693D4}"/>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485A9B57-C5F9-49CB-AD67-29536179283C}"/>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68CD83CA-2E94-4117-8A42-0C8F05882227}"/>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438E1A4E-A6CC-4DB3-8DAB-E4B750BFA72D}"/>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5D729236-E0D1-4F37-9984-8E52F4C3B8BD}"/>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76F22A8B-D1E7-4D77-A398-1CE4D12328B5}"/>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AE61D9B6-E852-4E2F-BD1D-6645B52A224F}"/>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D707DADA-4A19-465E-93D3-39E90EF6BF9F}"/>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1B1FE30C-9895-4D58-9C56-D5D4BDB0FDD8}"/>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B000"/>
                </a:solidFill>
                <a:latin typeface="Aptos"/>
                <a:ea typeface="Aptos"/>
                <a:cs typeface="Aptos"/>
              </a:defRPr>
            </a:pPr>
            <a:r>
              <a:rPr sz="975" b="1">
                <a:solidFill>
                  <a:srgbClr val="FFB000"/>
                </a:solidFill>
                <a:latin typeface="Aptos"/>
                <a:ea typeface="Aptos"/>
                <a:cs typeface="Aptos"/>
              </a:rPr>
              <a:t>Task 2 model choice</a:t>
            </a:r>
          </a:p>
        </p:txBody>
      </p:sp>
      <p:sp>
        <p:nvSpPr>
          <p:cNvPr id="53" name="slide-title">
            <a:extLst>
              <a:ext uri="{FF2B5EF4-FFF2-40B4-BE49-F238E27FC236}">
                <a16:creationId xmlns:a16="http://schemas.microsoft.com/office/drawing/2014/main" id="{6036C16F-EC85-4E2C-9EF3-CA58260881DA}"/>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Harmonization is contextual, not just pitch matching</a:t>
            </a:r>
          </a:p>
        </p:txBody>
      </p:sp>
      <p:sp>
        <p:nvSpPr>
          <p:cNvPr id="54" name="page-number">
            <a:extLst>
              <a:ext uri="{FF2B5EF4-FFF2-40B4-BE49-F238E27FC236}">
                <a16:creationId xmlns:a16="http://schemas.microsoft.com/office/drawing/2014/main" id="{A115A5E5-122A-4DDD-92D3-87A5BBC1B962}"/>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10</a:t>
            </a:r>
          </a:p>
        </p:txBody>
      </p:sp>
      <p:sp>
        <p:nvSpPr>
          <p:cNvPr id="55" name="Rectangle 54">
            <a:extLst>
              <a:ext uri="{FF2B5EF4-FFF2-40B4-BE49-F238E27FC236}">
                <a16:creationId xmlns:a16="http://schemas.microsoft.com/office/drawing/2014/main" id="{D76EDDA8-12A6-4ED6-99F8-9F28E5AD2A8E}"/>
              </a:ext>
            </a:extLst>
          </p:cNvPr>
          <p:cNvSpPr>
            <a:spLocks noGrp="1"/>
          </p:cNvSpPr>
          <p:nvPr/>
        </p:nvSpPr>
        <p:spPr>
          <a:xfrm>
            <a:off x="704850" y="1638300"/>
            <a:ext cx="3257550" cy="3028950"/>
          </a:xfrm>
          <a:prstGeom prst="rect">
            <a:avLst/>
          </a:prstGeom>
          <a:solidFill>
            <a:srgbClr val="27211D"/>
          </a:solidFill>
          <a:ln w="9525">
            <a:solidFill>
              <a:srgbClr val="5C534B"/>
            </a:solidFill>
            <a:prstDash val="solid"/>
          </a:ln>
        </p:spPr>
        <p:txBody>
          <a:bodyPr/>
          <a:lstStyle/>
          <a:p>
            <a:endParaRPr lang="en-US"/>
          </a:p>
        </p:txBody>
      </p:sp>
      <p:pic>
        <p:nvPicPr>
          <p:cNvPr id="56" name="Graphic 55"/>
          <p:cNvPicPr>
            <a:picLocks noChangeAspect="1"/>
          </p:cNvPicPr>
          <p:nvPr/>
        </p:nvPicPr>
        <p:blipFill>
          <a:blip>
            <a:extLst>
              <a:ext uri="{96DAC541-7B7A-43D3-8B79-37D633B846F1}">
                <asvg:svgBlip xmlns:asvg="http://schemas.microsoft.com/office/drawing/2016/SVG/main" r:embed="rId3"/>
              </a:ext>
            </a:extLst>
          </a:blip>
          <a:stretch/>
        </p:blipFill>
        <p:spPr>
          <a:xfrm>
            <a:off x="971550" y="1962150"/>
            <a:ext cx="400050" cy="400050"/>
          </a:xfrm>
          <a:prstGeom prst="rect">
            <a:avLst/>
          </a:prstGeom>
        </p:spPr>
      </p:pic>
      <p:sp>
        <p:nvSpPr>
          <p:cNvPr id="57" name="Rectangle 56">
            <a:extLst>
              <a:ext uri="{FF2B5EF4-FFF2-40B4-BE49-F238E27FC236}">
                <a16:creationId xmlns:a16="http://schemas.microsoft.com/office/drawing/2014/main" id="{FCD2F459-DD26-4A0A-B06D-B6F925F82764}"/>
              </a:ext>
            </a:extLst>
          </p:cNvPr>
          <p:cNvSpPr>
            <a:spLocks noGrp="1"/>
          </p:cNvSpPr>
          <p:nvPr/>
        </p:nvSpPr>
        <p:spPr>
          <a:xfrm>
            <a:off x="1543050" y="19812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Majority</a:t>
            </a:r>
          </a:p>
        </p:txBody>
      </p:sp>
      <p:sp>
        <p:nvSpPr>
          <p:cNvPr id="58" name="Rectangle 57">
            <a:extLst>
              <a:ext uri="{FF2B5EF4-FFF2-40B4-BE49-F238E27FC236}">
                <a16:creationId xmlns:a16="http://schemas.microsoft.com/office/drawing/2014/main" id="{42C45BC6-49F5-4261-919E-0E4DD9C0504F}"/>
              </a:ext>
            </a:extLst>
          </p:cNvPr>
          <p:cNvSpPr>
            <a:spLocks noGrp="1"/>
          </p:cNvSpPr>
          <p:nvPr/>
        </p:nvSpPr>
        <p:spPr>
          <a:xfrm>
            <a:off x="1009650" y="2590800"/>
            <a:ext cx="26289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Always predict tonic C</a:t>
            </a:r>
          </a:p>
        </p:txBody>
      </p:sp>
      <p:sp>
        <p:nvSpPr>
          <p:cNvPr id="59" name="Rectangle 58">
            <a:extLst>
              <a:ext uri="{FF2B5EF4-FFF2-40B4-BE49-F238E27FC236}">
                <a16:creationId xmlns:a16="http://schemas.microsoft.com/office/drawing/2014/main" id="{A41920EC-225C-4885-8222-1CA1584E17C9}"/>
              </a:ext>
            </a:extLst>
          </p:cNvPr>
          <p:cNvSpPr>
            <a:spLocks noGrp="1"/>
          </p:cNvSpPr>
          <p:nvPr/>
        </p:nvSpPr>
        <p:spPr>
          <a:xfrm>
            <a:off x="1009650" y="35433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5C534B"/>
                </a:solidFill>
                <a:latin typeface="Aptos"/>
                <a:ea typeface="Aptos"/>
                <a:cs typeface="Aptos"/>
              </a:defRPr>
            </a:pPr>
            <a:r>
              <a:rPr sz="1350" b="1">
                <a:solidFill>
                  <a:srgbClr val="5C534B"/>
                </a:solidFill>
                <a:latin typeface="Aptos"/>
                <a:ea typeface="Aptos"/>
                <a:cs typeface="Aptos"/>
              </a:rPr>
              <a:t>simple floor</a:t>
            </a:r>
          </a:p>
        </p:txBody>
      </p:sp>
      <p:sp>
        <p:nvSpPr>
          <p:cNvPr id="60" name="Rectangle 59">
            <a:extLst>
              <a:ext uri="{FF2B5EF4-FFF2-40B4-BE49-F238E27FC236}">
                <a16:creationId xmlns:a16="http://schemas.microsoft.com/office/drawing/2014/main" id="{C9440C99-1F19-4F2C-8474-1B14717590A4}"/>
              </a:ext>
            </a:extLst>
          </p:cNvPr>
          <p:cNvSpPr>
            <a:spLocks noGrp="1"/>
          </p:cNvSpPr>
          <p:nvPr/>
        </p:nvSpPr>
        <p:spPr>
          <a:xfrm>
            <a:off x="4495800" y="1638300"/>
            <a:ext cx="3257550" cy="3028950"/>
          </a:xfrm>
          <a:prstGeom prst="rect">
            <a:avLst/>
          </a:prstGeom>
          <a:solidFill>
            <a:srgbClr val="27211D"/>
          </a:solidFill>
          <a:ln w="9525">
            <a:solidFill>
              <a:srgbClr val="FFB000"/>
            </a:solidFill>
            <a:prstDash val="solid"/>
          </a:ln>
        </p:spPr>
        <p:txBody>
          <a:bodyPr/>
          <a:lstStyle/>
          <a:p>
            <a:endParaRPr lang="en-US"/>
          </a:p>
        </p:txBody>
      </p:sp>
      <p:pic>
        <p:nvPicPr>
          <p:cNvPr id="61" name="Graphic 60"/>
          <p:cNvPicPr>
            <a:picLocks noChangeAspect="1"/>
          </p:cNvPicPr>
          <p:nvPr/>
        </p:nvPicPr>
        <p:blipFill>
          <a:blip>
            <a:extLst>
              <a:ext uri="{96DAC541-7B7A-43D3-8B79-37D633B846F1}">
                <asvg:svgBlip xmlns:asvg="http://schemas.microsoft.com/office/drawing/2016/SVG/main" r:embed="rId4"/>
              </a:ext>
            </a:extLst>
          </a:blip>
          <a:stretch/>
        </p:blipFill>
        <p:spPr>
          <a:xfrm>
            <a:off x="4762500" y="1962150"/>
            <a:ext cx="400050" cy="400050"/>
          </a:xfrm>
          <a:prstGeom prst="rect">
            <a:avLst/>
          </a:prstGeom>
        </p:spPr>
      </p:pic>
      <p:sp>
        <p:nvSpPr>
          <p:cNvPr id="62" name="Rectangle 61">
            <a:extLst>
              <a:ext uri="{FF2B5EF4-FFF2-40B4-BE49-F238E27FC236}">
                <a16:creationId xmlns:a16="http://schemas.microsoft.com/office/drawing/2014/main" id="{3F25FBE7-1E54-45AC-8AA1-79E352338539}"/>
              </a:ext>
            </a:extLst>
          </p:cNvPr>
          <p:cNvSpPr>
            <a:spLocks noGrp="1"/>
          </p:cNvSpPr>
          <p:nvPr/>
        </p:nvSpPr>
        <p:spPr>
          <a:xfrm>
            <a:off x="5334000" y="19812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Template rule</a:t>
            </a:r>
          </a:p>
        </p:txBody>
      </p:sp>
      <p:sp>
        <p:nvSpPr>
          <p:cNvPr id="63" name="Rectangle 62">
            <a:extLst>
              <a:ext uri="{FF2B5EF4-FFF2-40B4-BE49-F238E27FC236}">
                <a16:creationId xmlns:a16="http://schemas.microsoft.com/office/drawing/2014/main" id="{9F3394A6-7532-475B-88EC-BF72FDC77B47}"/>
              </a:ext>
            </a:extLst>
          </p:cNvPr>
          <p:cNvSpPr>
            <a:spLocks noGrp="1"/>
          </p:cNvSpPr>
          <p:nvPr/>
        </p:nvSpPr>
        <p:spPr>
          <a:xfrm>
            <a:off x="4800600" y="2590800"/>
            <a:ext cx="26289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4EFE7"/>
                </a:solidFill>
                <a:latin typeface="Aptos"/>
                <a:ea typeface="Aptos"/>
                <a:cs typeface="Aptos"/>
              </a:defRPr>
            </a:pPr>
            <a:r>
              <a:rPr sz="1575" b="0">
                <a:solidFill>
                  <a:srgbClr val="F4EFE7"/>
                </a:solidFill>
                <a:latin typeface="Aptos"/>
                <a:ea typeface="Aptos"/>
                <a:cs typeface="Aptos"/>
              </a:rPr>
              <a:t>Match each bar to a chord pitch-class template</a:t>
            </a:r>
          </a:p>
        </p:txBody>
      </p:sp>
      <p:sp>
        <p:nvSpPr>
          <p:cNvPr id="64" name="Rectangle 63">
            <a:extLst>
              <a:ext uri="{FF2B5EF4-FFF2-40B4-BE49-F238E27FC236}">
                <a16:creationId xmlns:a16="http://schemas.microsoft.com/office/drawing/2014/main" id="{85653D95-A333-4FC7-BE1D-98323C6ED101}"/>
              </a:ext>
            </a:extLst>
          </p:cNvPr>
          <p:cNvSpPr>
            <a:spLocks noGrp="1"/>
          </p:cNvSpPr>
          <p:nvPr/>
        </p:nvSpPr>
        <p:spPr>
          <a:xfrm>
            <a:off x="4800600" y="35433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B000"/>
                </a:solidFill>
                <a:latin typeface="Aptos"/>
                <a:ea typeface="Aptos"/>
                <a:cs typeface="Aptos"/>
              </a:defRPr>
            </a:pPr>
            <a:r>
              <a:rPr sz="1350" b="1">
                <a:solidFill>
                  <a:srgbClr val="FFB000"/>
                </a:solidFill>
                <a:latin typeface="Aptos"/>
                <a:ea typeface="Aptos"/>
                <a:cs typeface="Aptos"/>
              </a:rPr>
              <a:t>no progression memory</a:t>
            </a:r>
          </a:p>
        </p:txBody>
      </p:sp>
      <p:sp>
        <p:nvSpPr>
          <p:cNvPr id="65" name="Rectangle 64">
            <a:extLst>
              <a:ext uri="{FF2B5EF4-FFF2-40B4-BE49-F238E27FC236}">
                <a16:creationId xmlns:a16="http://schemas.microsoft.com/office/drawing/2014/main" id="{427A4BD7-D2E2-4726-A389-656AFA2F7CC8}"/>
              </a:ext>
            </a:extLst>
          </p:cNvPr>
          <p:cNvSpPr>
            <a:spLocks noGrp="1"/>
          </p:cNvSpPr>
          <p:nvPr/>
        </p:nvSpPr>
        <p:spPr>
          <a:xfrm>
            <a:off x="8286750" y="1638300"/>
            <a:ext cx="3257550" cy="3028950"/>
          </a:xfrm>
          <a:prstGeom prst="rect">
            <a:avLst/>
          </a:prstGeom>
          <a:solidFill>
            <a:srgbClr val="27211D"/>
          </a:solidFill>
          <a:ln w="9525">
            <a:solidFill>
              <a:srgbClr val="8D6B94"/>
            </a:solidFill>
            <a:prstDash val="solid"/>
          </a:ln>
        </p:spPr>
        <p:txBody>
          <a:bodyPr/>
          <a:lstStyle/>
          <a:p>
            <a:endParaRPr lang="en-US"/>
          </a:p>
        </p:txBody>
      </p:sp>
      <p:pic>
        <p:nvPicPr>
          <p:cNvPr id="66" name="Graphic 65"/>
          <p:cNvPicPr>
            <a:picLocks noChangeAspect="1"/>
          </p:cNvPicPr>
          <p:nvPr/>
        </p:nvPicPr>
        <p:blipFill>
          <a:blip>
            <a:extLst>
              <a:ext uri="{96DAC541-7B7A-43D3-8B79-37D633B846F1}">
                <asvg:svgBlip xmlns:asvg="http://schemas.microsoft.com/office/drawing/2016/SVG/main" r:embed="rId5"/>
              </a:ext>
            </a:extLst>
          </a:blip>
          <a:stretch/>
        </p:blipFill>
        <p:spPr>
          <a:xfrm>
            <a:off x="8553450" y="1962150"/>
            <a:ext cx="400050" cy="400050"/>
          </a:xfrm>
          <a:prstGeom prst="rect">
            <a:avLst/>
          </a:prstGeom>
        </p:spPr>
      </p:pic>
      <p:sp>
        <p:nvSpPr>
          <p:cNvPr id="67" name="Rectangle 66">
            <a:extLst>
              <a:ext uri="{FF2B5EF4-FFF2-40B4-BE49-F238E27FC236}">
                <a16:creationId xmlns:a16="http://schemas.microsoft.com/office/drawing/2014/main" id="{D19C60E3-B8DD-4D0B-B8EE-1A9D965768F9}"/>
              </a:ext>
            </a:extLst>
          </p:cNvPr>
          <p:cNvSpPr>
            <a:spLocks noGrp="1"/>
          </p:cNvSpPr>
          <p:nvPr/>
        </p:nvSpPr>
        <p:spPr>
          <a:xfrm>
            <a:off x="9124950" y="1981200"/>
            <a:ext cx="209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4EFE7"/>
                </a:solidFill>
                <a:latin typeface="Aptos"/>
                <a:ea typeface="Aptos"/>
                <a:cs typeface="Aptos"/>
              </a:defRPr>
            </a:pPr>
            <a:r>
              <a:rPr sz="1875" b="1">
                <a:solidFill>
                  <a:srgbClr val="F4EFE7"/>
                </a:solidFill>
                <a:latin typeface="Aptos"/>
                <a:ea typeface="Aptos"/>
                <a:cs typeface="Aptos"/>
              </a:rPr>
              <a:t>BiLSTM</a:t>
            </a:r>
          </a:p>
        </p:txBody>
      </p:sp>
      <p:sp>
        <p:nvSpPr>
          <p:cNvPr id="68" name="Rectangle 67">
            <a:extLst>
              <a:ext uri="{FF2B5EF4-FFF2-40B4-BE49-F238E27FC236}">
                <a16:creationId xmlns:a16="http://schemas.microsoft.com/office/drawing/2014/main" id="{0238286A-492C-4E3C-8C8F-F883F0673B85}"/>
              </a:ext>
            </a:extLst>
          </p:cNvPr>
          <p:cNvSpPr>
            <a:spLocks noGrp="1"/>
          </p:cNvSpPr>
          <p:nvPr/>
        </p:nvSpPr>
        <p:spPr>
          <a:xfrm>
            <a:off x="8591550" y="2590800"/>
            <a:ext cx="26289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4EFE7"/>
                </a:solidFill>
                <a:latin typeface="Aptos"/>
                <a:ea typeface="Aptos"/>
                <a:cs typeface="Aptos"/>
              </a:defRPr>
            </a:pPr>
            <a:r>
              <a:rPr sz="1575" b="1">
                <a:solidFill>
                  <a:srgbClr val="F4EFE7"/>
                </a:solidFill>
                <a:latin typeface="Aptos"/>
                <a:ea typeface="Aptos"/>
                <a:cs typeface="Aptos"/>
              </a:rPr>
              <a:t>Read bars left-to-right and right-to-left</a:t>
            </a:r>
          </a:p>
        </p:txBody>
      </p:sp>
      <p:sp>
        <p:nvSpPr>
          <p:cNvPr id="69" name="Rectangle 68">
            <a:extLst>
              <a:ext uri="{FF2B5EF4-FFF2-40B4-BE49-F238E27FC236}">
                <a16:creationId xmlns:a16="http://schemas.microsoft.com/office/drawing/2014/main" id="{FE36D02C-78AB-4C9E-97F8-65A6C004895E}"/>
              </a:ext>
            </a:extLst>
          </p:cNvPr>
          <p:cNvSpPr>
            <a:spLocks noGrp="1"/>
          </p:cNvSpPr>
          <p:nvPr/>
        </p:nvSpPr>
        <p:spPr>
          <a:xfrm>
            <a:off x="8591550" y="35433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8D6B94"/>
                </a:solidFill>
                <a:latin typeface="Aptos"/>
                <a:ea typeface="Aptos"/>
                <a:cs typeface="Aptos"/>
              </a:defRPr>
            </a:pPr>
            <a:r>
              <a:rPr sz="1350" b="1">
                <a:solidFill>
                  <a:srgbClr val="8D6B94"/>
                </a:solidFill>
                <a:latin typeface="Aptos"/>
                <a:ea typeface="Aptos"/>
                <a:cs typeface="Aptos"/>
              </a:rPr>
              <a:t>learns cadential context</a:t>
            </a:r>
          </a:p>
        </p:txBody>
      </p:sp>
      <p:sp>
        <p:nvSpPr>
          <p:cNvPr id="70" name="Rectangle 69">
            <a:extLst>
              <a:ext uri="{FF2B5EF4-FFF2-40B4-BE49-F238E27FC236}">
                <a16:creationId xmlns:a16="http://schemas.microsoft.com/office/drawing/2014/main" id="{E1786579-4EF1-4B4D-9141-0225CFDC39A8}"/>
              </a:ext>
            </a:extLst>
          </p:cNvPr>
          <p:cNvSpPr>
            <a:spLocks noGrp="1"/>
          </p:cNvSpPr>
          <p:nvPr/>
        </p:nvSpPr>
        <p:spPr>
          <a:xfrm>
            <a:off x="1524000" y="5267325"/>
            <a:ext cx="76200" cy="76200"/>
          </a:xfrm>
          <a:prstGeom prst="rect">
            <a:avLst/>
          </a:prstGeom>
          <a:solidFill>
            <a:srgbClr val="FF5A5F"/>
          </a:solidFill>
          <a:ln w="0">
            <a:solidFill>
              <a:srgbClr val="000000">
                <a:alpha val="0"/>
              </a:srgbClr>
            </a:solidFill>
            <a:prstDash val="solid"/>
          </a:ln>
        </p:spPr>
        <p:txBody>
          <a:bodyPr/>
          <a:lstStyle/>
          <a:p>
            <a:endParaRPr lang="en-US"/>
          </a:p>
        </p:txBody>
      </p:sp>
      <p:sp>
        <p:nvSpPr>
          <p:cNvPr id="71" name="Rectangle 70">
            <a:extLst>
              <a:ext uri="{FF2B5EF4-FFF2-40B4-BE49-F238E27FC236}">
                <a16:creationId xmlns:a16="http://schemas.microsoft.com/office/drawing/2014/main" id="{4632F01A-23DE-4697-A5F5-A4AEB0E081C3}"/>
              </a:ext>
            </a:extLst>
          </p:cNvPr>
          <p:cNvSpPr>
            <a:spLocks noGrp="1"/>
          </p:cNvSpPr>
          <p:nvPr/>
        </p:nvSpPr>
        <p:spPr>
          <a:xfrm>
            <a:off x="1733550" y="5191125"/>
            <a:ext cx="83629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A passing melody note can make the local pitch set misleading.</a:t>
            </a:r>
          </a:p>
        </p:txBody>
      </p:sp>
      <p:sp>
        <p:nvSpPr>
          <p:cNvPr id="72" name="Rectangle 71">
            <a:extLst>
              <a:ext uri="{FF2B5EF4-FFF2-40B4-BE49-F238E27FC236}">
                <a16:creationId xmlns:a16="http://schemas.microsoft.com/office/drawing/2014/main" id="{D11B9D76-56B8-4AE7-8CB3-2190D122B693}"/>
              </a:ext>
            </a:extLst>
          </p:cNvPr>
          <p:cNvSpPr>
            <a:spLocks noGrp="1"/>
          </p:cNvSpPr>
          <p:nvPr/>
        </p:nvSpPr>
        <p:spPr>
          <a:xfrm>
            <a:off x="1524000" y="5667375"/>
            <a:ext cx="76200" cy="76200"/>
          </a:xfrm>
          <a:prstGeom prst="rect">
            <a:avLst/>
          </a:prstGeom>
          <a:solidFill>
            <a:srgbClr val="2EC4B6"/>
          </a:solidFill>
          <a:ln w="0">
            <a:solidFill>
              <a:srgbClr val="000000">
                <a:alpha val="0"/>
              </a:srgbClr>
            </a:solidFill>
            <a:prstDash val="solid"/>
          </a:ln>
        </p:spPr>
        <p:txBody>
          <a:bodyPr/>
          <a:lstStyle/>
          <a:p>
            <a:endParaRPr lang="en-US"/>
          </a:p>
        </p:txBody>
      </p:sp>
      <p:sp>
        <p:nvSpPr>
          <p:cNvPr id="73" name="Rectangle 72">
            <a:extLst>
              <a:ext uri="{FF2B5EF4-FFF2-40B4-BE49-F238E27FC236}">
                <a16:creationId xmlns:a16="http://schemas.microsoft.com/office/drawing/2014/main" id="{225FC9BF-6AEE-4E73-B7E8-BEEA43D280BD}"/>
              </a:ext>
            </a:extLst>
          </p:cNvPr>
          <p:cNvSpPr>
            <a:spLocks noGrp="1"/>
          </p:cNvSpPr>
          <p:nvPr/>
        </p:nvSpPr>
        <p:spPr>
          <a:xfrm>
            <a:off x="1733550" y="5591175"/>
            <a:ext cx="83629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A good chord also depends on what came before and where the phrase is going.</a:t>
            </a:r>
          </a:p>
        </p:txBody>
      </p:sp>
    </p:spTree>
    <p:extLst>
      <p:ext uri="{BB962C8B-B14F-4D97-AF65-F5344CB8AC3E}">
        <p14:creationId xmlns:p14="http://schemas.microsoft.com/office/powerpoint/2010/main" val="1672717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22007FB0-4AF0-4834-A166-2472B0C2B573}"/>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31DCBC0-D27C-4976-8F6D-28D60A200CB6}"/>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C2BDEB2-3BFA-4B03-A4E5-7DE3A1E748AC}"/>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838447EF-C1FD-4F7B-A004-756B0BA4328E}"/>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B2498AA-92A1-4629-BFE2-BBE042D94496}"/>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44BCA05-850A-4024-8510-7D0594BE7C14}"/>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E20DC058-246E-432C-B9BF-5C90C82A25B8}"/>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C3E96EBA-C27D-43E3-ACAA-2A091EF3E154}"/>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D463BD33-4D04-41E9-A05B-74F09BBEE114}"/>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E3F3B8B8-C6C8-4CE2-943E-F5CD5BAA3D7C}"/>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BF529811-FE3E-4DEC-BD81-B682132516FD}"/>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DC98D135-BE21-445E-A5A4-DA721472C674}"/>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6C1FC400-4A20-46C3-8C0E-67269C46F186}"/>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8A78CA90-7CB7-4C58-8FDA-7F4AB7F470F6}"/>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7A6382C0-DF76-4A66-9EDE-6D593CCCECB2}"/>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604790BF-93A7-4699-B8C6-CCE2315196ED}"/>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DB4338AA-AE6D-4FB3-AD98-C6CC1BF0C3A9}"/>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922C1EF0-5EFA-459C-BB86-4E003DC03C45}"/>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35DA3CEE-0FD6-463D-A23A-5D8D7EC290A2}"/>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3DC1CD04-1C8D-4C50-8A22-A5E4D211F2D5}"/>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59E73072-CBBC-4A00-B96F-1EAD952CA482}"/>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D19694A6-3041-4DFD-9993-98B4518A3633}"/>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FAFC886F-A842-44FD-9921-33ED59B7F595}"/>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F310191D-18E4-437B-8C7F-8CA3F0C7904D}"/>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6569933E-E2D7-402E-9110-F342C1C08206}"/>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50CF980B-EF35-4130-96C4-1A326DC96107}"/>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131F7FA9-DAB5-450C-809E-990251F2BC47}"/>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0FFEBB63-68D4-4680-9795-AB874ECE3043}"/>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6E2AED7B-C6CE-455A-B6FD-57FC1F06E6D5}"/>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1C468C4A-4AD1-499A-9877-B4D107C34415}"/>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AB0AA61A-53C8-46FD-82FD-E3AC0C1CDE26}"/>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F30A8A8C-CB81-4CA3-90BF-F63F1D7B6E8E}"/>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DABC793-0AAF-4DB0-968F-6573B75CE2A7}"/>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2239DCE8-9A28-4A4A-8CE6-34F2C898BD71}"/>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3B01B325-1E30-403D-A2F6-C6B85F550367}"/>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1C245EF9-8393-49A5-A831-84093E8BE291}"/>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1B6A4189-7C27-42A7-8823-6DF51E2964E9}"/>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01202D21-D907-44BF-AFE2-3407AFBCF591}"/>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54DA944A-BA24-4170-A5F3-A1C55F1E660A}"/>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B95158DA-3CEE-4656-A248-C91D06291C06}"/>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243E6754-C19C-4C26-907E-4D5A929AEE45}"/>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F0D52909-0E07-4272-9EFE-ED621ECE93F8}"/>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936C4415-1D25-4ADB-9656-F36B76DBFE24}"/>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0BE8697B-4BF1-416D-8420-7A6DB69E6582}"/>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6FA28804-2B64-412D-A342-A71B4512FF41}"/>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F061950E-028F-4BC4-89A7-114DBC82A135}"/>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2E656A19-60D9-4F73-B365-662C9B231F9B}"/>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842DC5ED-82D6-4671-8AB7-56B8B65E36D2}"/>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02BB2578-6DE4-4C6E-B0DB-94693D7CD377}"/>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58CAAC61-DF56-4277-969B-AFD5D91C4055}"/>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F5C64A37-3FB3-4B5D-9AF7-2025F2F953C7}"/>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83BC057A-3F34-4B95-9864-7B576EDD3E5E}"/>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8D6B94"/>
                </a:solidFill>
                <a:latin typeface="Aptos"/>
                <a:ea typeface="Aptos"/>
                <a:cs typeface="Aptos"/>
              </a:defRPr>
            </a:pPr>
            <a:r>
              <a:rPr sz="975" b="1">
                <a:solidFill>
                  <a:srgbClr val="8D6B94"/>
                </a:solidFill>
                <a:latin typeface="Aptos"/>
                <a:ea typeface="Aptos"/>
                <a:cs typeface="Aptos"/>
              </a:rPr>
              <a:t>Task 2 quantitative result</a:t>
            </a:r>
          </a:p>
        </p:txBody>
      </p:sp>
      <p:sp>
        <p:nvSpPr>
          <p:cNvPr id="53" name="slide-title">
            <a:extLst>
              <a:ext uri="{FF2B5EF4-FFF2-40B4-BE49-F238E27FC236}">
                <a16:creationId xmlns:a16="http://schemas.microsoft.com/office/drawing/2014/main" id="{F181FAD7-26AF-4EB1-99F7-D5227C2715C6}"/>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BiLSTM roughly doubles the majority baseline</a:t>
            </a:r>
          </a:p>
        </p:txBody>
      </p:sp>
      <p:sp>
        <p:nvSpPr>
          <p:cNvPr id="54" name="page-number">
            <a:extLst>
              <a:ext uri="{FF2B5EF4-FFF2-40B4-BE49-F238E27FC236}">
                <a16:creationId xmlns:a16="http://schemas.microsoft.com/office/drawing/2014/main" id="{65BED832-C8D4-4755-9ADA-503926277EF9}"/>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11</a:t>
            </a:r>
          </a:p>
        </p:txBody>
      </p:sp>
      <p:sp>
        <p:nvSpPr>
          <p:cNvPr id="55" name="Rectangle 54">
            <a:extLst>
              <a:ext uri="{FF2B5EF4-FFF2-40B4-BE49-F238E27FC236}">
                <a16:creationId xmlns:a16="http://schemas.microsoft.com/office/drawing/2014/main" id="{A38E8ABC-02AD-429E-88B5-B2E005782639}"/>
              </a:ext>
            </a:extLst>
          </p:cNvPr>
          <p:cNvSpPr>
            <a:spLocks noGrp="1"/>
          </p:cNvSpPr>
          <p:nvPr/>
        </p:nvSpPr>
        <p:spPr>
          <a:xfrm>
            <a:off x="571500" y="1428750"/>
            <a:ext cx="4095750" cy="2476500"/>
          </a:xfrm>
          <a:prstGeom prst="rect">
            <a:avLst/>
          </a:prstGeom>
          <a:solidFill>
            <a:srgbClr val="1E1A17"/>
          </a:solidFill>
          <a:ln w="9525">
            <a:solidFill>
              <a:srgbClr val="3A302A"/>
            </a:solidFill>
            <a:prstDash val="solid"/>
          </a:ln>
        </p:spPr>
        <p:txBody>
          <a:bodyPr/>
          <a:lstStyle/>
          <a:p>
            <a:endParaRPr lang="en-US"/>
          </a:p>
        </p:txBody>
      </p:sp>
      <p:sp>
        <p:nvSpPr>
          <p:cNvPr id="56" name="Rectangle 55">
            <a:extLst>
              <a:ext uri="{FF2B5EF4-FFF2-40B4-BE49-F238E27FC236}">
                <a16:creationId xmlns:a16="http://schemas.microsoft.com/office/drawing/2014/main" id="{93EF2531-568D-4834-B15F-4DE99C7606FD}"/>
              </a:ext>
            </a:extLst>
          </p:cNvPr>
          <p:cNvSpPr>
            <a:spLocks noGrp="1"/>
          </p:cNvSpPr>
          <p:nvPr/>
        </p:nvSpPr>
        <p:spPr>
          <a:xfrm>
            <a:off x="742950" y="1562100"/>
            <a:ext cx="3752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4EFE7"/>
                </a:solidFill>
                <a:latin typeface="Aptos"/>
                <a:ea typeface="Aptos"/>
                <a:cs typeface="Aptos"/>
              </a:defRPr>
            </a:pPr>
            <a:r>
              <a:rPr sz="1125" b="1">
                <a:solidFill>
                  <a:srgbClr val="F4EFE7"/>
                </a:solidFill>
                <a:latin typeface="Aptos"/>
                <a:ea typeface="Aptos"/>
                <a:cs typeface="Aptos"/>
              </a:rPr>
              <a:t>accuracy (higher is better)</a:t>
            </a:r>
          </a:p>
        </p:txBody>
      </p:sp>
      <p:sp>
        <p:nvSpPr>
          <p:cNvPr id="57" name="Rectangle 56">
            <a:extLst>
              <a:ext uri="{FF2B5EF4-FFF2-40B4-BE49-F238E27FC236}">
                <a16:creationId xmlns:a16="http://schemas.microsoft.com/office/drawing/2014/main" id="{CAEB49AE-7E27-4E09-A221-53A6AF59D4F9}"/>
              </a:ext>
            </a:extLst>
          </p:cNvPr>
          <p:cNvSpPr>
            <a:spLocks noGrp="1"/>
          </p:cNvSpPr>
          <p:nvPr/>
        </p:nvSpPr>
        <p:spPr>
          <a:xfrm>
            <a:off x="800100" y="2795302"/>
            <a:ext cx="852488" cy="919448"/>
          </a:xfrm>
          <a:prstGeom prst="rect">
            <a:avLst/>
          </a:prstGeom>
          <a:solidFill>
            <a:srgbClr val="5C534B"/>
          </a:solidFill>
          <a:ln w="0">
            <a:solidFill>
              <a:srgbClr val="000000">
                <a:alpha val="0"/>
              </a:srgbClr>
            </a:solidFill>
            <a:prstDash val="solid"/>
          </a:ln>
        </p:spPr>
        <p:txBody>
          <a:bodyPr/>
          <a:lstStyle/>
          <a:p>
            <a:endParaRPr lang="en-US"/>
          </a:p>
        </p:txBody>
      </p:sp>
      <p:sp>
        <p:nvSpPr>
          <p:cNvPr id="58" name="Rectangle 57">
            <a:extLst>
              <a:ext uri="{FF2B5EF4-FFF2-40B4-BE49-F238E27FC236}">
                <a16:creationId xmlns:a16="http://schemas.microsoft.com/office/drawing/2014/main" id="{F4BBD577-C85B-421B-9907-862C3C31F493}"/>
              </a:ext>
            </a:extLst>
          </p:cNvPr>
          <p:cNvSpPr>
            <a:spLocks noGrp="1"/>
          </p:cNvSpPr>
          <p:nvPr/>
        </p:nvSpPr>
        <p:spPr>
          <a:xfrm>
            <a:off x="781050" y="2566702"/>
            <a:ext cx="8905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5C534B"/>
                </a:solidFill>
                <a:latin typeface="Aptos"/>
                <a:ea typeface="Aptos"/>
                <a:cs typeface="Aptos"/>
              </a:defRPr>
            </a:pPr>
            <a:r>
              <a:rPr sz="900" b="1">
                <a:solidFill>
                  <a:srgbClr val="5C534B"/>
                </a:solidFill>
                <a:latin typeface="Aptos"/>
                <a:ea typeface="Aptos"/>
                <a:cs typeface="Aptos"/>
              </a:rPr>
              <a:t>0.394</a:t>
            </a:r>
          </a:p>
        </p:txBody>
      </p:sp>
      <p:sp>
        <p:nvSpPr>
          <p:cNvPr id="59" name="Rectangle 58">
            <a:extLst>
              <a:ext uri="{FF2B5EF4-FFF2-40B4-BE49-F238E27FC236}">
                <a16:creationId xmlns:a16="http://schemas.microsoft.com/office/drawing/2014/main" id="{EA98E113-590E-445B-A244-F7841CE5326B}"/>
              </a:ext>
            </a:extLst>
          </p:cNvPr>
          <p:cNvSpPr>
            <a:spLocks noGrp="1"/>
          </p:cNvSpPr>
          <p:nvPr/>
        </p:nvSpPr>
        <p:spPr>
          <a:xfrm>
            <a:off x="800100" y="3581400"/>
            <a:ext cx="8524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Maj chord</a:t>
            </a:r>
          </a:p>
        </p:txBody>
      </p:sp>
      <p:sp>
        <p:nvSpPr>
          <p:cNvPr id="60" name="Rectangle 59">
            <a:extLst>
              <a:ext uri="{FF2B5EF4-FFF2-40B4-BE49-F238E27FC236}">
                <a16:creationId xmlns:a16="http://schemas.microsoft.com/office/drawing/2014/main" id="{666C890A-F824-4A8C-8DF0-59B3A4C5B4A7}"/>
              </a:ext>
            </a:extLst>
          </p:cNvPr>
          <p:cNvSpPr>
            <a:spLocks noGrp="1"/>
          </p:cNvSpPr>
          <p:nvPr/>
        </p:nvSpPr>
        <p:spPr>
          <a:xfrm>
            <a:off x="1766888" y="3159347"/>
            <a:ext cx="852488" cy="555403"/>
          </a:xfrm>
          <a:prstGeom prst="rect">
            <a:avLst/>
          </a:prstGeom>
          <a:solidFill>
            <a:srgbClr val="FFB000"/>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6961BE5F-0C58-42F3-AA3D-B38E9F20058F}"/>
              </a:ext>
            </a:extLst>
          </p:cNvPr>
          <p:cNvSpPr>
            <a:spLocks noGrp="1"/>
          </p:cNvSpPr>
          <p:nvPr/>
        </p:nvSpPr>
        <p:spPr>
          <a:xfrm>
            <a:off x="1747838" y="2930747"/>
            <a:ext cx="8905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FFB000"/>
                </a:solidFill>
                <a:latin typeface="Aptos"/>
                <a:ea typeface="Aptos"/>
                <a:cs typeface="Aptos"/>
              </a:defRPr>
            </a:pPr>
            <a:r>
              <a:rPr sz="900" b="1">
                <a:solidFill>
                  <a:srgbClr val="FFB000"/>
                </a:solidFill>
                <a:latin typeface="Aptos"/>
                <a:ea typeface="Aptos"/>
                <a:cs typeface="Aptos"/>
              </a:rPr>
              <a:t>0.238</a:t>
            </a:r>
          </a:p>
        </p:txBody>
      </p:sp>
      <p:sp>
        <p:nvSpPr>
          <p:cNvPr id="62" name="Rectangle 61">
            <a:extLst>
              <a:ext uri="{FF2B5EF4-FFF2-40B4-BE49-F238E27FC236}">
                <a16:creationId xmlns:a16="http://schemas.microsoft.com/office/drawing/2014/main" id="{2091457C-F0BB-4E4E-8668-6E1977E6521D}"/>
              </a:ext>
            </a:extLst>
          </p:cNvPr>
          <p:cNvSpPr>
            <a:spLocks noGrp="1"/>
          </p:cNvSpPr>
          <p:nvPr/>
        </p:nvSpPr>
        <p:spPr>
          <a:xfrm>
            <a:off x="1766888" y="3581400"/>
            <a:ext cx="8524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Rule chord</a:t>
            </a:r>
          </a:p>
        </p:txBody>
      </p:sp>
      <p:sp>
        <p:nvSpPr>
          <p:cNvPr id="63" name="Rectangle 62">
            <a:extLst>
              <a:ext uri="{FF2B5EF4-FFF2-40B4-BE49-F238E27FC236}">
                <a16:creationId xmlns:a16="http://schemas.microsoft.com/office/drawing/2014/main" id="{4AFED6F7-A216-4528-8DFF-DA839402F51C}"/>
              </a:ext>
            </a:extLst>
          </p:cNvPr>
          <p:cNvSpPr>
            <a:spLocks noGrp="1"/>
          </p:cNvSpPr>
          <p:nvPr/>
        </p:nvSpPr>
        <p:spPr>
          <a:xfrm>
            <a:off x="2733675" y="2186226"/>
            <a:ext cx="852488" cy="1528524"/>
          </a:xfrm>
          <a:prstGeom prst="rect">
            <a:avLst/>
          </a:prstGeom>
          <a:solidFill>
            <a:srgbClr val="8D6B94"/>
          </a:solidFill>
          <a:ln w="0">
            <a:solidFill>
              <a:srgbClr val="000000">
                <a:alpha val="0"/>
              </a:srgbClr>
            </a:solidFill>
            <a:prstDash val="solid"/>
          </a:ln>
        </p:spPr>
        <p:txBody>
          <a:bodyPr/>
          <a:lstStyle/>
          <a:p>
            <a:endParaRPr lang="en-US"/>
          </a:p>
        </p:txBody>
      </p:sp>
      <p:sp>
        <p:nvSpPr>
          <p:cNvPr id="64" name="Rectangle 63">
            <a:extLst>
              <a:ext uri="{FF2B5EF4-FFF2-40B4-BE49-F238E27FC236}">
                <a16:creationId xmlns:a16="http://schemas.microsoft.com/office/drawing/2014/main" id="{66DC7E13-B2FE-4809-ADAA-DFA0FD057764}"/>
              </a:ext>
            </a:extLst>
          </p:cNvPr>
          <p:cNvSpPr>
            <a:spLocks noGrp="1"/>
          </p:cNvSpPr>
          <p:nvPr/>
        </p:nvSpPr>
        <p:spPr>
          <a:xfrm>
            <a:off x="2714625" y="1957626"/>
            <a:ext cx="8905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8D6B94"/>
                </a:solidFill>
                <a:latin typeface="Aptos"/>
                <a:ea typeface="Aptos"/>
                <a:cs typeface="Aptos"/>
              </a:defRPr>
            </a:pPr>
            <a:r>
              <a:rPr sz="900" b="1">
                <a:solidFill>
                  <a:srgbClr val="8D6B94"/>
                </a:solidFill>
                <a:latin typeface="Aptos"/>
                <a:ea typeface="Aptos"/>
                <a:cs typeface="Aptos"/>
              </a:rPr>
              <a:t>0.655</a:t>
            </a:r>
          </a:p>
        </p:txBody>
      </p:sp>
      <p:sp>
        <p:nvSpPr>
          <p:cNvPr id="65" name="Rectangle 64">
            <a:extLst>
              <a:ext uri="{FF2B5EF4-FFF2-40B4-BE49-F238E27FC236}">
                <a16:creationId xmlns:a16="http://schemas.microsoft.com/office/drawing/2014/main" id="{26299633-00CA-4B67-AD12-8C6B846C3251}"/>
              </a:ext>
            </a:extLst>
          </p:cNvPr>
          <p:cNvSpPr>
            <a:spLocks noGrp="1"/>
          </p:cNvSpPr>
          <p:nvPr/>
        </p:nvSpPr>
        <p:spPr>
          <a:xfrm>
            <a:off x="2733675" y="3581400"/>
            <a:ext cx="8524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BiLSTM chord</a:t>
            </a:r>
          </a:p>
        </p:txBody>
      </p:sp>
      <p:sp>
        <p:nvSpPr>
          <p:cNvPr id="66" name="Rectangle 65">
            <a:extLst>
              <a:ext uri="{FF2B5EF4-FFF2-40B4-BE49-F238E27FC236}">
                <a16:creationId xmlns:a16="http://schemas.microsoft.com/office/drawing/2014/main" id="{A1FBA089-34C7-4F01-B699-58236A0A4B6F}"/>
              </a:ext>
            </a:extLst>
          </p:cNvPr>
          <p:cNvSpPr>
            <a:spLocks noGrp="1"/>
          </p:cNvSpPr>
          <p:nvPr/>
        </p:nvSpPr>
        <p:spPr>
          <a:xfrm>
            <a:off x="3700463" y="2043875"/>
            <a:ext cx="852488" cy="1670875"/>
          </a:xfrm>
          <a:prstGeom prst="rect">
            <a:avLst/>
          </a:prstGeom>
          <a:solidFill>
            <a:srgbClr val="6AD58B"/>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36858BB1-12D3-4508-B844-045CE460E9B0}"/>
              </a:ext>
            </a:extLst>
          </p:cNvPr>
          <p:cNvSpPr>
            <a:spLocks noGrp="1"/>
          </p:cNvSpPr>
          <p:nvPr/>
        </p:nvSpPr>
        <p:spPr>
          <a:xfrm>
            <a:off x="3681413" y="1815275"/>
            <a:ext cx="8905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1">
                <a:solidFill>
                  <a:srgbClr val="6AD58B"/>
                </a:solidFill>
                <a:latin typeface="Aptos"/>
                <a:ea typeface="Aptos"/>
                <a:cs typeface="Aptos"/>
              </a:defRPr>
            </a:pPr>
            <a:r>
              <a:rPr sz="900" b="1">
                <a:solidFill>
                  <a:srgbClr val="6AD58B"/>
                </a:solidFill>
                <a:latin typeface="Aptos"/>
                <a:ea typeface="Aptos"/>
                <a:cs typeface="Aptos"/>
              </a:rPr>
              <a:t>0.716</a:t>
            </a:r>
          </a:p>
        </p:txBody>
      </p:sp>
      <p:sp>
        <p:nvSpPr>
          <p:cNvPr id="68" name="Rectangle 67">
            <a:extLst>
              <a:ext uri="{FF2B5EF4-FFF2-40B4-BE49-F238E27FC236}">
                <a16:creationId xmlns:a16="http://schemas.microsoft.com/office/drawing/2014/main" id="{79691586-B382-4EC4-8532-B8C9FC808A3A}"/>
              </a:ext>
            </a:extLst>
          </p:cNvPr>
          <p:cNvSpPr>
            <a:spLocks noGrp="1"/>
          </p:cNvSpPr>
          <p:nvPr/>
        </p:nvSpPr>
        <p:spPr>
          <a:xfrm>
            <a:off x="3700463" y="3581400"/>
            <a:ext cx="852488"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BFB6AA"/>
                </a:solidFill>
                <a:latin typeface="Aptos"/>
                <a:ea typeface="Aptos"/>
                <a:cs typeface="Aptos"/>
              </a:defRPr>
            </a:pPr>
            <a:r>
              <a:rPr sz="675" b="0">
                <a:solidFill>
                  <a:srgbClr val="BFB6AA"/>
                </a:solidFill>
                <a:latin typeface="Aptos"/>
                <a:ea typeface="Aptos"/>
                <a:cs typeface="Aptos"/>
              </a:rPr>
              <a:t>BiLSTM root</a:t>
            </a:r>
          </a:p>
        </p:txBody>
      </p:sp>
      <p:sp>
        <p:nvSpPr>
          <p:cNvPr id="69" name="Rectangle 68">
            <a:extLst>
              <a:ext uri="{FF2B5EF4-FFF2-40B4-BE49-F238E27FC236}">
                <a16:creationId xmlns:a16="http://schemas.microsoft.com/office/drawing/2014/main" id="{414E4637-8309-4D0F-8030-3DA5A5674555}"/>
              </a:ext>
            </a:extLst>
          </p:cNvPr>
          <p:cNvSpPr>
            <a:spLocks noGrp="1"/>
          </p:cNvSpPr>
          <p:nvPr/>
        </p:nvSpPr>
        <p:spPr>
          <a:xfrm>
            <a:off x="4953000" y="1428750"/>
            <a:ext cx="3143250" cy="2476500"/>
          </a:xfrm>
          <a:prstGeom prst="rect">
            <a:avLst/>
          </a:prstGeom>
          <a:solidFill>
            <a:srgbClr val="F7F2EA"/>
          </a:solidFill>
          <a:ln w="9525">
            <a:solidFill>
              <a:srgbClr val="3A302A"/>
            </a:solidFill>
            <a:prstDash val="solid"/>
          </a:ln>
        </p:spPr>
        <p:txBody>
          <a:bodyPr/>
          <a:lstStyle/>
          <a:p>
            <a:endParaRPr lang="en-US"/>
          </a:p>
        </p:txBody>
      </p:sp>
      <p:pic>
        <p:nvPicPr>
          <p:cNvPr id="70" name="Picture 69"/>
          <p:cNvPicPr>
            <a:picLocks noChangeAspect="1"/>
          </p:cNvPicPr>
          <p:nvPr/>
        </p:nvPicPr>
        <p:blipFill>
          <a:blip r:embed="rId3"/>
          <a:stretch/>
        </p:blipFill>
        <p:spPr>
          <a:xfrm>
            <a:off x="5048250" y="1862001"/>
            <a:ext cx="2952750" cy="1400447"/>
          </a:xfrm>
          <a:prstGeom prst="rect">
            <a:avLst/>
          </a:prstGeom>
        </p:spPr>
      </p:pic>
      <p:sp>
        <p:nvSpPr>
          <p:cNvPr id="71" name="Rectangle 70">
            <a:extLst>
              <a:ext uri="{FF2B5EF4-FFF2-40B4-BE49-F238E27FC236}">
                <a16:creationId xmlns:a16="http://schemas.microsoft.com/office/drawing/2014/main" id="{F34D7F82-8879-4D77-9ABE-05AC26DC30F4}"/>
              </a:ext>
            </a:extLst>
          </p:cNvPr>
          <p:cNvSpPr>
            <a:spLocks noGrp="1"/>
          </p:cNvSpPr>
          <p:nvPr/>
        </p:nvSpPr>
        <p:spPr>
          <a:xfrm>
            <a:off x="5086350" y="3638550"/>
            <a:ext cx="2876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validation chord accuracy</a:t>
            </a:r>
          </a:p>
        </p:txBody>
      </p:sp>
      <p:sp>
        <p:nvSpPr>
          <p:cNvPr id="72" name="Rectangle 71">
            <a:extLst>
              <a:ext uri="{FF2B5EF4-FFF2-40B4-BE49-F238E27FC236}">
                <a16:creationId xmlns:a16="http://schemas.microsoft.com/office/drawing/2014/main" id="{9BD9698B-D8AC-4D77-9E41-BA3DF2506D06}"/>
              </a:ext>
            </a:extLst>
          </p:cNvPr>
          <p:cNvSpPr>
            <a:spLocks noGrp="1"/>
          </p:cNvSpPr>
          <p:nvPr/>
        </p:nvSpPr>
        <p:spPr>
          <a:xfrm>
            <a:off x="8420100" y="1428750"/>
            <a:ext cx="3143250" cy="2476500"/>
          </a:xfrm>
          <a:prstGeom prst="rect">
            <a:avLst/>
          </a:prstGeom>
          <a:solidFill>
            <a:srgbClr val="F7F2EA"/>
          </a:solidFill>
          <a:ln w="9525">
            <a:solidFill>
              <a:srgbClr val="3A302A"/>
            </a:solidFill>
            <a:prstDash val="solid"/>
          </a:ln>
        </p:spPr>
        <p:txBody>
          <a:bodyPr/>
          <a:lstStyle/>
          <a:p>
            <a:endParaRPr lang="en-US"/>
          </a:p>
        </p:txBody>
      </p:sp>
      <p:pic>
        <p:nvPicPr>
          <p:cNvPr id="73" name="Picture 72"/>
          <p:cNvPicPr>
            <a:picLocks noChangeAspect="1"/>
          </p:cNvPicPr>
          <p:nvPr/>
        </p:nvPicPr>
        <p:blipFill>
          <a:blip r:embed="rId4"/>
          <a:stretch/>
        </p:blipFill>
        <p:spPr>
          <a:xfrm>
            <a:off x="8847263" y="1524000"/>
            <a:ext cx="2288924" cy="2076450"/>
          </a:xfrm>
          <a:prstGeom prst="rect">
            <a:avLst/>
          </a:prstGeom>
        </p:spPr>
      </p:pic>
      <p:sp>
        <p:nvSpPr>
          <p:cNvPr id="74" name="Rectangle 73">
            <a:extLst>
              <a:ext uri="{FF2B5EF4-FFF2-40B4-BE49-F238E27FC236}">
                <a16:creationId xmlns:a16="http://schemas.microsoft.com/office/drawing/2014/main" id="{A9CF75CE-3D96-4866-8253-DED3758996E7}"/>
              </a:ext>
            </a:extLst>
          </p:cNvPr>
          <p:cNvSpPr>
            <a:spLocks noGrp="1"/>
          </p:cNvSpPr>
          <p:nvPr/>
        </p:nvSpPr>
        <p:spPr>
          <a:xfrm>
            <a:off x="8553450" y="3638550"/>
            <a:ext cx="2876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top-chord confusion matrix</a:t>
            </a:r>
          </a:p>
        </p:txBody>
      </p:sp>
      <p:sp>
        <p:nvSpPr>
          <p:cNvPr id="75" name="Rectangle 74">
            <a:extLst>
              <a:ext uri="{FF2B5EF4-FFF2-40B4-BE49-F238E27FC236}">
                <a16:creationId xmlns:a16="http://schemas.microsoft.com/office/drawing/2014/main" id="{42E42F3A-CA31-4C00-9E11-6255ECAC66F0}"/>
              </a:ext>
            </a:extLst>
          </p:cNvPr>
          <p:cNvSpPr>
            <a:spLocks noGrp="1"/>
          </p:cNvSpPr>
          <p:nvPr/>
        </p:nvSpPr>
        <p:spPr>
          <a:xfrm>
            <a:off x="914400" y="4343400"/>
            <a:ext cx="2190750" cy="876300"/>
          </a:xfrm>
          <a:prstGeom prst="rect">
            <a:avLst/>
          </a:prstGeom>
          <a:solidFill>
            <a:srgbClr val="27211D"/>
          </a:solidFill>
          <a:ln w="9525">
            <a:solidFill>
              <a:srgbClr val="8D6B94"/>
            </a:solidFill>
            <a:prstDash val="solid"/>
          </a:ln>
        </p:spPr>
        <p:txBody>
          <a:bodyPr/>
          <a:lstStyle/>
          <a:p>
            <a:endParaRPr lang="en-US"/>
          </a:p>
        </p:txBody>
      </p:sp>
      <p:sp>
        <p:nvSpPr>
          <p:cNvPr id="76" name="metric-value">
            <a:extLst>
              <a:ext uri="{FF2B5EF4-FFF2-40B4-BE49-F238E27FC236}">
                <a16:creationId xmlns:a16="http://schemas.microsoft.com/office/drawing/2014/main" id="{9A93AE36-464E-4470-ABCF-862CEAC07967}"/>
              </a:ext>
            </a:extLst>
          </p:cNvPr>
          <p:cNvSpPr>
            <a:spLocks noGrp="1"/>
          </p:cNvSpPr>
          <p:nvPr/>
        </p:nvSpPr>
        <p:spPr>
          <a:xfrm>
            <a:off x="1085850" y="4457700"/>
            <a:ext cx="18478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8D6B94"/>
                </a:solidFill>
                <a:latin typeface="Aptos"/>
                <a:ea typeface="Aptos"/>
                <a:cs typeface="Aptos"/>
              </a:defRPr>
            </a:pPr>
            <a:r>
              <a:rPr sz="2250" b="1">
                <a:solidFill>
                  <a:srgbClr val="8D6B94"/>
                </a:solidFill>
                <a:latin typeface="Aptos"/>
                <a:ea typeface="Aptos"/>
                <a:cs typeface="Aptos"/>
              </a:rPr>
              <a:t>0.655</a:t>
            </a:r>
          </a:p>
        </p:txBody>
      </p:sp>
      <p:sp>
        <p:nvSpPr>
          <p:cNvPr id="77" name="metric-label">
            <a:extLst>
              <a:ext uri="{FF2B5EF4-FFF2-40B4-BE49-F238E27FC236}">
                <a16:creationId xmlns:a16="http://schemas.microsoft.com/office/drawing/2014/main" id="{308CA401-7298-416B-8856-0EEA016A2C19}"/>
              </a:ext>
            </a:extLst>
          </p:cNvPr>
          <p:cNvSpPr>
            <a:spLocks noGrp="1"/>
          </p:cNvSpPr>
          <p:nvPr/>
        </p:nvSpPr>
        <p:spPr>
          <a:xfrm>
            <a:off x="1085850" y="4838700"/>
            <a:ext cx="1847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BiLSTM chord accuracy</a:t>
            </a:r>
          </a:p>
        </p:txBody>
      </p:sp>
      <p:sp>
        <p:nvSpPr>
          <p:cNvPr id="78" name="Rectangle 77">
            <a:extLst>
              <a:ext uri="{FF2B5EF4-FFF2-40B4-BE49-F238E27FC236}">
                <a16:creationId xmlns:a16="http://schemas.microsoft.com/office/drawing/2014/main" id="{A0E0E1DF-015C-44AF-8746-E4C779372634}"/>
              </a:ext>
            </a:extLst>
          </p:cNvPr>
          <p:cNvSpPr>
            <a:spLocks noGrp="1"/>
          </p:cNvSpPr>
          <p:nvPr/>
        </p:nvSpPr>
        <p:spPr>
          <a:xfrm>
            <a:off x="3429000" y="4343400"/>
            <a:ext cx="2190750" cy="876300"/>
          </a:xfrm>
          <a:prstGeom prst="rect">
            <a:avLst/>
          </a:prstGeom>
          <a:solidFill>
            <a:srgbClr val="27211D"/>
          </a:solidFill>
          <a:ln w="9525">
            <a:solidFill>
              <a:srgbClr val="6AD58B"/>
            </a:solidFill>
            <a:prstDash val="solid"/>
          </a:ln>
        </p:spPr>
        <p:txBody>
          <a:bodyPr/>
          <a:lstStyle/>
          <a:p>
            <a:endParaRPr lang="en-US"/>
          </a:p>
        </p:txBody>
      </p:sp>
      <p:sp>
        <p:nvSpPr>
          <p:cNvPr id="79" name="metric-value">
            <a:extLst>
              <a:ext uri="{FF2B5EF4-FFF2-40B4-BE49-F238E27FC236}">
                <a16:creationId xmlns:a16="http://schemas.microsoft.com/office/drawing/2014/main" id="{7BA6E28B-6684-4A85-8F81-771522D8530A}"/>
              </a:ext>
            </a:extLst>
          </p:cNvPr>
          <p:cNvSpPr>
            <a:spLocks noGrp="1"/>
          </p:cNvSpPr>
          <p:nvPr/>
        </p:nvSpPr>
        <p:spPr>
          <a:xfrm>
            <a:off x="3600450" y="4457700"/>
            <a:ext cx="18478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6AD58B"/>
                </a:solidFill>
                <a:latin typeface="Aptos"/>
                <a:ea typeface="Aptos"/>
                <a:cs typeface="Aptos"/>
              </a:defRPr>
            </a:pPr>
            <a:r>
              <a:rPr sz="2250" b="1">
                <a:solidFill>
                  <a:srgbClr val="6AD58B"/>
                </a:solidFill>
                <a:latin typeface="Aptos"/>
                <a:ea typeface="Aptos"/>
                <a:cs typeface="Aptos"/>
              </a:rPr>
              <a:t>0.716</a:t>
            </a:r>
          </a:p>
        </p:txBody>
      </p:sp>
      <p:sp>
        <p:nvSpPr>
          <p:cNvPr id="80" name="metric-label">
            <a:extLst>
              <a:ext uri="{FF2B5EF4-FFF2-40B4-BE49-F238E27FC236}">
                <a16:creationId xmlns:a16="http://schemas.microsoft.com/office/drawing/2014/main" id="{FA26D26E-DDD2-4910-B980-46C74628D3E3}"/>
              </a:ext>
            </a:extLst>
          </p:cNvPr>
          <p:cNvSpPr>
            <a:spLocks noGrp="1"/>
          </p:cNvSpPr>
          <p:nvPr/>
        </p:nvSpPr>
        <p:spPr>
          <a:xfrm>
            <a:off x="3600450" y="4838700"/>
            <a:ext cx="18478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BiLSTM root accuracy</a:t>
            </a:r>
          </a:p>
        </p:txBody>
      </p:sp>
      <p:sp>
        <p:nvSpPr>
          <p:cNvPr id="81" name="Rectangle 80">
            <a:extLst>
              <a:ext uri="{FF2B5EF4-FFF2-40B4-BE49-F238E27FC236}">
                <a16:creationId xmlns:a16="http://schemas.microsoft.com/office/drawing/2014/main" id="{E6E4AAE7-F6D2-4D08-915F-D6F3930BE8F1}"/>
              </a:ext>
            </a:extLst>
          </p:cNvPr>
          <p:cNvSpPr>
            <a:spLocks noGrp="1"/>
          </p:cNvSpPr>
          <p:nvPr/>
        </p:nvSpPr>
        <p:spPr>
          <a:xfrm>
            <a:off x="5943600" y="4343400"/>
            <a:ext cx="2381250" cy="876300"/>
          </a:xfrm>
          <a:prstGeom prst="rect">
            <a:avLst/>
          </a:prstGeom>
          <a:solidFill>
            <a:srgbClr val="27211D"/>
          </a:solidFill>
          <a:ln w="9525">
            <a:solidFill>
              <a:srgbClr val="FFB000"/>
            </a:solidFill>
            <a:prstDash val="solid"/>
          </a:ln>
        </p:spPr>
        <p:txBody>
          <a:bodyPr/>
          <a:lstStyle/>
          <a:p>
            <a:endParaRPr lang="en-US"/>
          </a:p>
        </p:txBody>
      </p:sp>
      <p:sp>
        <p:nvSpPr>
          <p:cNvPr id="82" name="metric-value">
            <a:extLst>
              <a:ext uri="{FF2B5EF4-FFF2-40B4-BE49-F238E27FC236}">
                <a16:creationId xmlns:a16="http://schemas.microsoft.com/office/drawing/2014/main" id="{85DF22BB-6080-4B4C-8FD4-02A77284DA67}"/>
              </a:ext>
            </a:extLst>
          </p:cNvPr>
          <p:cNvSpPr>
            <a:spLocks noGrp="1"/>
          </p:cNvSpPr>
          <p:nvPr/>
        </p:nvSpPr>
        <p:spPr>
          <a:xfrm>
            <a:off x="6115050" y="44577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B000"/>
                </a:solidFill>
                <a:latin typeface="Aptos"/>
                <a:ea typeface="Aptos"/>
                <a:cs typeface="Aptos"/>
              </a:defRPr>
            </a:pPr>
            <a:r>
              <a:rPr sz="2250" b="1">
                <a:solidFill>
                  <a:srgbClr val="FFB000"/>
                </a:solidFill>
                <a:latin typeface="Aptos"/>
                <a:ea typeface="Aptos"/>
                <a:cs typeface="Aptos"/>
              </a:rPr>
              <a:t>0.238</a:t>
            </a:r>
          </a:p>
        </p:txBody>
      </p:sp>
      <p:sp>
        <p:nvSpPr>
          <p:cNvPr id="83" name="metric-label">
            <a:extLst>
              <a:ext uri="{FF2B5EF4-FFF2-40B4-BE49-F238E27FC236}">
                <a16:creationId xmlns:a16="http://schemas.microsoft.com/office/drawing/2014/main" id="{662FCB12-7945-4D91-BA10-69CFC07614D1}"/>
              </a:ext>
            </a:extLst>
          </p:cNvPr>
          <p:cNvSpPr>
            <a:spLocks noGrp="1"/>
          </p:cNvSpPr>
          <p:nvPr/>
        </p:nvSpPr>
        <p:spPr>
          <a:xfrm>
            <a:off x="6115050" y="48387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template rule is worse than tonic majority</a:t>
            </a:r>
          </a:p>
        </p:txBody>
      </p:sp>
      <p:sp>
        <p:nvSpPr>
          <p:cNvPr id="84" name="Rectangle 83">
            <a:extLst>
              <a:ext uri="{FF2B5EF4-FFF2-40B4-BE49-F238E27FC236}">
                <a16:creationId xmlns:a16="http://schemas.microsoft.com/office/drawing/2014/main" id="{80CA72D9-0DA6-4088-B5DD-5BF1EAEED863}"/>
              </a:ext>
            </a:extLst>
          </p:cNvPr>
          <p:cNvSpPr>
            <a:spLocks noGrp="1"/>
          </p:cNvSpPr>
          <p:nvPr/>
        </p:nvSpPr>
        <p:spPr>
          <a:xfrm>
            <a:off x="8667750" y="4324350"/>
            <a:ext cx="247650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4EFE7"/>
                </a:solidFill>
                <a:latin typeface="Aptos"/>
                <a:ea typeface="Aptos"/>
                <a:cs typeface="Aptos"/>
              </a:defRPr>
            </a:pPr>
            <a:r>
              <a:rPr sz="1500" b="1">
                <a:solidFill>
                  <a:srgbClr val="F4EFE7"/>
                </a:solidFill>
                <a:latin typeface="Aptos"/>
                <a:ea typeface="Aptos"/>
                <a:cs typeface="Aptos"/>
              </a:rPr>
              <a:t>The main mistakes are musical substitutions such as C &lt;-&gt; Am and G &lt;-&gt; G7, which is exactly why listening complements accuracy.</a:t>
            </a:r>
          </a:p>
        </p:txBody>
      </p:sp>
    </p:spTree>
    <p:extLst>
      <p:ext uri="{BB962C8B-B14F-4D97-AF65-F5344CB8AC3E}">
        <p14:creationId xmlns:p14="http://schemas.microsoft.com/office/powerpoint/2010/main" val="1379460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EA70C22A-AAEA-4043-82A1-B7AFEBA64E51}"/>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10B1171-4735-4B2E-A7D5-1F8A62539568}"/>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6074F70-3ACD-441A-A11C-7D86AD07EC5E}"/>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3F3AA2BA-A15C-439A-AF96-1AEF486D9550}"/>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BFCA721-DF99-4B52-A83F-3BECC1F2ADEC}"/>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0921719-274D-4079-A8BF-F63C6206D878}"/>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90125A21-2180-4E75-A36C-913055E8EB45}"/>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33428344-2098-4D99-909A-A5745A2646D3}"/>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19A7F4D0-CFAA-49BC-8866-CCB2F2671258}"/>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65AA1675-1BBD-4F79-BB21-3EBF73F6303F}"/>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6FEA866E-D1E2-4AFC-AA14-D55F3CF2706B}"/>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A213AB78-7417-439B-B18A-05526FB69A67}"/>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0FF5682B-7E0B-4CC1-B336-198A4BA858A6}"/>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45FEDC25-E5DA-4E5D-9465-054022281944}"/>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97650104-44C0-4130-ABDD-0C58F81AAB1C}"/>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98C11F40-97C6-478D-96F7-F76F414FD816}"/>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6A34929A-E499-43BC-9410-9A543F89D737}"/>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C8D001BE-D529-430A-B4FC-AE7F5A61FA65}"/>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F9CF6A6A-A82A-4A91-BAF1-89F939483482}"/>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9BC4F7EF-246E-4A61-958F-1CE9B620FC67}"/>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463610AE-EE4B-4829-A290-CBD50212DB04}"/>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5CA06FB6-FB68-4675-90E0-D1E220256A90}"/>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5B750829-9AD7-47A4-B546-2D6CF5DB1AA3}"/>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F055BD8-C391-4616-8BF4-3FA9B416E0E1}"/>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DB8FF495-0243-4E2F-AE2A-27210C13FEC0}"/>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487BE464-B198-4106-BE2C-0A9AB16953E0}"/>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979656F6-7915-4E6C-AE80-68ECCF7481DA}"/>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B2EF11E4-FE6A-4E22-80AC-316D6154825D}"/>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2DE5B827-D37D-4E4B-90A6-E3C17A186211}"/>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CE0823F2-EF0D-4080-9CCA-3A466103DBBF}"/>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B99DE146-27BA-4814-96C3-50CE586D2904}"/>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03F10CFC-AB6A-42C4-A33E-56DDFDDFF55A}"/>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A4A03892-62E6-4F5C-97C6-0F53A811073C}"/>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D6D24C0E-B9B8-4D51-808C-C9D20AE5BA35}"/>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56986881-5E36-463E-B594-0D925549BE48}"/>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588BD111-568F-446E-BE03-EEC73B27A06B}"/>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B1784E0F-B22D-465D-826C-738E5D2281A8}"/>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5DC61578-1862-4F27-A9D9-04F85565B2E2}"/>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02BDEBBF-A94D-4AB1-9B11-18BF3AB01CB0}"/>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C9659251-854B-4424-A49E-37BD0B5F0DE7}"/>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29A3FE89-4DA8-4454-ABC1-B3DF5E1AAF8B}"/>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EB529366-A841-43C4-8BE5-03B5D60A5354}"/>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DE8AE456-8148-4AB7-99F5-6B881AC30A66}"/>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CB7F7FC6-5757-4D65-A94B-2107D97D21C0}"/>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D70383D6-107A-4A49-A472-302E895B1FCF}"/>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CF214A16-FFB1-4816-B3F5-8B8CE1F9D034}"/>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714F8B37-273C-4519-AAA7-45DD00CFB72A}"/>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BF19BA62-A936-47E5-A6F9-BEFD8B4DF1E4}"/>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DA4FC9BC-933F-4733-8EF3-2B3DF699A60E}"/>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92DAD887-898B-41B0-8E27-DD6EFF5A9B67}"/>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2010DC63-56B6-4ADC-BA17-CADB305C667D}"/>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3DDCE889-A62F-46CD-9696-D0BA516F6CEA}"/>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AD58B"/>
                </a:solidFill>
                <a:latin typeface="Aptos"/>
                <a:ea typeface="Aptos"/>
                <a:cs typeface="Aptos"/>
              </a:defRPr>
            </a:pPr>
            <a:r>
              <a:rPr sz="975" b="1">
                <a:solidFill>
                  <a:srgbClr val="6AD58B"/>
                </a:solidFill>
                <a:latin typeface="Aptos"/>
                <a:ea typeface="Aptos"/>
                <a:cs typeface="Aptos"/>
              </a:rPr>
              <a:t>end-to-end deliverable</a:t>
            </a:r>
          </a:p>
        </p:txBody>
      </p:sp>
      <p:sp>
        <p:nvSpPr>
          <p:cNvPr id="53" name="slide-title">
            <a:extLst>
              <a:ext uri="{FF2B5EF4-FFF2-40B4-BE49-F238E27FC236}">
                <a16:creationId xmlns:a16="http://schemas.microsoft.com/office/drawing/2014/main" id="{DDA31431-9EC4-41C0-8B87-733E62BABC29}"/>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The final demo chains the two tasks together</a:t>
            </a:r>
          </a:p>
        </p:txBody>
      </p:sp>
      <p:sp>
        <p:nvSpPr>
          <p:cNvPr id="54" name="page-number">
            <a:extLst>
              <a:ext uri="{FF2B5EF4-FFF2-40B4-BE49-F238E27FC236}">
                <a16:creationId xmlns:a16="http://schemas.microsoft.com/office/drawing/2014/main" id="{4638679A-600F-4510-82F8-F42F35A9C5F8}"/>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12</a:t>
            </a:r>
          </a:p>
        </p:txBody>
      </p:sp>
      <p:sp>
        <p:nvSpPr>
          <p:cNvPr id="55" name="Rectangle 54">
            <a:extLst>
              <a:ext uri="{FF2B5EF4-FFF2-40B4-BE49-F238E27FC236}">
                <a16:creationId xmlns:a16="http://schemas.microsoft.com/office/drawing/2014/main" id="{94AFECFE-B276-4657-8A65-953EF575E85C}"/>
              </a:ext>
            </a:extLst>
          </p:cNvPr>
          <p:cNvSpPr>
            <a:spLocks noGrp="1"/>
          </p:cNvSpPr>
          <p:nvPr/>
        </p:nvSpPr>
        <p:spPr>
          <a:xfrm>
            <a:off x="666750" y="1428750"/>
            <a:ext cx="4953000" cy="2381250"/>
          </a:xfrm>
          <a:prstGeom prst="rect">
            <a:avLst/>
          </a:prstGeom>
          <a:solidFill>
            <a:srgbClr val="F7F2EA"/>
          </a:solidFill>
          <a:ln w="9525">
            <a:solidFill>
              <a:srgbClr val="3A302A"/>
            </a:solidFill>
            <a:prstDash val="solid"/>
          </a:ln>
        </p:spPr>
        <p:txBody>
          <a:bodyPr/>
          <a:lstStyle/>
          <a:p>
            <a:endParaRPr lang="en-US"/>
          </a:p>
        </p:txBody>
      </p:sp>
      <p:pic>
        <p:nvPicPr>
          <p:cNvPr id="56" name="Picture 55"/>
          <p:cNvPicPr>
            <a:picLocks noChangeAspect="1"/>
          </p:cNvPicPr>
          <p:nvPr/>
        </p:nvPicPr>
        <p:blipFill>
          <a:blip r:embed="rId3"/>
          <a:stretch/>
        </p:blipFill>
        <p:spPr>
          <a:xfrm>
            <a:off x="762000" y="1776127"/>
            <a:ext cx="4762500" cy="1476945"/>
          </a:xfrm>
          <a:prstGeom prst="rect">
            <a:avLst/>
          </a:prstGeom>
        </p:spPr>
      </p:pic>
      <p:sp>
        <p:nvSpPr>
          <p:cNvPr id="57" name="Rectangle 56">
            <a:extLst>
              <a:ext uri="{FF2B5EF4-FFF2-40B4-BE49-F238E27FC236}">
                <a16:creationId xmlns:a16="http://schemas.microsoft.com/office/drawing/2014/main" id="{CEFB9FA4-ED1F-4AFE-9481-CC49D4A3F8AA}"/>
              </a:ext>
            </a:extLst>
          </p:cNvPr>
          <p:cNvSpPr>
            <a:spLocks noGrp="1"/>
          </p:cNvSpPr>
          <p:nvPr/>
        </p:nvSpPr>
        <p:spPr>
          <a:xfrm>
            <a:off x="800100" y="3543300"/>
            <a:ext cx="4686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51463F"/>
                </a:solidFill>
                <a:latin typeface="Aptos"/>
                <a:ea typeface="Aptos"/>
                <a:cs typeface="Aptos"/>
              </a:defRPr>
            </a:pPr>
            <a:r>
              <a:rPr sz="825" b="1">
                <a:solidFill>
                  <a:srgbClr val="51463F"/>
                </a:solidFill>
                <a:latin typeface="Aptos"/>
                <a:ea typeface="Aptos"/>
                <a:cs typeface="Aptos"/>
              </a:rPr>
              <a:t>Task 1 generated melody</a:t>
            </a:r>
          </a:p>
        </p:txBody>
      </p:sp>
      <p:sp>
        <p:nvSpPr>
          <p:cNvPr id="58" name="Rectangle 57">
            <a:extLst>
              <a:ext uri="{FF2B5EF4-FFF2-40B4-BE49-F238E27FC236}">
                <a16:creationId xmlns:a16="http://schemas.microsoft.com/office/drawing/2014/main" id="{F7946298-6E71-4883-9205-EAE885B6664A}"/>
              </a:ext>
            </a:extLst>
          </p:cNvPr>
          <p:cNvSpPr>
            <a:spLocks noGrp="1"/>
          </p:cNvSpPr>
          <p:nvPr/>
        </p:nvSpPr>
        <p:spPr>
          <a:xfrm>
            <a:off x="6286500" y="1524000"/>
            <a:ext cx="2000250" cy="1619250"/>
          </a:xfrm>
          <a:prstGeom prst="rect">
            <a:avLst/>
          </a:prstGeom>
          <a:solidFill>
            <a:srgbClr val="27211D"/>
          </a:solidFill>
          <a:ln w="9525">
            <a:solidFill>
              <a:srgbClr val="FF5A5F"/>
            </a:solidFill>
            <a:prstDash val="solid"/>
          </a:ln>
        </p:spPr>
        <p:txBody>
          <a:bodyPr/>
          <a:lstStyle/>
          <a:p>
            <a:endParaRPr lang="en-US"/>
          </a:p>
        </p:txBody>
      </p:sp>
      <p:pic>
        <p:nvPicPr>
          <p:cNvPr id="59" name="Graphic 58"/>
          <p:cNvPicPr>
            <a:picLocks noChangeAspect="1"/>
          </p:cNvPicPr>
          <p:nvPr/>
        </p:nvPicPr>
        <p:blipFill>
          <a:blip>
            <a:extLst>
              <a:ext uri="{96DAC541-7B7A-43D3-8B79-37D633B846F1}">
                <asvg:svgBlip xmlns:asvg="http://schemas.microsoft.com/office/drawing/2016/SVG/main" r:embed="rId4"/>
              </a:ext>
            </a:extLst>
          </a:blip>
          <a:stretch/>
        </p:blipFill>
        <p:spPr>
          <a:xfrm>
            <a:off x="6610350" y="1828800"/>
            <a:ext cx="361950" cy="361950"/>
          </a:xfrm>
          <a:prstGeom prst="rect">
            <a:avLst/>
          </a:prstGeom>
        </p:spPr>
      </p:pic>
      <p:sp>
        <p:nvSpPr>
          <p:cNvPr id="60" name="Rectangle 59">
            <a:extLst>
              <a:ext uri="{FF2B5EF4-FFF2-40B4-BE49-F238E27FC236}">
                <a16:creationId xmlns:a16="http://schemas.microsoft.com/office/drawing/2014/main" id="{9E2F20E7-3DCA-47A8-992A-299209C19CF1}"/>
              </a:ext>
            </a:extLst>
          </p:cNvPr>
          <p:cNvSpPr>
            <a:spLocks noGrp="1"/>
          </p:cNvSpPr>
          <p:nvPr/>
        </p:nvSpPr>
        <p:spPr>
          <a:xfrm>
            <a:off x="7105650" y="1876425"/>
            <a:ext cx="952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LSTM melody</a:t>
            </a:r>
          </a:p>
        </p:txBody>
      </p:sp>
      <p:sp>
        <p:nvSpPr>
          <p:cNvPr id="61" name="Rectangle 60">
            <a:extLst>
              <a:ext uri="{FF2B5EF4-FFF2-40B4-BE49-F238E27FC236}">
                <a16:creationId xmlns:a16="http://schemas.microsoft.com/office/drawing/2014/main" id="{A232A3F6-25C6-4280-9BD1-788F5E020616}"/>
              </a:ext>
            </a:extLst>
          </p:cNvPr>
          <p:cNvSpPr>
            <a:spLocks noGrp="1"/>
          </p:cNvSpPr>
          <p:nvPr/>
        </p:nvSpPr>
        <p:spPr>
          <a:xfrm>
            <a:off x="6572250" y="2457450"/>
            <a:ext cx="1428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BFB6AA"/>
                </a:solidFill>
                <a:latin typeface="Aptos Mono"/>
                <a:ea typeface="Aptos Mono"/>
                <a:cs typeface="Aptos Mono"/>
              </a:defRPr>
            </a:pPr>
            <a:r>
              <a:rPr sz="1125" b="0">
                <a:solidFill>
                  <a:srgbClr val="BFB6AA"/>
                </a:solidFill>
                <a:latin typeface="Aptos Mono"/>
                <a:ea typeface="Aptos Mono"/>
                <a:cs typeface="Aptos Mono"/>
              </a:rPr>
              <a:t>symbolic_unconditioned.mid</a:t>
            </a:r>
          </a:p>
        </p:txBody>
      </p:sp>
      <p:sp>
        <p:nvSpPr>
          <p:cNvPr id="62" name="Rectangle 61">
            <a:extLst>
              <a:ext uri="{FF2B5EF4-FFF2-40B4-BE49-F238E27FC236}">
                <a16:creationId xmlns:a16="http://schemas.microsoft.com/office/drawing/2014/main" id="{2AF8A8C9-FA2C-4804-8783-0454E7BCDA36}"/>
              </a:ext>
            </a:extLst>
          </p:cNvPr>
          <p:cNvSpPr>
            <a:spLocks noGrp="1"/>
          </p:cNvSpPr>
          <p:nvPr/>
        </p:nvSpPr>
        <p:spPr>
          <a:xfrm>
            <a:off x="8343900" y="2324100"/>
            <a:ext cx="990600" cy="19050"/>
          </a:xfrm>
          <a:prstGeom prst="rect">
            <a:avLst/>
          </a:prstGeom>
          <a:solidFill>
            <a:srgbClr val="6AD58B"/>
          </a:solidFill>
          <a:ln w="0">
            <a:solidFill>
              <a:srgbClr val="000000">
                <a:alpha val="0"/>
              </a:srgbClr>
            </a:solidFill>
            <a:prstDash val="solid"/>
          </a:ln>
        </p:spPr>
        <p:txBody>
          <a:bodyPr/>
          <a:lstStyle/>
          <a:p>
            <a:endParaRPr lang="en-US"/>
          </a:p>
        </p:txBody>
      </p:sp>
      <p:sp>
        <p:nvSpPr>
          <p:cNvPr id="63" name="Rectangle 62">
            <a:extLst>
              <a:ext uri="{FF2B5EF4-FFF2-40B4-BE49-F238E27FC236}">
                <a16:creationId xmlns:a16="http://schemas.microsoft.com/office/drawing/2014/main" id="{B117B56C-9C44-4C08-8D9D-6FB72C19B5FE}"/>
              </a:ext>
            </a:extLst>
          </p:cNvPr>
          <p:cNvSpPr>
            <a:spLocks noGrp="1"/>
          </p:cNvSpPr>
          <p:nvPr/>
        </p:nvSpPr>
        <p:spPr>
          <a:xfrm>
            <a:off x="9258300" y="2276475"/>
            <a:ext cx="95250" cy="114300"/>
          </a:xfrm>
          <a:prstGeom prst="rect">
            <a:avLst/>
          </a:prstGeom>
          <a:solidFill>
            <a:srgbClr val="6AD58B"/>
          </a:solidFill>
          <a:ln w="0">
            <a:solidFill>
              <a:srgbClr val="000000">
                <a:alpha val="0"/>
              </a:srgbClr>
            </a:solidFill>
            <a:prstDash val="solid"/>
          </a:ln>
        </p:spPr>
        <p:txBody>
          <a:bodyPr/>
          <a:lstStyle/>
          <a:p>
            <a:endParaRPr lang="en-US"/>
          </a:p>
        </p:txBody>
      </p:sp>
      <p:sp>
        <p:nvSpPr>
          <p:cNvPr id="64" name="Rectangle 63">
            <a:extLst>
              <a:ext uri="{FF2B5EF4-FFF2-40B4-BE49-F238E27FC236}">
                <a16:creationId xmlns:a16="http://schemas.microsoft.com/office/drawing/2014/main" id="{0F2601F3-43C6-4C9D-8BAE-1970521B8127}"/>
              </a:ext>
            </a:extLst>
          </p:cNvPr>
          <p:cNvSpPr>
            <a:spLocks noGrp="1"/>
          </p:cNvSpPr>
          <p:nvPr/>
        </p:nvSpPr>
        <p:spPr>
          <a:xfrm>
            <a:off x="9429750" y="1524000"/>
            <a:ext cx="2000250" cy="1619250"/>
          </a:xfrm>
          <a:prstGeom prst="rect">
            <a:avLst/>
          </a:prstGeom>
          <a:solidFill>
            <a:srgbClr val="27211D"/>
          </a:solidFill>
          <a:ln w="9525">
            <a:solidFill>
              <a:srgbClr val="6AD58B"/>
            </a:solidFill>
            <a:prstDash val="solid"/>
          </a:ln>
        </p:spPr>
        <p:txBody>
          <a:bodyPr/>
          <a:lstStyle/>
          <a:p>
            <a:endParaRPr lang="en-US"/>
          </a:p>
        </p:txBody>
      </p:sp>
      <p:pic>
        <p:nvPicPr>
          <p:cNvPr id="65" name="Graphic 64"/>
          <p:cNvPicPr>
            <a:picLocks noChangeAspect="1"/>
          </p:cNvPicPr>
          <p:nvPr/>
        </p:nvPicPr>
        <p:blipFill>
          <a:blip>
            <a:extLst>
              <a:ext uri="{96DAC541-7B7A-43D3-8B79-37D633B846F1}">
                <asvg:svgBlip xmlns:asvg="http://schemas.microsoft.com/office/drawing/2016/SVG/main" r:embed="rId5"/>
              </a:ext>
            </a:extLst>
          </a:blip>
          <a:stretch/>
        </p:blipFill>
        <p:spPr>
          <a:xfrm>
            <a:off x="9753600" y="1828800"/>
            <a:ext cx="361950" cy="361950"/>
          </a:xfrm>
          <a:prstGeom prst="rect">
            <a:avLst/>
          </a:prstGeom>
        </p:spPr>
      </p:pic>
      <p:sp>
        <p:nvSpPr>
          <p:cNvPr id="66" name="Rectangle 65">
            <a:extLst>
              <a:ext uri="{FF2B5EF4-FFF2-40B4-BE49-F238E27FC236}">
                <a16:creationId xmlns:a16="http://schemas.microsoft.com/office/drawing/2014/main" id="{1316790F-9A77-4A38-95D1-5CE7B46C2131}"/>
              </a:ext>
            </a:extLst>
          </p:cNvPr>
          <p:cNvSpPr>
            <a:spLocks noGrp="1"/>
          </p:cNvSpPr>
          <p:nvPr/>
        </p:nvSpPr>
        <p:spPr>
          <a:xfrm>
            <a:off x="10248900" y="1876425"/>
            <a:ext cx="952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BiLSTM chords</a:t>
            </a:r>
          </a:p>
        </p:txBody>
      </p:sp>
      <p:sp>
        <p:nvSpPr>
          <p:cNvPr id="67" name="Rectangle 66">
            <a:extLst>
              <a:ext uri="{FF2B5EF4-FFF2-40B4-BE49-F238E27FC236}">
                <a16:creationId xmlns:a16="http://schemas.microsoft.com/office/drawing/2014/main" id="{0F774D71-5F26-45F3-8173-34A945386616}"/>
              </a:ext>
            </a:extLst>
          </p:cNvPr>
          <p:cNvSpPr>
            <a:spLocks noGrp="1"/>
          </p:cNvSpPr>
          <p:nvPr/>
        </p:nvSpPr>
        <p:spPr>
          <a:xfrm>
            <a:off x="9715500" y="2457450"/>
            <a:ext cx="14287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BFB6AA"/>
                </a:solidFill>
                <a:latin typeface="Aptos Mono"/>
                <a:ea typeface="Aptos Mono"/>
                <a:cs typeface="Aptos Mono"/>
              </a:defRPr>
            </a:pPr>
            <a:r>
              <a:rPr sz="1125" b="0">
                <a:solidFill>
                  <a:srgbClr val="BFB6AA"/>
                </a:solidFill>
                <a:latin typeface="Aptos Mono"/>
                <a:ea typeface="Aptos Mono"/>
                <a:cs typeface="Aptos Mono"/>
              </a:rPr>
              <a:t>symbolic_conditioned.mid</a:t>
            </a:r>
          </a:p>
        </p:txBody>
      </p:sp>
      <p:sp>
        <p:nvSpPr>
          <p:cNvPr id="68" name="Rectangle 67">
            <a:extLst>
              <a:ext uri="{FF2B5EF4-FFF2-40B4-BE49-F238E27FC236}">
                <a16:creationId xmlns:a16="http://schemas.microsoft.com/office/drawing/2014/main" id="{48B25B30-7E75-487F-9B71-0223C1EC8CF0}"/>
              </a:ext>
            </a:extLst>
          </p:cNvPr>
          <p:cNvSpPr>
            <a:spLocks noGrp="1"/>
          </p:cNvSpPr>
          <p:nvPr/>
        </p:nvSpPr>
        <p:spPr>
          <a:xfrm>
            <a:off x="6305550" y="3581400"/>
            <a:ext cx="2381250" cy="876300"/>
          </a:xfrm>
          <a:prstGeom prst="rect">
            <a:avLst/>
          </a:prstGeom>
          <a:solidFill>
            <a:srgbClr val="27211D"/>
          </a:solidFill>
          <a:ln w="9525">
            <a:solidFill>
              <a:srgbClr val="FFB000"/>
            </a:solidFill>
            <a:prstDash val="solid"/>
          </a:ln>
        </p:spPr>
        <p:txBody>
          <a:bodyPr/>
          <a:lstStyle/>
          <a:p>
            <a:endParaRPr lang="en-US"/>
          </a:p>
        </p:txBody>
      </p:sp>
      <p:sp>
        <p:nvSpPr>
          <p:cNvPr id="69" name="metric-value">
            <a:extLst>
              <a:ext uri="{FF2B5EF4-FFF2-40B4-BE49-F238E27FC236}">
                <a16:creationId xmlns:a16="http://schemas.microsoft.com/office/drawing/2014/main" id="{8EDCC348-2524-4654-9CC7-96C9A9A70772}"/>
              </a:ext>
            </a:extLst>
          </p:cNvPr>
          <p:cNvSpPr>
            <a:spLocks noGrp="1"/>
          </p:cNvSpPr>
          <p:nvPr/>
        </p:nvSpPr>
        <p:spPr>
          <a:xfrm>
            <a:off x="6477000" y="36957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B000"/>
                </a:solidFill>
                <a:latin typeface="Aptos"/>
                <a:ea typeface="Aptos"/>
                <a:cs typeface="Aptos"/>
              </a:defRPr>
            </a:pPr>
            <a:r>
              <a:rPr sz="2250" b="1">
                <a:solidFill>
                  <a:srgbClr val="FFB000"/>
                </a:solidFill>
                <a:latin typeface="Aptos"/>
                <a:ea typeface="Aptos"/>
                <a:cs typeface="Aptos"/>
              </a:rPr>
              <a:t>78%</a:t>
            </a:r>
          </a:p>
        </p:txBody>
      </p:sp>
      <p:sp>
        <p:nvSpPr>
          <p:cNvPr id="70" name="metric-label">
            <a:extLst>
              <a:ext uri="{FF2B5EF4-FFF2-40B4-BE49-F238E27FC236}">
                <a16:creationId xmlns:a16="http://schemas.microsoft.com/office/drawing/2014/main" id="{16CAAB09-47A9-411D-BE30-B43816D760B0}"/>
              </a:ext>
            </a:extLst>
          </p:cNvPr>
          <p:cNvSpPr>
            <a:spLocks noGrp="1"/>
          </p:cNvSpPr>
          <p:nvPr/>
        </p:nvSpPr>
        <p:spPr>
          <a:xfrm>
            <a:off x="6477000" y="40767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held-out reelsa-c60 bars exactly matched</a:t>
            </a:r>
          </a:p>
        </p:txBody>
      </p:sp>
      <p:sp>
        <p:nvSpPr>
          <p:cNvPr id="71" name="Rectangle 70">
            <a:extLst>
              <a:ext uri="{FF2B5EF4-FFF2-40B4-BE49-F238E27FC236}">
                <a16:creationId xmlns:a16="http://schemas.microsoft.com/office/drawing/2014/main" id="{E8C056C6-242E-4654-A3DF-5196360A84AA}"/>
              </a:ext>
            </a:extLst>
          </p:cNvPr>
          <p:cNvSpPr>
            <a:spLocks noGrp="1"/>
          </p:cNvSpPr>
          <p:nvPr/>
        </p:nvSpPr>
        <p:spPr>
          <a:xfrm>
            <a:off x="9010650" y="3581400"/>
            <a:ext cx="2381250" cy="876300"/>
          </a:xfrm>
          <a:prstGeom prst="rect">
            <a:avLst/>
          </a:prstGeom>
          <a:solidFill>
            <a:srgbClr val="27211D"/>
          </a:solidFill>
          <a:ln w="9525">
            <a:solidFill>
              <a:srgbClr val="6AD58B"/>
            </a:solidFill>
            <a:prstDash val="solid"/>
          </a:ln>
        </p:spPr>
        <p:txBody>
          <a:bodyPr/>
          <a:lstStyle/>
          <a:p>
            <a:endParaRPr lang="en-US"/>
          </a:p>
        </p:txBody>
      </p:sp>
      <p:sp>
        <p:nvSpPr>
          <p:cNvPr id="72" name="metric-value">
            <a:extLst>
              <a:ext uri="{FF2B5EF4-FFF2-40B4-BE49-F238E27FC236}">
                <a16:creationId xmlns:a16="http://schemas.microsoft.com/office/drawing/2014/main" id="{3992B5CE-32D7-4412-B11C-672340378035}"/>
              </a:ext>
            </a:extLst>
          </p:cNvPr>
          <p:cNvSpPr>
            <a:spLocks noGrp="1"/>
          </p:cNvSpPr>
          <p:nvPr/>
        </p:nvSpPr>
        <p:spPr>
          <a:xfrm>
            <a:off x="9182100" y="3695700"/>
            <a:ext cx="20383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6AD58B"/>
                </a:solidFill>
                <a:latin typeface="Aptos"/>
                <a:ea typeface="Aptos"/>
                <a:cs typeface="Aptos"/>
              </a:defRPr>
            </a:pPr>
            <a:r>
              <a:rPr sz="1650" b="1">
                <a:solidFill>
                  <a:srgbClr val="6AD58B"/>
                </a:solidFill>
                <a:latin typeface="Aptos"/>
                <a:ea typeface="Aptos"/>
                <a:cs typeface="Aptos"/>
              </a:rPr>
              <a:t>C G7 C G F Am ...</a:t>
            </a:r>
          </a:p>
        </p:txBody>
      </p:sp>
      <p:sp>
        <p:nvSpPr>
          <p:cNvPr id="73" name="metric-label">
            <a:extLst>
              <a:ext uri="{FF2B5EF4-FFF2-40B4-BE49-F238E27FC236}">
                <a16:creationId xmlns:a16="http://schemas.microsoft.com/office/drawing/2014/main" id="{4C98D752-8F3B-4302-A84D-EC2E46BD5D76}"/>
              </a:ext>
            </a:extLst>
          </p:cNvPr>
          <p:cNvSpPr>
            <a:spLocks noGrp="1"/>
          </p:cNvSpPr>
          <p:nvPr/>
        </p:nvSpPr>
        <p:spPr>
          <a:xfrm>
            <a:off x="9182100" y="4076700"/>
            <a:ext cx="2038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predicted chord sequence begins tonally</a:t>
            </a:r>
          </a:p>
        </p:txBody>
      </p:sp>
      <p:sp>
        <p:nvSpPr>
          <p:cNvPr id="74" name="Rectangle 73">
            <a:extLst>
              <a:ext uri="{FF2B5EF4-FFF2-40B4-BE49-F238E27FC236}">
                <a16:creationId xmlns:a16="http://schemas.microsoft.com/office/drawing/2014/main" id="{F1499D9F-2665-487A-A3E9-F5310A9A600D}"/>
              </a:ext>
            </a:extLst>
          </p:cNvPr>
          <p:cNvSpPr>
            <a:spLocks noGrp="1"/>
          </p:cNvSpPr>
          <p:nvPr/>
        </p:nvSpPr>
        <p:spPr>
          <a:xfrm>
            <a:off x="914400" y="5048250"/>
            <a:ext cx="99060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F4EFE7"/>
                </a:solidFill>
                <a:latin typeface="Aptos"/>
                <a:ea typeface="Aptos"/>
                <a:cs typeface="Aptos"/>
              </a:defRPr>
            </a:pPr>
            <a:r>
              <a:rPr sz="1800" b="1">
                <a:solidFill>
                  <a:srgbClr val="F4EFE7"/>
                </a:solidFill>
                <a:latin typeface="Aptos"/>
                <a:ea typeface="Aptos"/>
                <a:cs typeface="Aptos"/>
              </a:rPr>
              <a:t>Recording cue: play the unconditioned melody first, then the conditioned file so the audience hears what the harmonizer adds.</a:t>
            </a:r>
          </a:p>
        </p:txBody>
      </p:sp>
    </p:spTree>
    <p:extLst>
      <p:ext uri="{BB962C8B-B14F-4D97-AF65-F5344CB8AC3E}">
        <p14:creationId xmlns:p14="http://schemas.microsoft.com/office/powerpoint/2010/main" val="1482739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F3AF7865-DE21-4CF4-AC14-BF6C1BECBA26}"/>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8859C444-399B-416B-9433-436EDDF9C23F}"/>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E780B990-6434-498C-BCC4-FC4DDAD36627}"/>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0D2A7302-7DE3-4C4F-871E-C7B0EE348576}"/>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DC3BD04A-1174-4C1E-8A29-0A3D90B4AB8E}"/>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956C01FE-3EAD-4743-B5FE-0433E89ACFB3}"/>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5C911F9-B3FD-45C8-A4F4-3932994106B8}"/>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2279E3D7-9DE2-46D0-A181-66FADC47F3FC}"/>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20B5C0AD-D5E8-4F72-BE08-5335DAE776A4}"/>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D7E993E-7F41-435D-9E63-A9AA0B3A6CC1}"/>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B11C6150-5A7A-4553-9BCC-0F45D055B740}"/>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8B0287E1-C7AB-4CBB-8AC5-F412097DC937}"/>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D58B627E-429F-46C3-B744-7F192F15057A}"/>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02AB3557-EAE3-41B3-ABCD-0128BB96F8B5}"/>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58CBBC01-2A56-4AE5-8D21-79AE741C7FFE}"/>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089F20C9-014B-40EF-9E18-B75F8E185E41}"/>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38D55DA3-765B-4403-9270-E79E84B10C07}"/>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99577233-BF2D-49A7-9D60-3DCC62C45DC9}"/>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DF668B4C-9697-46CD-8B07-B7CF0AEAA921}"/>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B65525C6-2F00-47EE-B8FA-E8443D03EA3A}"/>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5725AFED-9249-46C8-B836-F8272FAB0D89}"/>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3B6C5C02-F93A-4AFA-89E4-A1E05F511D32}"/>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661F93B1-1192-4208-BC4B-C58564CD1B7A}"/>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D0F8AE98-63AC-434F-B243-380DCA9BCA60}"/>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8E5BE66A-C65B-497C-BA77-26258424E203}"/>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5D13A880-2F7E-49F2-A520-7B47645A59EB}"/>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E76BE3FF-1A11-48BC-8123-B6AB492D965D}"/>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06B2F656-6868-420D-A986-26BDC9E1FE6F}"/>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481865F0-4CAA-49DE-AFED-0BB0AA556F61}"/>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4F76B35E-A23B-40B2-921D-83F84F8E894C}"/>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708435BC-D03E-4FEA-8BD8-C148883B646D}"/>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97921B30-429F-4A97-9AE9-FF91B6BFDAE0}"/>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0A415FD8-C6D6-489E-B245-0B4E9DE95C92}"/>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3F23D387-9784-4DD3-A116-5434E9495C7F}"/>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0508FCB6-4CCA-49BB-B0C8-F4D8452D8B12}"/>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813D96B0-9738-4CFB-A5B3-FCF7D58C97E8}"/>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CBD74690-1FD1-465F-829F-FE4D12AF5C81}"/>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CC7B6E73-E548-40F5-BE6B-7A2FD5692900}"/>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C181CE8C-C14B-43E5-BCEC-3A3373763CEF}"/>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B51D9560-D433-412D-8B9F-15516E521E21}"/>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AE1EB7F5-29A4-4697-A6F1-F922921C22D9}"/>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7D365062-1258-4437-9CAB-32E481D8D4BC}"/>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F605D83A-C843-4F90-A0BC-7F73EA3D9B48}"/>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6BFBDD52-5435-4061-AEEF-A23170733E6C}"/>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CEF78FD7-30C0-4BBA-AB05-B768F0A76015}"/>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E5F24C9F-8CF9-41CE-A996-3BB98476BBDF}"/>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2AE2C5C1-32B0-4FAC-B5AF-5EF45EFD2D28}"/>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7B9BD7D2-76FA-4FD4-BE15-CD2DBA57D248}"/>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2323B10F-8F10-45BA-87FC-DBD76E4BE583}"/>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73332A27-D024-4C2A-A1FE-DD5BB18E4D09}"/>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D774EB2A-97F0-4DBC-AFC7-5E57E32212D0}"/>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A0E356D1-1BE2-40B7-9C82-BE3D370D20E8}"/>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2EC4B6"/>
                </a:solidFill>
                <a:latin typeface="Aptos"/>
                <a:ea typeface="Aptos"/>
                <a:cs typeface="Aptos"/>
              </a:defRPr>
            </a:pPr>
            <a:r>
              <a:rPr sz="975" b="1">
                <a:solidFill>
                  <a:srgbClr val="2EC4B6"/>
                </a:solidFill>
                <a:latin typeface="Aptos"/>
                <a:ea typeface="Aptos"/>
                <a:cs typeface="Aptos"/>
              </a:rPr>
              <a:t>related work</a:t>
            </a:r>
          </a:p>
        </p:txBody>
      </p:sp>
      <p:sp>
        <p:nvSpPr>
          <p:cNvPr id="53" name="slide-title">
            <a:extLst>
              <a:ext uri="{FF2B5EF4-FFF2-40B4-BE49-F238E27FC236}">
                <a16:creationId xmlns:a16="http://schemas.microsoft.com/office/drawing/2014/main" id="{D32742DC-8193-42CC-BA10-F91B9B4CF402}"/>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The project is a lightweight version of standard music ML ideas</a:t>
            </a:r>
          </a:p>
        </p:txBody>
      </p:sp>
      <p:sp>
        <p:nvSpPr>
          <p:cNvPr id="54" name="page-number">
            <a:extLst>
              <a:ext uri="{FF2B5EF4-FFF2-40B4-BE49-F238E27FC236}">
                <a16:creationId xmlns:a16="http://schemas.microsoft.com/office/drawing/2014/main" id="{02CE7D87-B055-4704-A820-D86FD3CCB72A}"/>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13</a:t>
            </a:r>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10668000" y="400050"/>
            <a:ext cx="419100" cy="419100"/>
          </a:xfrm>
          <a:prstGeom prst="rect">
            <a:avLst/>
          </a:prstGeom>
        </p:spPr>
      </p:pic>
      <p:sp>
        <p:nvSpPr>
          <p:cNvPr id="56" name="Rectangle 55">
            <a:extLst>
              <a:ext uri="{FF2B5EF4-FFF2-40B4-BE49-F238E27FC236}">
                <a16:creationId xmlns:a16="http://schemas.microsoft.com/office/drawing/2014/main" id="{99A6750A-7B7A-4944-B003-071FD58B591C}"/>
              </a:ext>
            </a:extLst>
          </p:cNvPr>
          <p:cNvSpPr>
            <a:spLocks noGrp="1"/>
          </p:cNvSpPr>
          <p:nvPr/>
        </p:nvSpPr>
        <p:spPr>
          <a:xfrm>
            <a:off x="781050" y="1447800"/>
            <a:ext cx="3286125" cy="3429000"/>
          </a:xfrm>
          <a:prstGeom prst="rect">
            <a:avLst/>
          </a:prstGeom>
          <a:solidFill>
            <a:srgbClr val="27211D"/>
          </a:solidFill>
          <a:ln w="9525">
            <a:solidFill>
              <a:srgbClr val="FFB000"/>
            </a:solidFill>
            <a:prstDash val="solid"/>
          </a:ln>
        </p:spPr>
        <p:txBody>
          <a:bodyPr/>
          <a:lstStyle/>
          <a:p>
            <a:endParaRPr lang="en-US"/>
          </a:p>
        </p:txBody>
      </p:sp>
      <p:sp>
        <p:nvSpPr>
          <p:cNvPr id="57" name="Rectangle 56">
            <a:extLst>
              <a:ext uri="{FF2B5EF4-FFF2-40B4-BE49-F238E27FC236}">
                <a16:creationId xmlns:a16="http://schemas.microsoft.com/office/drawing/2014/main" id="{487C34AF-0BFF-4D8E-BBB3-B8C45BB7D017}"/>
              </a:ext>
            </a:extLst>
          </p:cNvPr>
          <p:cNvSpPr>
            <a:spLocks noGrp="1"/>
          </p:cNvSpPr>
          <p:nvPr/>
        </p:nvSpPr>
        <p:spPr>
          <a:xfrm>
            <a:off x="1104900" y="17526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B000"/>
                </a:solidFill>
                <a:latin typeface="Aptos"/>
                <a:ea typeface="Aptos"/>
                <a:cs typeface="Aptos"/>
              </a:defRPr>
            </a:pPr>
            <a:r>
              <a:rPr sz="1875" b="1">
                <a:solidFill>
                  <a:srgbClr val="FFB000"/>
                </a:solidFill>
                <a:latin typeface="Aptos"/>
                <a:ea typeface="Aptos"/>
                <a:cs typeface="Aptos"/>
              </a:rPr>
              <a:t>Dataset lineage</a:t>
            </a:r>
          </a:p>
        </p:txBody>
      </p:sp>
      <p:sp>
        <p:nvSpPr>
          <p:cNvPr id="58" name="Rectangle 57">
            <a:extLst>
              <a:ext uri="{FF2B5EF4-FFF2-40B4-BE49-F238E27FC236}">
                <a16:creationId xmlns:a16="http://schemas.microsoft.com/office/drawing/2014/main" id="{6580DB3C-1A54-494D-B9E1-35E28C3882C7}"/>
              </a:ext>
            </a:extLst>
          </p:cNvPr>
          <p:cNvSpPr>
            <a:spLocks noGrp="1"/>
          </p:cNvSpPr>
          <p:nvPr/>
        </p:nvSpPr>
        <p:spPr>
          <a:xfrm>
            <a:off x="1143000" y="24193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59" name="Rectangle 58">
            <a:extLst>
              <a:ext uri="{FF2B5EF4-FFF2-40B4-BE49-F238E27FC236}">
                <a16:creationId xmlns:a16="http://schemas.microsoft.com/office/drawing/2014/main" id="{5379E8FE-7839-405A-A57C-50DB184B11DD}"/>
              </a:ext>
            </a:extLst>
          </p:cNvPr>
          <p:cNvSpPr>
            <a:spLocks noGrp="1"/>
          </p:cNvSpPr>
          <p:nvPr/>
        </p:nvSpPr>
        <p:spPr>
          <a:xfrm>
            <a:off x="1352550" y="23431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Nottingham folk corpus</a:t>
            </a:r>
          </a:p>
        </p:txBody>
      </p:sp>
      <p:sp>
        <p:nvSpPr>
          <p:cNvPr id="60" name="Rectangle 59">
            <a:extLst>
              <a:ext uri="{FF2B5EF4-FFF2-40B4-BE49-F238E27FC236}">
                <a16:creationId xmlns:a16="http://schemas.microsoft.com/office/drawing/2014/main" id="{C915909E-5F06-4C6B-9F13-93ECFD0C8A66}"/>
              </a:ext>
            </a:extLst>
          </p:cNvPr>
          <p:cNvSpPr>
            <a:spLocks noGrp="1"/>
          </p:cNvSpPr>
          <p:nvPr/>
        </p:nvSpPr>
        <p:spPr>
          <a:xfrm>
            <a:off x="1143000" y="29527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DEC91298-1C87-46F5-B124-E6724C4B777B}"/>
              </a:ext>
            </a:extLst>
          </p:cNvPr>
          <p:cNvSpPr>
            <a:spLocks noGrp="1"/>
          </p:cNvSpPr>
          <p:nvPr/>
        </p:nvSpPr>
        <p:spPr>
          <a:xfrm>
            <a:off x="1352550" y="28765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Boulanger-Lewandowski et al. 2012</a:t>
            </a:r>
          </a:p>
        </p:txBody>
      </p:sp>
      <p:sp>
        <p:nvSpPr>
          <p:cNvPr id="62" name="Rectangle 61">
            <a:extLst>
              <a:ext uri="{FF2B5EF4-FFF2-40B4-BE49-F238E27FC236}">
                <a16:creationId xmlns:a16="http://schemas.microsoft.com/office/drawing/2014/main" id="{0B276B81-8F17-4DBE-943A-20C3C0952232}"/>
              </a:ext>
            </a:extLst>
          </p:cNvPr>
          <p:cNvSpPr>
            <a:spLocks noGrp="1"/>
          </p:cNvSpPr>
          <p:nvPr/>
        </p:nvSpPr>
        <p:spPr>
          <a:xfrm>
            <a:off x="1143000" y="34861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63" name="Rectangle 62">
            <a:extLst>
              <a:ext uri="{FF2B5EF4-FFF2-40B4-BE49-F238E27FC236}">
                <a16:creationId xmlns:a16="http://schemas.microsoft.com/office/drawing/2014/main" id="{7A7D6F54-4C54-4C50-8F59-B821F89FDA99}"/>
              </a:ext>
            </a:extLst>
          </p:cNvPr>
          <p:cNvSpPr>
            <a:spLocks noGrp="1"/>
          </p:cNvSpPr>
          <p:nvPr/>
        </p:nvSpPr>
        <p:spPr>
          <a:xfrm>
            <a:off x="1352550" y="34099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folk-rnn / ABC LSTMs</a:t>
            </a:r>
          </a:p>
        </p:txBody>
      </p:sp>
      <p:sp>
        <p:nvSpPr>
          <p:cNvPr id="64" name="Rectangle 63">
            <a:extLst>
              <a:ext uri="{FF2B5EF4-FFF2-40B4-BE49-F238E27FC236}">
                <a16:creationId xmlns:a16="http://schemas.microsoft.com/office/drawing/2014/main" id="{6D308253-8326-4DE6-990D-38A104483421}"/>
              </a:ext>
            </a:extLst>
          </p:cNvPr>
          <p:cNvSpPr>
            <a:spLocks noGrp="1"/>
          </p:cNvSpPr>
          <p:nvPr/>
        </p:nvSpPr>
        <p:spPr>
          <a:xfrm>
            <a:off x="4457700" y="1447800"/>
            <a:ext cx="3286125" cy="3429000"/>
          </a:xfrm>
          <a:prstGeom prst="rect">
            <a:avLst/>
          </a:prstGeom>
          <a:solidFill>
            <a:srgbClr val="27211D"/>
          </a:solidFill>
          <a:ln w="9525">
            <a:solidFill>
              <a:srgbClr val="FF5A5F"/>
            </a:solidFill>
            <a:prstDash val="solid"/>
          </a:ln>
        </p:spPr>
        <p:txBody>
          <a:bodyPr/>
          <a:lstStyle/>
          <a:p>
            <a:endParaRPr lang="en-US"/>
          </a:p>
        </p:txBody>
      </p:sp>
      <p:sp>
        <p:nvSpPr>
          <p:cNvPr id="65" name="Rectangle 64">
            <a:extLst>
              <a:ext uri="{FF2B5EF4-FFF2-40B4-BE49-F238E27FC236}">
                <a16:creationId xmlns:a16="http://schemas.microsoft.com/office/drawing/2014/main" id="{A8800AFD-8B69-4A26-87A9-36CDDB581723}"/>
              </a:ext>
            </a:extLst>
          </p:cNvPr>
          <p:cNvSpPr>
            <a:spLocks noGrp="1"/>
          </p:cNvSpPr>
          <p:nvPr/>
        </p:nvSpPr>
        <p:spPr>
          <a:xfrm>
            <a:off x="4781550" y="17526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FF5A5F"/>
                </a:solidFill>
                <a:latin typeface="Aptos"/>
                <a:ea typeface="Aptos"/>
                <a:cs typeface="Aptos"/>
              </a:defRPr>
            </a:pPr>
            <a:r>
              <a:rPr sz="1875" b="1">
                <a:solidFill>
                  <a:srgbClr val="FF5A5F"/>
                </a:solidFill>
                <a:latin typeface="Aptos"/>
                <a:ea typeface="Aptos"/>
                <a:cs typeface="Aptos"/>
              </a:rPr>
              <a:t>Melody generation</a:t>
            </a:r>
          </a:p>
        </p:txBody>
      </p:sp>
      <p:sp>
        <p:nvSpPr>
          <p:cNvPr id="66" name="Rectangle 65">
            <a:extLst>
              <a:ext uri="{FF2B5EF4-FFF2-40B4-BE49-F238E27FC236}">
                <a16:creationId xmlns:a16="http://schemas.microsoft.com/office/drawing/2014/main" id="{D17CE9E2-8B37-41E6-9C74-DC82D92AAC5A}"/>
              </a:ext>
            </a:extLst>
          </p:cNvPr>
          <p:cNvSpPr>
            <a:spLocks noGrp="1"/>
          </p:cNvSpPr>
          <p:nvPr/>
        </p:nvSpPr>
        <p:spPr>
          <a:xfrm>
            <a:off x="4819650" y="2419350"/>
            <a:ext cx="76200" cy="76200"/>
          </a:xfrm>
          <a:prstGeom prst="rect">
            <a:avLst/>
          </a:prstGeom>
          <a:solidFill>
            <a:srgbClr val="FF5A5F"/>
          </a:solidFill>
          <a:ln w="0">
            <a:solidFill>
              <a:srgbClr val="000000">
                <a:alpha val="0"/>
              </a:srgbClr>
            </a:solidFill>
            <a:prstDash val="solid"/>
          </a:ln>
        </p:spPr>
        <p:txBody>
          <a:bodyPr/>
          <a:lstStyle/>
          <a:p>
            <a:endParaRPr lang="en-US"/>
          </a:p>
        </p:txBody>
      </p:sp>
      <p:sp>
        <p:nvSpPr>
          <p:cNvPr id="67" name="Rectangle 66">
            <a:extLst>
              <a:ext uri="{FF2B5EF4-FFF2-40B4-BE49-F238E27FC236}">
                <a16:creationId xmlns:a16="http://schemas.microsoft.com/office/drawing/2014/main" id="{FCCFFA19-2330-4311-808A-7BA45AB088BA}"/>
              </a:ext>
            </a:extLst>
          </p:cNvPr>
          <p:cNvSpPr>
            <a:spLocks noGrp="1"/>
          </p:cNvSpPr>
          <p:nvPr/>
        </p:nvSpPr>
        <p:spPr>
          <a:xfrm>
            <a:off x="5029200" y="23431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Magenta Melody RNN</a:t>
            </a:r>
          </a:p>
        </p:txBody>
      </p:sp>
      <p:sp>
        <p:nvSpPr>
          <p:cNvPr id="68" name="Rectangle 67">
            <a:extLst>
              <a:ext uri="{FF2B5EF4-FFF2-40B4-BE49-F238E27FC236}">
                <a16:creationId xmlns:a16="http://schemas.microsoft.com/office/drawing/2014/main" id="{648C58DB-F59F-4A05-BCE7-35EE3F83134F}"/>
              </a:ext>
            </a:extLst>
          </p:cNvPr>
          <p:cNvSpPr>
            <a:spLocks noGrp="1"/>
          </p:cNvSpPr>
          <p:nvPr/>
        </p:nvSpPr>
        <p:spPr>
          <a:xfrm>
            <a:off x="4819650" y="2952750"/>
            <a:ext cx="76200" cy="76200"/>
          </a:xfrm>
          <a:prstGeom prst="rect">
            <a:avLst/>
          </a:prstGeom>
          <a:solidFill>
            <a:srgbClr val="FF5A5F"/>
          </a:solidFill>
          <a:ln w="0">
            <a:solidFill>
              <a:srgbClr val="000000">
                <a:alpha val="0"/>
              </a:srgbClr>
            </a:solidFill>
            <a:prstDash val="solid"/>
          </a:ln>
        </p:spPr>
        <p:txBody>
          <a:bodyPr/>
          <a:lstStyle/>
          <a:p>
            <a:endParaRPr lang="en-US"/>
          </a:p>
        </p:txBody>
      </p:sp>
      <p:sp>
        <p:nvSpPr>
          <p:cNvPr id="69" name="Rectangle 68">
            <a:extLst>
              <a:ext uri="{FF2B5EF4-FFF2-40B4-BE49-F238E27FC236}">
                <a16:creationId xmlns:a16="http://schemas.microsoft.com/office/drawing/2014/main" id="{49280F62-E227-4272-B0A6-3F0CC4A5B863}"/>
              </a:ext>
            </a:extLst>
          </p:cNvPr>
          <p:cNvSpPr>
            <a:spLocks noGrp="1"/>
          </p:cNvSpPr>
          <p:nvPr/>
        </p:nvSpPr>
        <p:spPr>
          <a:xfrm>
            <a:off x="5029200" y="28765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step-token monophonic stream</a:t>
            </a:r>
          </a:p>
        </p:txBody>
      </p:sp>
      <p:sp>
        <p:nvSpPr>
          <p:cNvPr id="70" name="Rectangle 69">
            <a:extLst>
              <a:ext uri="{FF2B5EF4-FFF2-40B4-BE49-F238E27FC236}">
                <a16:creationId xmlns:a16="http://schemas.microsoft.com/office/drawing/2014/main" id="{54A8D099-70C3-484F-9296-F94CD11E907F}"/>
              </a:ext>
            </a:extLst>
          </p:cNvPr>
          <p:cNvSpPr>
            <a:spLocks noGrp="1"/>
          </p:cNvSpPr>
          <p:nvPr/>
        </p:nvSpPr>
        <p:spPr>
          <a:xfrm>
            <a:off x="4819650" y="3486150"/>
            <a:ext cx="76200" cy="76200"/>
          </a:xfrm>
          <a:prstGeom prst="rect">
            <a:avLst/>
          </a:prstGeom>
          <a:solidFill>
            <a:srgbClr val="FF5A5F"/>
          </a:solidFill>
          <a:ln w="0">
            <a:solidFill>
              <a:srgbClr val="000000">
                <a:alpha val="0"/>
              </a:srgbClr>
            </a:solidFill>
            <a:prstDash val="solid"/>
          </a:ln>
        </p:spPr>
        <p:txBody>
          <a:bodyPr/>
          <a:lstStyle/>
          <a:p>
            <a:endParaRPr lang="en-US"/>
          </a:p>
        </p:txBody>
      </p:sp>
      <p:sp>
        <p:nvSpPr>
          <p:cNvPr id="71" name="Rectangle 70">
            <a:extLst>
              <a:ext uri="{FF2B5EF4-FFF2-40B4-BE49-F238E27FC236}">
                <a16:creationId xmlns:a16="http://schemas.microsoft.com/office/drawing/2014/main" id="{01F41755-C36F-4095-B66E-E0C992B6273D}"/>
              </a:ext>
            </a:extLst>
          </p:cNvPr>
          <p:cNvSpPr>
            <a:spLocks noGrp="1"/>
          </p:cNvSpPr>
          <p:nvPr/>
        </p:nvSpPr>
        <p:spPr>
          <a:xfrm>
            <a:off x="5029200" y="34099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Music Transformer as longer-context successor</a:t>
            </a:r>
          </a:p>
        </p:txBody>
      </p:sp>
      <p:sp>
        <p:nvSpPr>
          <p:cNvPr id="72" name="Rectangle 71">
            <a:extLst>
              <a:ext uri="{FF2B5EF4-FFF2-40B4-BE49-F238E27FC236}">
                <a16:creationId xmlns:a16="http://schemas.microsoft.com/office/drawing/2014/main" id="{5CDCDE4D-9E0A-4869-99AD-21187EA86555}"/>
              </a:ext>
            </a:extLst>
          </p:cNvPr>
          <p:cNvSpPr>
            <a:spLocks noGrp="1"/>
          </p:cNvSpPr>
          <p:nvPr/>
        </p:nvSpPr>
        <p:spPr>
          <a:xfrm>
            <a:off x="8134350" y="1447800"/>
            <a:ext cx="3286125" cy="3429000"/>
          </a:xfrm>
          <a:prstGeom prst="rect">
            <a:avLst/>
          </a:prstGeom>
          <a:solidFill>
            <a:srgbClr val="27211D"/>
          </a:solidFill>
          <a:ln w="9525">
            <a:solidFill>
              <a:srgbClr val="8D6B94"/>
            </a:solidFill>
            <a:prstDash val="solid"/>
          </a:ln>
        </p:spPr>
        <p:txBody>
          <a:bodyPr/>
          <a:lstStyle/>
          <a:p>
            <a:endParaRPr lang="en-US"/>
          </a:p>
        </p:txBody>
      </p:sp>
      <p:sp>
        <p:nvSpPr>
          <p:cNvPr id="73" name="Rectangle 72">
            <a:extLst>
              <a:ext uri="{FF2B5EF4-FFF2-40B4-BE49-F238E27FC236}">
                <a16:creationId xmlns:a16="http://schemas.microsoft.com/office/drawing/2014/main" id="{B259963E-EFFB-4708-B869-EC3DBCC887C8}"/>
              </a:ext>
            </a:extLst>
          </p:cNvPr>
          <p:cNvSpPr>
            <a:spLocks noGrp="1"/>
          </p:cNvSpPr>
          <p:nvPr/>
        </p:nvSpPr>
        <p:spPr>
          <a:xfrm>
            <a:off x="8458200" y="1752600"/>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8D6B94"/>
                </a:solidFill>
                <a:latin typeface="Aptos"/>
                <a:ea typeface="Aptos"/>
                <a:cs typeface="Aptos"/>
              </a:defRPr>
            </a:pPr>
            <a:r>
              <a:rPr sz="1875" b="1">
                <a:solidFill>
                  <a:srgbClr val="8D6B94"/>
                </a:solidFill>
                <a:latin typeface="Aptos"/>
                <a:ea typeface="Aptos"/>
                <a:cs typeface="Aptos"/>
              </a:rPr>
              <a:t>Harmonization</a:t>
            </a:r>
          </a:p>
        </p:txBody>
      </p:sp>
      <p:sp>
        <p:nvSpPr>
          <p:cNvPr id="74" name="Rectangle 73">
            <a:extLst>
              <a:ext uri="{FF2B5EF4-FFF2-40B4-BE49-F238E27FC236}">
                <a16:creationId xmlns:a16="http://schemas.microsoft.com/office/drawing/2014/main" id="{7D39BFDA-E52C-457C-BF84-25A64555EB9E}"/>
              </a:ext>
            </a:extLst>
          </p:cNvPr>
          <p:cNvSpPr>
            <a:spLocks noGrp="1"/>
          </p:cNvSpPr>
          <p:nvPr/>
        </p:nvSpPr>
        <p:spPr>
          <a:xfrm>
            <a:off x="8496300" y="2419350"/>
            <a:ext cx="76200" cy="76200"/>
          </a:xfrm>
          <a:prstGeom prst="rect">
            <a:avLst/>
          </a:prstGeom>
          <a:solidFill>
            <a:srgbClr val="8D6B94"/>
          </a:solidFill>
          <a:ln w="0">
            <a:solidFill>
              <a:srgbClr val="000000">
                <a:alpha val="0"/>
              </a:srgbClr>
            </a:solidFill>
            <a:prstDash val="solid"/>
          </a:ln>
        </p:spPr>
        <p:txBody>
          <a:bodyPr/>
          <a:lstStyle/>
          <a:p>
            <a:endParaRPr lang="en-US"/>
          </a:p>
        </p:txBody>
      </p:sp>
      <p:sp>
        <p:nvSpPr>
          <p:cNvPr id="75" name="Rectangle 74">
            <a:extLst>
              <a:ext uri="{FF2B5EF4-FFF2-40B4-BE49-F238E27FC236}">
                <a16:creationId xmlns:a16="http://schemas.microsoft.com/office/drawing/2014/main" id="{D7A268F9-28EC-406D-A210-84405B6F1EA2}"/>
              </a:ext>
            </a:extLst>
          </p:cNvPr>
          <p:cNvSpPr>
            <a:spLocks noGrp="1"/>
          </p:cNvSpPr>
          <p:nvPr/>
        </p:nvSpPr>
        <p:spPr>
          <a:xfrm>
            <a:off x="8705850" y="23431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DeepBach and Coconet</a:t>
            </a:r>
          </a:p>
        </p:txBody>
      </p:sp>
      <p:sp>
        <p:nvSpPr>
          <p:cNvPr id="76" name="Rectangle 75">
            <a:extLst>
              <a:ext uri="{FF2B5EF4-FFF2-40B4-BE49-F238E27FC236}">
                <a16:creationId xmlns:a16="http://schemas.microsoft.com/office/drawing/2014/main" id="{86771945-A2DD-4149-BF4A-FA1003764EA1}"/>
              </a:ext>
            </a:extLst>
          </p:cNvPr>
          <p:cNvSpPr>
            <a:spLocks noGrp="1"/>
          </p:cNvSpPr>
          <p:nvPr/>
        </p:nvSpPr>
        <p:spPr>
          <a:xfrm>
            <a:off x="8496300" y="2952750"/>
            <a:ext cx="76200" cy="76200"/>
          </a:xfrm>
          <a:prstGeom prst="rect">
            <a:avLst/>
          </a:prstGeom>
          <a:solidFill>
            <a:srgbClr val="8D6B94"/>
          </a:solidFill>
          <a:ln w="0">
            <a:solidFill>
              <a:srgbClr val="000000">
                <a:alpha val="0"/>
              </a:srgbClr>
            </a:solidFill>
            <a:prstDash val="solid"/>
          </a:ln>
        </p:spPr>
        <p:txBody>
          <a:bodyPr/>
          <a:lstStyle/>
          <a:p>
            <a:endParaRPr lang="en-US"/>
          </a:p>
        </p:txBody>
      </p:sp>
      <p:sp>
        <p:nvSpPr>
          <p:cNvPr id="77" name="Rectangle 76">
            <a:extLst>
              <a:ext uri="{FF2B5EF4-FFF2-40B4-BE49-F238E27FC236}">
                <a16:creationId xmlns:a16="http://schemas.microsoft.com/office/drawing/2014/main" id="{D7FB6880-730C-4573-9151-04F7397762CA}"/>
              </a:ext>
            </a:extLst>
          </p:cNvPr>
          <p:cNvSpPr>
            <a:spLocks noGrp="1"/>
          </p:cNvSpPr>
          <p:nvPr/>
        </p:nvSpPr>
        <p:spPr>
          <a:xfrm>
            <a:off x="8705850" y="28765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neural context for harmony</a:t>
            </a:r>
          </a:p>
        </p:txBody>
      </p:sp>
      <p:sp>
        <p:nvSpPr>
          <p:cNvPr id="78" name="Rectangle 77">
            <a:extLst>
              <a:ext uri="{FF2B5EF4-FFF2-40B4-BE49-F238E27FC236}">
                <a16:creationId xmlns:a16="http://schemas.microsoft.com/office/drawing/2014/main" id="{9FCA63B5-73A8-4DFA-9714-2A33E5E3F348}"/>
              </a:ext>
            </a:extLst>
          </p:cNvPr>
          <p:cNvSpPr>
            <a:spLocks noGrp="1"/>
          </p:cNvSpPr>
          <p:nvPr/>
        </p:nvSpPr>
        <p:spPr>
          <a:xfrm>
            <a:off x="8496300" y="3486150"/>
            <a:ext cx="76200" cy="76200"/>
          </a:xfrm>
          <a:prstGeom prst="rect">
            <a:avLst/>
          </a:prstGeom>
          <a:solidFill>
            <a:srgbClr val="8D6B94"/>
          </a:solidFill>
          <a:ln w="0">
            <a:solidFill>
              <a:srgbClr val="000000">
                <a:alpha val="0"/>
              </a:srgbClr>
            </a:solidFill>
            <a:prstDash val="solid"/>
          </a:ln>
        </p:spPr>
        <p:txBody>
          <a:bodyPr/>
          <a:lstStyle/>
          <a:p>
            <a:endParaRPr lang="en-US"/>
          </a:p>
        </p:txBody>
      </p:sp>
      <p:sp>
        <p:nvSpPr>
          <p:cNvPr id="79" name="Rectangle 78">
            <a:extLst>
              <a:ext uri="{FF2B5EF4-FFF2-40B4-BE49-F238E27FC236}">
                <a16:creationId xmlns:a16="http://schemas.microsoft.com/office/drawing/2014/main" id="{BDF99AE7-54F6-45DF-BD02-F0FCEFC86FBC}"/>
              </a:ext>
            </a:extLst>
          </p:cNvPr>
          <p:cNvSpPr>
            <a:spLocks noGrp="1"/>
          </p:cNvSpPr>
          <p:nvPr/>
        </p:nvSpPr>
        <p:spPr>
          <a:xfrm>
            <a:off x="8705850" y="3409950"/>
            <a:ext cx="21717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F4EFE7"/>
                </a:solidFill>
                <a:latin typeface="Aptos"/>
                <a:ea typeface="Aptos"/>
                <a:cs typeface="Aptos"/>
              </a:defRPr>
            </a:pPr>
            <a:r>
              <a:rPr sz="1500" b="0">
                <a:solidFill>
                  <a:srgbClr val="F4EFE7"/>
                </a:solidFill>
                <a:latin typeface="Aptos"/>
                <a:ea typeface="Aptos"/>
                <a:cs typeface="Aptos"/>
              </a:rPr>
              <a:t>ours predicts chord labels, not full voicing</a:t>
            </a:r>
          </a:p>
        </p:txBody>
      </p:sp>
      <p:sp>
        <p:nvSpPr>
          <p:cNvPr id="80" name="Rectangle 79">
            <a:extLst>
              <a:ext uri="{FF2B5EF4-FFF2-40B4-BE49-F238E27FC236}">
                <a16:creationId xmlns:a16="http://schemas.microsoft.com/office/drawing/2014/main" id="{EDA7CA50-0D33-490E-92F4-25188A7EA224}"/>
              </a:ext>
            </a:extLst>
          </p:cNvPr>
          <p:cNvSpPr>
            <a:spLocks noGrp="1"/>
          </p:cNvSpPr>
          <p:nvPr/>
        </p:nvSpPr>
        <p:spPr>
          <a:xfrm>
            <a:off x="1181100" y="5143500"/>
            <a:ext cx="9715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4EFE7"/>
                </a:solidFill>
                <a:latin typeface="Aptos"/>
                <a:ea typeface="Aptos"/>
                <a:cs typeface="Aptos"/>
              </a:defRPr>
            </a:pPr>
            <a:r>
              <a:rPr sz="1650" b="1">
                <a:solidFill>
                  <a:srgbClr val="F4EFE7"/>
                </a:solidFill>
                <a:latin typeface="Aptos"/>
                <a:ea typeface="Aptos"/>
                <a:cs typeface="Aptos"/>
              </a:rPr>
              <a:t>Our scale is intentionally smaller: the point is to show the same learned-sequence advantage over n-gram and rule baselines inside a fast laptop assignment.</a:t>
            </a:r>
          </a:p>
        </p:txBody>
      </p:sp>
    </p:spTree>
    <p:extLst>
      <p:ext uri="{BB962C8B-B14F-4D97-AF65-F5344CB8AC3E}">
        <p14:creationId xmlns:p14="http://schemas.microsoft.com/office/powerpoint/2010/main" val="88200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0C1AEBC0-43CE-4EB5-B1EF-15A597BAAE94}"/>
              </a:ext>
            </a:extLst>
          </p:cNvPr>
          <p:cNvSpPr>
            <a:spLocks noGrp="1"/>
          </p:cNvSpPr>
          <p:nvPr/>
        </p:nvSpPr>
        <p:spPr>
          <a:xfrm>
            <a:off x="0" y="0"/>
            <a:ext cx="12192000" cy="6858000"/>
          </a:xfrm>
          <a:prstGeom prst="rect">
            <a:avLst/>
          </a:prstGeom>
          <a:solidFill>
            <a:srgbClr val="12100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033B769-B5C1-4387-9422-54F884E56215}"/>
              </a:ext>
            </a:extLst>
          </p:cNvPr>
          <p:cNvSpPr>
            <a:spLocks noGrp="1"/>
          </p:cNvSpPr>
          <p:nvPr/>
        </p:nvSpPr>
        <p:spPr>
          <a:xfrm>
            <a:off x="0" y="0"/>
            <a:ext cx="12192000" cy="1257300"/>
          </a:xfrm>
          <a:prstGeom prst="rect">
            <a:avLst/>
          </a:prstGeom>
          <a:solidFill>
            <a:srgbClr val="171310"/>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CD229383-17FE-473E-8A46-21703F9D6504}"/>
              </a:ext>
            </a:extLst>
          </p:cNvPr>
          <p:cNvSpPr>
            <a:spLocks noGrp="1"/>
          </p:cNvSpPr>
          <p:nvPr/>
        </p:nvSpPr>
        <p:spPr>
          <a:xfrm>
            <a:off x="342900" y="9906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16CD02A0-E067-4955-990F-282E6F922A3E}"/>
              </a:ext>
            </a:extLst>
          </p:cNvPr>
          <p:cNvSpPr>
            <a:spLocks noGrp="1"/>
          </p:cNvSpPr>
          <p:nvPr/>
        </p:nvSpPr>
        <p:spPr>
          <a:xfrm>
            <a:off x="342900" y="107632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2922F7EC-72C5-450E-86CC-20E5ABCEE4FE}"/>
              </a:ext>
            </a:extLst>
          </p:cNvPr>
          <p:cNvSpPr>
            <a:spLocks noGrp="1"/>
          </p:cNvSpPr>
          <p:nvPr/>
        </p:nvSpPr>
        <p:spPr>
          <a:xfrm>
            <a:off x="342900" y="116205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2CB1A51-62D6-4E30-96CD-B7BE394F4760}"/>
              </a:ext>
            </a:extLst>
          </p:cNvPr>
          <p:cNvSpPr>
            <a:spLocks noGrp="1"/>
          </p:cNvSpPr>
          <p:nvPr/>
        </p:nvSpPr>
        <p:spPr>
          <a:xfrm>
            <a:off x="342900" y="1247775"/>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BDE9FCE6-7CC1-4788-AB98-DD7DC4E28001}"/>
              </a:ext>
            </a:extLst>
          </p:cNvPr>
          <p:cNvSpPr>
            <a:spLocks noGrp="1"/>
          </p:cNvSpPr>
          <p:nvPr/>
        </p:nvSpPr>
        <p:spPr>
          <a:xfrm>
            <a:off x="342900" y="1333500"/>
            <a:ext cx="11506200" cy="12383"/>
          </a:xfrm>
          <a:prstGeom prst="rect">
            <a:avLst/>
          </a:prstGeom>
          <a:solidFill>
            <a:srgbClr val="5C534B"/>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6CC1A69F-EA3C-410C-A05D-576DF09891D2}"/>
              </a:ext>
            </a:extLst>
          </p:cNvPr>
          <p:cNvSpPr>
            <a:spLocks noGrp="1"/>
          </p:cNvSpPr>
          <p:nvPr/>
        </p:nvSpPr>
        <p:spPr>
          <a:xfrm>
            <a:off x="495300" y="6043613"/>
            <a:ext cx="198726" cy="66675"/>
          </a:xfrm>
          <a:prstGeom prst="rect">
            <a:avLst/>
          </a:prstGeom>
          <a:solidFill>
            <a:srgbClr val="FFB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AC1FDF95-3414-40F5-B07B-02A5CA06779C}"/>
              </a:ext>
            </a:extLst>
          </p:cNvPr>
          <p:cNvSpPr>
            <a:spLocks noGrp="1"/>
          </p:cNvSpPr>
          <p:nvPr/>
        </p:nvSpPr>
        <p:spPr>
          <a:xfrm>
            <a:off x="751176" y="5964598"/>
            <a:ext cx="198726" cy="224704"/>
          </a:xfrm>
          <a:prstGeom prst="rect">
            <a:avLst/>
          </a:prstGeom>
          <a:solidFill>
            <a:srgbClr val="2EC4B6"/>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4925469-EA62-4A3D-8D20-4B1EB9DFE6A4}"/>
              </a:ext>
            </a:extLst>
          </p:cNvPr>
          <p:cNvSpPr>
            <a:spLocks noGrp="1"/>
          </p:cNvSpPr>
          <p:nvPr/>
        </p:nvSpPr>
        <p:spPr>
          <a:xfrm>
            <a:off x="1007052" y="5910882"/>
            <a:ext cx="198726" cy="332136"/>
          </a:xfrm>
          <a:prstGeom prst="rect">
            <a:avLst/>
          </a:prstGeom>
          <a:solidFill>
            <a:srgbClr val="2EC4B6"/>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A7F597C2-2A95-40C8-9D02-12C57E280BF5}"/>
              </a:ext>
            </a:extLst>
          </p:cNvPr>
          <p:cNvSpPr>
            <a:spLocks noGrp="1"/>
          </p:cNvSpPr>
          <p:nvPr/>
        </p:nvSpPr>
        <p:spPr>
          <a:xfrm>
            <a:off x="1262928" y="5898231"/>
            <a:ext cx="198726" cy="357437"/>
          </a:xfrm>
          <a:prstGeom prst="rect">
            <a:avLst/>
          </a:prstGeom>
          <a:solidFill>
            <a:srgbClr val="2EC4B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22F978B7-2870-4C56-A79A-BC21648D90B4}"/>
              </a:ext>
            </a:extLst>
          </p:cNvPr>
          <p:cNvSpPr>
            <a:spLocks noGrp="1"/>
          </p:cNvSpPr>
          <p:nvPr/>
        </p:nvSpPr>
        <p:spPr>
          <a:xfrm>
            <a:off x="1518805" y="5927002"/>
            <a:ext cx="198726" cy="299897"/>
          </a:xfrm>
          <a:prstGeom prst="rect">
            <a:avLst/>
          </a:prstGeom>
          <a:solidFill>
            <a:srgbClr val="FFB0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A2BB00F9-ED73-403D-B451-25555714A47B}"/>
              </a:ext>
            </a:extLst>
          </p:cNvPr>
          <p:cNvSpPr>
            <a:spLocks noGrp="1"/>
          </p:cNvSpPr>
          <p:nvPr/>
        </p:nvSpPr>
        <p:spPr>
          <a:xfrm>
            <a:off x="1774681" y="5982164"/>
            <a:ext cx="198726" cy="189572"/>
          </a:xfrm>
          <a:prstGeom prst="rect">
            <a:avLst/>
          </a:prstGeom>
          <a:solidFill>
            <a:srgbClr val="2EC4B6"/>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ADDFE4ED-DB5A-49CC-9B33-CE67AD788C75}"/>
              </a:ext>
            </a:extLst>
          </p:cNvPr>
          <p:cNvSpPr>
            <a:spLocks noGrp="1"/>
          </p:cNvSpPr>
          <p:nvPr/>
        </p:nvSpPr>
        <p:spPr>
          <a:xfrm>
            <a:off x="2030557" y="6039217"/>
            <a:ext cx="198726" cy="75466"/>
          </a:xfrm>
          <a:prstGeom prst="rect">
            <a:avLst/>
          </a:prstGeom>
          <a:solidFill>
            <a:srgbClr val="2EC4B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46ADE87D-379D-4D47-B730-D26D1D0451C0}"/>
              </a:ext>
            </a:extLst>
          </p:cNvPr>
          <p:cNvSpPr>
            <a:spLocks noGrp="1"/>
          </p:cNvSpPr>
          <p:nvPr/>
        </p:nvSpPr>
        <p:spPr>
          <a:xfrm>
            <a:off x="2286433" y="6013509"/>
            <a:ext cx="198726" cy="126882"/>
          </a:xfrm>
          <a:prstGeom prst="rect">
            <a:avLst/>
          </a:prstGeom>
          <a:solidFill>
            <a:srgbClr val="2EC4B6"/>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EA1369B7-C826-4248-A1D5-ECE775232F90}"/>
              </a:ext>
            </a:extLst>
          </p:cNvPr>
          <p:cNvSpPr>
            <a:spLocks noGrp="1"/>
          </p:cNvSpPr>
          <p:nvPr/>
        </p:nvSpPr>
        <p:spPr>
          <a:xfrm>
            <a:off x="2542309" y="6016478"/>
            <a:ext cx="198726" cy="120944"/>
          </a:xfrm>
          <a:prstGeom prst="rect">
            <a:avLst/>
          </a:prstGeom>
          <a:solidFill>
            <a:srgbClr val="FFB000"/>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639C90C4-E529-453C-A45F-C5BB32734C1D}"/>
              </a:ext>
            </a:extLst>
          </p:cNvPr>
          <p:cNvSpPr>
            <a:spLocks noGrp="1"/>
          </p:cNvSpPr>
          <p:nvPr/>
        </p:nvSpPr>
        <p:spPr>
          <a:xfrm>
            <a:off x="2798185" y="6030714"/>
            <a:ext cx="198726" cy="92472"/>
          </a:xfrm>
          <a:prstGeom prst="rect">
            <a:avLst/>
          </a:prstGeom>
          <a:solidFill>
            <a:srgbClr val="2EC4B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BF5B2C6D-59F9-448A-9AF0-8258B7CCF39C}"/>
              </a:ext>
            </a:extLst>
          </p:cNvPr>
          <p:cNvSpPr>
            <a:spLocks noGrp="1"/>
          </p:cNvSpPr>
          <p:nvPr/>
        </p:nvSpPr>
        <p:spPr>
          <a:xfrm>
            <a:off x="3054061" y="5969212"/>
            <a:ext cx="198726" cy="215476"/>
          </a:xfrm>
          <a:prstGeom prst="rect">
            <a:avLst/>
          </a:prstGeom>
          <a:solidFill>
            <a:srgbClr val="2EC4B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641D5C93-F40E-4662-8E6E-9B1B2C3F19D6}"/>
              </a:ext>
            </a:extLst>
          </p:cNvPr>
          <p:cNvSpPr>
            <a:spLocks noGrp="1"/>
          </p:cNvSpPr>
          <p:nvPr/>
        </p:nvSpPr>
        <p:spPr>
          <a:xfrm>
            <a:off x="3309938" y="5911029"/>
            <a:ext cx="198726" cy="331843"/>
          </a:xfrm>
          <a:prstGeom prst="rect">
            <a:avLst/>
          </a:prstGeom>
          <a:solidFill>
            <a:srgbClr val="2EC4B6"/>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78238621-9FE2-4A08-96D0-2ECADD30FECF}"/>
              </a:ext>
            </a:extLst>
          </p:cNvPr>
          <p:cNvSpPr>
            <a:spLocks noGrp="1"/>
          </p:cNvSpPr>
          <p:nvPr/>
        </p:nvSpPr>
        <p:spPr>
          <a:xfrm>
            <a:off x="3565814" y="5880586"/>
            <a:ext cx="198726" cy="392727"/>
          </a:xfrm>
          <a:prstGeom prst="rect">
            <a:avLst/>
          </a:prstGeom>
          <a:solidFill>
            <a:srgbClr val="FFB000"/>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CB23376B-F36B-4CE9-AB33-0E967588FBF6}"/>
              </a:ext>
            </a:extLst>
          </p:cNvPr>
          <p:cNvSpPr>
            <a:spLocks noGrp="1"/>
          </p:cNvSpPr>
          <p:nvPr/>
        </p:nvSpPr>
        <p:spPr>
          <a:xfrm>
            <a:off x="3821690" y="5892490"/>
            <a:ext cx="198726" cy="368919"/>
          </a:xfrm>
          <a:prstGeom prst="rect">
            <a:avLst/>
          </a:prstGeom>
          <a:solidFill>
            <a:srgbClr val="2EC4B6"/>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948C9001-F035-4745-9173-83E3AB57A764}"/>
              </a:ext>
            </a:extLst>
          </p:cNvPr>
          <p:cNvSpPr>
            <a:spLocks noGrp="1"/>
          </p:cNvSpPr>
          <p:nvPr/>
        </p:nvSpPr>
        <p:spPr>
          <a:xfrm>
            <a:off x="4077566" y="5945816"/>
            <a:ext cx="198726" cy="262268"/>
          </a:xfrm>
          <a:prstGeom prst="rect">
            <a:avLst/>
          </a:prstGeom>
          <a:solidFill>
            <a:srgbClr val="2EC4B6"/>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5B99DE1E-6BE8-4386-BA29-FC810DF874CD}"/>
              </a:ext>
            </a:extLst>
          </p:cNvPr>
          <p:cNvSpPr>
            <a:spLocks noGrp="1"/>
          </p:cNvSpPr>
          <p:nvPr/>
        </p:nvSpPr>
        <p:spPr>
          <a:xfrm>
            <a:off x="4333442" y="6024332"/>
            <a:ext cx="198726" cy="105236"/>
          </a:xfrm>
          <a:prstGeom prst="rect">
            <a:avLst/>
          </a:prstGeom>
          <a:solidFill>
            <a:srgbClr val="2EC4B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CC3F6284-AFE6-4D30-83BD-37014EBB4518}"/>
              </a:ext>
            </a:extLst>
          </p:cNvPr>
          <p:cNvSpPr>
            <a:spLocks noGrp="1"/>
          </p:cNvSpPr>
          <p:nvPr/>
        </p:nvSpPr>
        <p:spPr>
          <a:xfrm>
            <a:off x="4589318" y="5984644"/>
            <a:ext cx="198726" cy="184612"/>
          </a:xfrm>
          <a:prstGeom prst="rect">
            <a:avLst/>
          </a:prstGeom>
          <a:solidFill>
            <a:srgbClr val="FFB000"/>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AF1C9AB6-72C1-44AA-9EB0-0F3609D22C86}"/>
              </a:ext>
            </a:extLst>
          </p:cNvPr>
          <p:cNvSpPr>
            <a:spLocks noGrp="1"/>
          </p:cNvSpPr>
          <p:nvPr/>
        </p:nvSpPr>
        <p:spPr>
          <a:xfrm>
            <a:off x="4845194" y="5931741"/>
            <a:ext cx="198726" cy="290417"/>
          </a:xfrm>
          <a:prstGeom prst="rect">
            <a:avLst/>
          </a:prstGeom>
          <a:solidFill>
            <a:srgbClr val="2EC4B6"/>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E5AD54C6-283D-4A18-8AA1-C7153FB8A33C}"/>
              </a:ext>
            </a:extLst>
          </p:cNvPr>
          <p:cNvSpPr>
            <a:spLocks noGrp="1"/>
          </p:cNvSpPr>
          <p:nvPr/>
        </p:nvSpPr>
        <p:spPr>
          <a:xfrm>
            <a:off x="5101070" y="5919436"/>
            <a:ext cx="198726" cy="315029"/>
          </a:xfrm>
          <a:prstGeom prst="rect">
            <a:avLst/>
          </a:prstGeom>
          <a:solidFill>
            <a:srgbClr val="2EC4B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2CB61622-98D4-4A2D-82D1-43638A64E86B}"/>
              </a:ext>
            </a:extLst>
          </p:cNvPr>
          <p:cNvSpPr>
            <a:spLocks noGrp="1"/>
          </p:cNvSpPr>
          <p:nvPr/>
        </p:nvSpPr>
        <p:spPr>
          <a:xfrm>
            <a:off x="5356947" y="5947475"/>
            <a:ext cx="198726" cy="258950"/>
          </a:xfrm>
          <a:prstGeom prst="rect">
            <a:avLst/>
          </a:prstGeom>
          <a:solidFill>
            <a:srgbClr val="2EC4B6"/>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9A135F43-78D3-4B15-88CD-1409056025AC}"/>
              </a:ext>
            </a:extLst>
          </p:cNvPr>
          <p:cNvSpPr>
            <a:spLocks noGrp="1"/>
          </p:cNvSpPr>
          <p:nvPr/>
        </p:nvSpPr>
        <p:spPr>
          <a:xfrm>
            <a:off x="5612823" y="6000381"/>
            <a:ext cx="198726" cy="153139"/>
          </a:xfrm>
          <a:prstGeom prst="rect">
            <a:avLst/>
          </a:prstGeom>
          <a:solidFill>
            <a:srgbClr val="FFB000"/>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E0A5C147-DCF4-4C58-9953-CD6F3416F4B0}"/>
              </a:ext>
            </a:extLst>
          </p:cNvPr>
          <p:cNvSpPr>
            <a:spLocks noGrp="1"/>
          </p:cNvSpPr>
          <p:nvPr/>
        </p:nvSpPr>
        <p:spPr>
          <a:xfrm>
            <a:off x="5868699" y="6033664"/>
            <a:ext cx="198726" cy="86571"/>
          </a:xfrm>
          <a:prstGeom prst="rect">
            <a:avLst/>
          </a:prstGeom>
          <a:solidFill>
            <a:srgbClr val="2EC4B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1342A0E0-1369-48EB-80F5-F887459C975E}"/>
              </a:ext>
            </a:extLst>
          </p:cNvPr>
          <p:cNvSpPr>
            <a:spLocks noGrp="1"/>
          </p:cNvSpPr>
          <p:nvPr/>
        </p:nvSpPr>
        <p:spPr>
          <a:xfrm>
            <a:off x="6124575" y="6004320"/>
            <a:ext cx="198726" cy="145261"/>
          </a:xfrm>
          <a:prstGeom prst="rect">
            <a:avLst/>
          </a:prstGeom>
          <a:solidFill>
            <a:srgbClr val="2EC4B6"/>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FE25644F-E00F-4376-A64A-1AEFBE907EA5}"/>
              </a:ext>
            </a:extLst>
          </p:cNvPr>
          <p:cNvSpPr>
            <a:spLocks noGrp="1"/>
          </p:cNvSpPr>
          <p:nvPr/>
        </p:nvSpPr>
        <p:spPr>
          <a:xfrm>
            <a:off x="6380451" y="6013048"/>
            <a:ext cx="198726" cy="127803"/>
          </a:xfrm>
          <a:prstGeom prst="rect">
            <a:avLst/>
          </a:prstGeom>
          <a:solidFill>
            <a:srgbClr val="2EC4B6"/>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CD59FC7A-68B3-4A67-8CCC-29FFB50E768D}"/>
              </a:ext>
            </a:extLst>
          </p:cNvPr>
          <p:cNvSpPr>
            <a:spLocks noGrp="1"/>
          </p:cNvSpPr>
          <p:nvPr/>
        </p:nvSpPr>
        <p:spPr>
          <a:xfrm>
            <a:off x="6636327" y="6028582"/>
            <a:ext cx="198726" cy="96737"/>
          </a:xfrm>
          <a:prstGeom prst="rect">
            <a:avLst/>
          </a:prstGeom>
          <a:solidFill>
            <a:srgbClr val="FFB000"/>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01F9E69-A618-44E5-9890-895A6CC75581}"/>
              </a:ext>
            </a:extLst>
          </p:cNvPr>
          <p:cNvSpPr>
            <a:spLocks noGrp="1"/>
          </p:cNvSpPr>
          <p:nvPr/>
        </p:nvSpPr>
        <p:spPr>
          <a:xfrm>
            <a:off x="6892203" y="5962387"/>
            <a:ext cx="198726" cy="229126"/>
          </a:xfrm>
          <a:prstGeom prst="rect">
            <a:avLst/>
          </a:prstGeom>
          <a:solidFill>
            <a:srgbClr val="2EC4B6"/>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B50B811E-85AB-454B-B1F6-9D0D48124F60}"/>
              </a:ext>
            </a:extLst>
          </p:cNvPr>
          <p:cNvSpPr>
            <a:spLocks noGrp="1"/>
          </p:cNvSpPr>
          <p:nvPr/>
        </p:nvSpPr>
        <p:spPr>
          <a:xfrm>
            <a:off x="7148080" y="5900718"/>
            <a:ext cx="198726" cy="352464"/>
          </a:xfrm>
          <a:prstGeom prst="rect">
            <a:avLst/>
          </a:prstGeom>
          <a:solidFill>
            <a:srgbClr val="2EC4B6"/>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C73A75B7-2F5A-4DE7-BC01-8560A3C3F259}"/>
              </a:ext>
            </a:extLst>
          </p:cNvPr>
          <p:cNvSpPr>
            <a:spLocks noGrp="1"/>
          </p:cNvSpPr>
          <p:nvPr/>
        </p:nvSpPr>
        <p:spPr>
          <a:xfrm>
            <a:off x="7403956" y="5867921"/>
            <a:ext cx="198726" cy="418059"/>
          </a:xfrm>
          <a:prstGeom prst="rect">
            <a:avLst/>
          </a:prstGeom>
          <a:solidFill>
            <a:srgbClr val="2EC4B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C7AFB767-7B3F-49DD-938F-B749E22BA54B}"/>
              </a:ext>
            </a:extLst>
          </p:cNvPr>
          <p:cNvSpPr>
            <a:spLocks noGrp="1"/>
          </p:cNvSpPr>
          <p:nvPr/>
        </p:nvSpPr>
        <p:spPr>
          <a:xfrm>
            <a:off x="7659832" y="5878192"/>
            <a:ext cx="198726" cy="397515"/>
          </a:xfrm>
          <a:prstGeom prst="rect">
            <a:avLst/>
          </a:prstGeom>
          <a:solidFill>
            <a:srgbClr val="FFB000"/>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438CE815-C1B9-4AB8-8605-6E1048586C16}"/>
              </a:ext>
            </a:extLst>
          </p:cNvPr>
          <p:cNvSpPr>
            <a:spLocks noGrp="1"/>
          </p:cNvSpPr>
          <p:nvPr/>
        </p:nvSpPr>
        <p:spPr>
          <a:xfrm>
            <a:off x="7915708" y="5930072"/>
            <a:ext cx="198726" cy="293756"/>
          </a:xfrm>
          <a:prstGeom prst="rect">
            <a:avLst/>
          </a:prstGeom>
          <a:solidFill>
            <a:srgbClr val="2EC4B6"/>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CBCF3E8E-E0AA-4CC6-8E57-EEFEA4D3EB12}"/>
              </a:ext>
            </a:extLst>
          </p:cNvPr>
          <p:cNvSpPr>
            <a:spLocks noGrp="1"/>
          </p:cNvSpPr>
          <p:nvPr/>
        </p:nvSpPr>
        <p:spPr>
          <a:xfrm>
            <a:off x="8171584" y="6006911"/>
            <a:ext cx="198726" cy="140078"/>
          </a:xfrm>
          <a:prstGeom prst="rect">
            <a:avLst/>
          </a:prstGeom>
          <a:solidFill>
            <a:srgbClr val="2EC4B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D9F345C1-F6C1-40D1-A067-E6BFEFD0D073}"/>
              </a:ext>
            </a:extLst>
          </p:cNvPr>
          <p:cNvSpPr>
            <a:spLocks noGrp="1"/>
          </p:cNvSpPr>
          <p:nvPr/>
        </p:nvSpPr>
        <p:spPr>
          <a:xfrm>
            <a:off x="8427460" y="6004075"/>
            <a:ext cx="198726" cy="145749"/>
          </a:xfrm>
          <a:prstGeom prst="rect">
            <a:avLst/>
          </a:prstGeom>
          <a:solidFill>
            <a:srgbClr val="2EC4B6"/>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D10A8135-0CCE-47B5-A7CB-F7C434188E4C}"/>
              </a:ext>
            </a:extLst>
          </p:cNvPr>
          <p:cNvSpPr>
            <a:spLocks noGrp="1"/>
          </p:cNvSpPr>
          <p:nvPr/>
        </p:nvSpPr>
        <p:spPr>
          <a:xfrm>
            <a:off x="8683336" y="5953239"/>
            <a:ext cx="198726" cy="247422"/>
          </a:xfrm>
          <a:prstGeom prst="rect">
            <a:avLst/>
          </a:prstGeom>
          <a:solidFill>
            <a:srgbClr val="FFB000"/>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28EB12E6-EDA6-4106-9318-3E1F43C88AB6}"/>
              </a:ext>
            </a:extLst>
          </p:cNvPr>
          <p:cNvSpPr>
            <a:spLocks noGrp="1"/>
          </p:cNvSpPr>
          <p:nvPr/>
        </p:nvSpPr>
        <p:spPr>
          <a:xfrm>
            <a:off x="8939213" y="5942485"/>
            <a:ext cx="198726" cy="268931"/>
          </a:xfrm>
          <a:prstGeom prst="rect">
            <a:avLst/>
          </a:prstGeom>
          <a:solidFill>
            <a:srgbClr val="2EC4B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5423EE0B-487E-4375-B811-6DDFB9D96F7A}"/>
              </a:ext>
            </a:extLst>
          </p:cNvPr>
          <p:cNvSpPr>
            <a:spLocks noGrp="1"/>
          </p:cNvSpPr>
          <p:nvPr/>
        </p:nvSpPr>
        <p:spPr>
          <a:xfrm>
            <a:off x="9195089" y="5970910"/>
            <a:ext cx="198726" cy="212081"/>
          </a:xfrm>
          <a:prstGeom prst="rect">
            <a:avLst/>
          </a:prstGeom>
          <a:solidFill>
            <a:srgbClr val="2EC4B6"/>
          </a:solidFill>
          <a:ln w="0">
            <a:solidFill>
              <a:srgbClr val="000000">
                <a:alpha val="0"/>
              </a:srgbClr>
            </a:solidFill>
            <a:prstDash val="solid"/>
          </a:ln>
        </p:spPr>
        <p:txBody>
          <a:bodyPr/>
          <a:lstStyle/>
          <a:p>
            <a:endParaRPr lang="en-US"/>
          </a:p>
        </p:txBody>
      </p:sp>
      <p:sp>
        <p:nvSpPr>
          <p:cNvPr id="43" name="Rectangle 42">
            <a:extLst>
              <a:ext uri="{FF2B5EF4-FFF2-40B4-BE49-F238E27FC236}">
                <a16:creationId xmlns:a16="http://schemas.microsoft.com/office/drawing/2014/main" id="{F50BE495-9010-4238-B99E-4E3583A67FBF}"/>
              </a:ext>
            </a:extLst>
          </p:cNvPr>
          <p:cNvSpPr>
            <a:spLocks noGrp="1"/>
          </p:cNvSpPr>
          <p:nvPr/>
        </p:nvSpPr>
        <p:spPr>
          <a:xfrm>
            <a:off x="9450965" y="6022556"/>
            <a:ext cx="198726" cy="108788"/>
          </a:xfrm>
          <a:prstGeom prst="rect">
            <a:avLst/>
          </a:prstGeom>
          <a:solidFill>
            <a:srgbClr val="2EC4B6"/>
          </a:solidFill>
          <a:ln w="0">
            <a:solidFill>
              <a:srgbClr val="000000">
                <a:alpha val="0"/>
              </a:srgbClr>
            </a:solidFill>
            <a:prstDash val="solid"/>
          </a:ln>
        </p:spPr>
        <p:txBody>
          <a:bodyPr/>
          <a:lstStyle/>
          <a:p>
            <a:endParaRPr lang="en-US"/>
          </a:p>
        </p:txBody>
      </p:sp>
      <p:sp>
        <p:nvSpPr>
          <p:cNvPr id="44" name="Rectangle 43">
            <a:extLst>
              <a:ext uri="{FF2B5EF4-FFF2-40B4-BE49-F238E27FC236}">
                <a16:creationId xmlns:a16="http://schemas.microsoft.com/office/drawing/2014/main" id="{4AD62245-85C5-4AF2-BCD5-B1EC0389CC8D}"/>
              </a:ext>
            </a:extLst>
          </p:cNvPr>
          <p:cNvSpPr>
            <a:spLocks noGrp="1"/>
          </p:cNvSpPr>
          <p:nvPr/>
        </p:nvSpPr>
        <p:spPr>
          <a:xfrm>
            <a:off x="9706841" y="6014507"/>
            <a:ext cx="198726" cy="124886"/>
          </a:xfrm>
          <a:prstGeom prst="rect">
            <a:avLst/>
          </a:prstGeom>
          <a:solidFill>
            <a:srgbClr val="FFB000"/>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FEEFBA61-83CB-4310-A12A-819402AA03EA}"/>
              </a:ext>
            </a:extLst>
          </p:cNvPr>
          <p:cNvSpPr>
            <a:spLocks noGrp="1"/>
          </p:cNvSpPr>
          <p:nvPr/>
        </p:nvSpPr>
        <p:spPr>
          <a:xfrm>
            <a:off x="9962717" y="5989620"/>
            <a:ext cx="198726" cy="174661"/>
          </a:xfrm>
          <a:prstGeom prst="rect">
            <a:avLst/>
          </a:prstGeom>
          <a:solidFill>
            <a:srgbClr val="2EC4B6"/>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F7E3C78A-5711-41A0-B86A-FE2DDE0AA2BF}"/>
              </a:ext>
            </a:extLst>
          </p:cNvPr>
          <p:cNvSpPr>
            <a:spLocks noGrp="1"/>
          </p:cNvSpPr>
          <p:nvPr/>
        </p:nvSpPr>
        <p:spPr>
          <a:xfrm>
            <a:off x="10218593" y="6003586"/>
            <a:ext cx="198726" cy="146728"/>
          </a:xfrm>
          <a:prstGeom prst="rect">
            <a:avLst/>
          </a:prstGeom>
          <a:solidFill>
            <a:srgbClr val="2EC4B6"/>
          </a:solidFill>
          <a:ln w="0">
            <a:solidFill>
              <a:srgbClr val="000000">
                <a:alpha val="0"/>
              </a:srgbClr>
            </a:solidFill>
            <a:prstDash val="solid"/>
          </a:ln>
        </p:spPr>
        <p:txBody>
          <a:bodyPr/>
          <a:lstStyle/>
          <a:p>
            <a:endParaRPr lang="en-US"/>
          </a:p>
        </p:txBody>
      </p:sp>
      <p:sp>
        <p:nvSpPr>
          <p:cNvPr id="47" name="Rectangle 46">
            <a:extLst>
              <a:ext uri="{FF2B5EF4-FFF2-40B4-BE49-F238E27FC236}">
                <a16:creationId xmlns:a16="http://schemas.microsoft.com/office/drawing/2014/main" id="{C40B8620-D9B0-4585-8CEB-BC9E485BB2B0}"/>
              </a:ext>
            </a:extLst>
          </p:cNvPr>
          <p:cNvSpPr>
            <a:spLocks noGrp="1"/>
          </p:cNvSpPr>
          <p:nvPr/>
        </p:nvSpPr>
        <p:spPr>
          <a:xfrm>
            <a:off x="10474469" y="6032809"/>
            <a:ext cx="198726" cy="88282"/>
          </a:xfrm>
          <a:prstGeom prst="rect">
            <a:avLst/>
          </a:prstGeom>
          <a:solidFill>
            <a:srgbClr val="2EC4B6"/>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28CEEEA1-BED9-4C87-BF3F-9F87DF7C3807}"/>
              </a:ext>
            </a:extLst>
          </p:cNvPr>
          <p:cNvSpPr>
            <a:spLocks noGrp="1"/>
          </p:cNvSpPr>
          <p:nvPr/>
        </p:nvSpPr>
        <p:spPr>
          <a:xfrm>
            <a:off x="10730345" y="5962034"/>
            <a:ext cx="198726" cy="229832"/>
          </a:xfrm>
          <a:prstGeom prst="rect">
            <a:avLst/>
          </a:prstGeom>
          <a:solidFill>
            <a:srgbClr val="FFB000"/>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DB6DCEA0-FF29-4017-AC73-3CB6E3914EC5}"/>
              </a:ext>
            </a:extLst>
          </p:cNvPr>
          <p:cNvSpPr>
            <a:spLocks noGrp="1"/>
          </p:cNvSpPr>
          <p:nvPr/>
        </p:nvSpPr>
        <p:spPr>
          <a:xfrm>
            <a:off x="10986222" y="5896757"/>
            <a:ext cx="198726" cy="360386"/>
          </a:xfrm>
          <a:prstGeom prst="rect">
            <a:avLst/>
          </a:prstGeom>
          <a:solidFill>
            <a:srgbClr val="2EC4B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77957CDA-5F68-44FF-A84D-B7CF2A3F1AE6}"/>
              </a:ext>
            </a:extLst>
          </p:cNvPr>
          <p:cNvSpPr>
            <a:spLocks noGrp="1"/>
          </p:cNvSpPr>
          <p:nvPr/>
        </p:nvSpPr>
        <p:spPr>
          <a:xfrm>
            <a:off x="11242098" y="5861239"/>
            <a:ext cx="198726" cy="431422"/>
          </a:xfrm>
          <a:prstGeom prst="rect">
            <a:avLst/>
          </a:prstGeom>
          <a:solidFill>
            <a:srgbClr val="2EC4B6"/>
          </a:solidFill>
          <a:ln w="0">
            <a:solidFill>
              <a:srgbClr val="000000">
                <a:alpha val="0"/>
              </a:srgbClr>
            </a:solidFill>
            <a:prstDash val="solid"/>
          </a:ln>
        </p:spPr>
        <p:txBody>
          <a:bodyPr/>
          <a:lstStyle/>
          <a:p>
            <a:endParaRPr lang="en-US"/>
          </a:p>
        </p:txBody>
      </p:sp>
      <p:sp>
        <p:nvSpPr>
          <p:cNvPr id="51" name="Rectangle 50">
            <a:extLst>
              <a:ext uri="{FF2B5EF4-FFF2-40B4-BE49-F238E27FC236}">
                <a16:creationId xmlns:a16="http://schemas.microsoft.com/office/drawing/2014/main" id="{750AB4F1-655E-4BAD-94A1-67D48BBDA2B8}"/>
              </a:ext>
            </a:extLst>
          </p:cNvPr>
          <p:cNvSpPr>
            <a:spLocks noGrp="1"/>
          </p:cNvSpPr>
          <p:nvPr/>
        </p:nvSpPr>
        <p:spPr>
          <a:xfrm>
            <a:off x="11497974" y="5869274"/>
            <a:ext cx="198726" cy="415351"/>
          </a:xfrm>
          <a:prstGeom prst="rect">
            <a:avLst/>
          </a:prstGeom>
          <a:solidFill>
            <a:srgbClr val="2EC4B6"/>
          </a:solidFill>
          <a:ln w="0">
            <a:solidFill>
              <a:srgbClr val="000000">
                <a:alpha val="0"/>
              </a:srgbClr>
            </a:solidFill>
            <a:prstDash val="solid"/>
          </a:ln>
        </p:spPr>
        <p:txBody>
          <a:bodyPr/>
          <a:lstStyle/>
          <a:p>
            <a:endParaRPr lang="en-US"/>
          </a:p>
        </p:txBody>
      </p:sp>
      <p:sp>
        <p:nvSpPr>
          <p:cNvPr id="52" name="kicker-label">
            <a:extLst>
              <a:ext uri="{FF2B5EF4-FFF2-40B4-BE49-F238E27FC236}">
                <a16:creationId xmlns:a16="http://schemas.microsoft.com/office/drawing/2014/main" id="{C939D4A7-F828-473F-9636-FE20739FA4B7}"/>
              </a:ext>
            </a:extLst>
          </p:cNvPr>
          <p:cNvSpPr>
            <a:spLocks noGrp="1"/>
          </p:cNvSpPr>
          <p:nvPr/>
        </p:nvSpPr>
        <p:spPr>
          <a:xfrm>
            <a:off x="552450" y="285750"/>
            <a:ext cx="619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B000"/>
                </a:solidFill>
                <a:latin typeface="Aptos"/>
                <a:ea typeface="Aptos"/>
                <a:cs typeface="Aptos"/>
              </a:defRPr>
            </a:pPr>
            <a:r>
              <a:rPr sz="975" b="1">
                <a:solidFill>
                  <a:srgbClr val="FFB000"/>
                </a:solidFill>
                <a:latin typeface="Aptos"/>
                <a:ea typeface="Aptos"/>
                <a:cs typeface="Aptos"/>
              </a:rPr>
              <a:t>takeaways</a:t>
            </a:r>
          </a:p>
        </p:txBody>
      </p:sp>
      <p:sp>
        <p:nvSpPr>
          <p:cNvPr id="53" name="slide-title">
            <a:extLst>
              <a:ext uri="{FF2B5EF4-FFF2-40B4-BE49-F238E27FC236}">
                <a16:creationId xmlns:a16="http://schemas.microsoft.com/office/drawing/2014/main" id="{D28C6C2F-7785-4B26-8C25-0FAEC5F7F8C4}"/>
              </a:ext>
            </a:extLst>
          </p:cNvPr>
          <p:cNvSpPr>
            <a:spLocks noGrp="1"/>
          </p:cNvSpPr>
          <p:nvPr/>
        </p:nvSpPr>
        <p:spPr>
          <a:xfrm>
            <a:off x="552450" y="514350"/>
            <a:ext cx="91440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4EFE7"/>
                </a:solidFill>
                <a:latin typeface="Aptos Display"/>
                <a:ea typeface="Aptos Display"/>
                <a:cs typeface="Aptos Display"/>
              </a:defRPr>
            </a:pPr>
            <a:r>
              <a:rPr sz="2475" b="1">
                <a:solidFill>
                  <a:srgbClr val="F4EFE7"/>
                </a:solidFill>
                <a:latin typeface="Aptos Display"/>
                <a:ea typeface="Aptos Display"/>
                <a:cs typeface="Aptos Display"/>
              </a:rPr>
              <a:t>What to remember before we listen</a:t>
            </a:r>
          </a:p>
        </p:txBody>
      </p:sp>
      <p:sp>
        <p:nvSpPr>
          <p:cNvPr id="54" name="page-number">
            <a:extLst>
              <a:ext uri="{FF2B5EF4-FFF2-40B4-BE49-F238E27FC236}">
                <a16:creationId xmlns:a16="http://schemas.microsoft.com/office/drawing/2014/main" id="{129BC49F-BBD2-428F-A6EF-B1BC5D920BC8}"/>
              </a:ext>
            </a:extLst>
          </p:cNvPr>
          <p:cNvSpPr>
            <a:spLocks noGrp="1"/>
          </p:cNvSpPr>
          <p:nvPr/>
        </p:nvSpPr>
        <p:spPr>
          <a:xfrm>
            <a:off x="11334750" y="6343650"/>
            <a:ext cx="38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C534B"/>
                </a:solidFill>
                <a:latin typeface="Aptos"/>
                <a:ea typeface="Aptos"/>
                <a:cs typeface="Aptos"/>
              </a:defRPr>
            </a:pPr>
            <a:r>
              <a:rPr sz="825" b="0">
                <a:solidFill>
                  <a:srgbClr val="5C534B"/>
                </a:solidFill>
                <a:latin typeface="Aptos"/>
                <a:ea typeface="Aptos"/>
                <a:cs typeface="Aptos"/>
              </a:rPr>
              <a:t>14</a:t>
            </a:r>
          </a:p>
        </p:txBody>
      </p:sp>
      <p:pic>
        <p:nvPicPr>
          <p:cNvPr id="55" name="Graphic 54"/>
          <p:cNvPicPr>
            <a:picLocks noChangeAspect="1"/>
          </p:cNvPicPr>
          <p:nvPr/>
        </p:nvPicPr>
        <p:blipFill>
          <a:blip>
            <a:extLst>
              <a:ext uri="{96DAC541-7B7A-43D3-8B79-37D633B846F1}">
                <asvg:svgBlip xmlns:asvg="http://schemas.microsoft.com/office/drawing/2016/SVG/main" r:embed="rId3"/>
              </a:ext>
            </a:extLst>
          </a:blip>
          <a:stretch/>
        </p:blipFill>
        <p:spPr>
          <a:xfrm>
            <a:off x="10668000" y="400050"/>
            <a:ext cx="419100" cy="419100"/>
          </a:xfrm>
          <a:prstGeom prst="rect">
            <a:avLst/>
          </a:prstGeom>
        </p:spPr>
      </p:pic>
      <p:sp>
        <p:nvSpPr>
          <p:cNvPr id="56" name="Rectangle 55">
            <a:extLst>
              <a:ext uri="{FF2B5EF4-FFF2-40B4-BE49-F238E27FC236}">
                <a16:creationId xmlns:a16="http://schemas.microsoft.com/office/drawing/2014/main" id="{8FDD96EE-3BB9-4800-A7A3-B4C78252A2DF}"/>
              </a:ext>
            </a:extLst>
          </p:cNvPr>
          <p:cNvSpPr>
            <a:spLocks noGrp="1"/>
          </p:cNvSpPr>
          <p:nvPr/>
        </p:nvSpPr>
        <p:spPr>
          <a:xfrm>
            <a:off x="742950" y="1428750"/>
            <a:ext cx="6096000" cy="3429000"/>
          </a:xfrm>
          <a:prstGeom prst="rect">
            <a:avLst/>
          </a:prstGeom>
          <a:solidFill>
            <a:srgbClr val="27211D"/>
          </a:solidFill>
          <a:ln w="9525">
            <a:solidFill>
              <a:srgbClr val="FFB000"/>
            </a:solidFill>
            <a:prstDash val="solid"/>
          </a:ln>
        </p:spPr>
        <p:txBody>
          <a:bodyPr/>
          <a:lstStyle/>
          <a:p>
            <a:endParaRPr lang="en-US"/>
          </a:p>
        </p:txBody>
      </p:sp>
      <p:sp>
        <p:nvSpPr>
          <p:cNvPr id="57" name="Rectangle 56">
            <a:extLst>
              <a:ext uri="{FF2B5EF4-FFF2-40B4-BE49-F238E27FC236}">
                <a16:creationId xmlns:a16="http://schemas.microsoft.com/office/drawing/2014/main" id="{40A1930E-76B1-4486-8A47-4FD7ECEE887E}"/>
              </a:ext>
            </a:extLst>
          </p:cNvPr>
          <p:cNvSpPr>
            <a:spLocks noGrp="1"/>
          </p:cNvSpPr>
          <p:nvPr/>
        </p:nvSpPr>
        <p:spPr>
          <a:xfrm>
            <a:off x="1143000" y="1962150"/>
            <a:ext cx="76200" cy="76200"/>
          </a:xfrm>
          <a:prstGeom prst="rect">
            <a:avLst/>
          </a:prstGeom>
          <a:solidFill>
            <a:srgbClr val="FFB000"/>
          </a:solidFill>
          <a:ln w="0">
            <a:solidFill>
              <a:srgbClr val="000000">
                <a:alpha val="0"/>
              </a:srgbClr>
            </a:solidFill>
            <a:prstDash val="solid"/>
          </a:ln>
        </p:spPr>
        <p:txBody>
          <a:bodyPr/>
          <a:lstStyle/>
          <a:p>
            <a:endParaRPr lang="en-US"/>
          </a:p>
        </p:txBody>
      </p:sp>
      <p:sp>
        <p:nvSpPr>
          <p:cNvPr id="58" name="Rectangle 57">
            <a:extLst>
              <a:ext uri="{FF2B5EF4-FFF2-40B4-BE49-F238E27FC236}">
                <a16:creationId xmlns:a16="http://schemas.microsoft.com/office/drawing/2014/main" id="{A7B8F5DC-5699-47A5-8278-6EE1C2577B86}"/>
              </a:ext>
            </a:extLst>
          </p:cNvPr>
          <p:cNvSpPr>
            <a:spLocks noGrp="1"/>
          </p:cNvSpPr>
          <p:nvPr/>
        </p:nvSpPr>
        <p:spPr>
          <a:xfrm>
            <a:off x="1352550" y="1885950"/>
            <a:ext cx="47434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Representation is the quiet win: key-normalized step tokens make the data learnable.</a:t>
            </a:r>
          </a:p>
        </p:txBody>
      </p:sp>
      <p:sp>
        <p:nvSpPr>
          <p:cNvPr id="59" name="Rectangle 58">
            <a:extLst>
              <a:ext uri="{FF2B5EF4-FFF2-40B4-BE49-F238E27FC236}">
                <a16:creationId xmlns:a16="http://schemas.microsoft.com/office/drawing/2014/main" id="{4FB57715-CBB6-496A-B6FB-B83CD6351164}"/>
              </a:ext>
            </a:extLst>
          </p:cNvPr>
          <p:cNvSpPr>
            <a:spLocks noGrp="1"/>
          </p:cNvSpPr>
          <p:nvPr/>
        </p:nvSpPr>
        <p:spPr>
          <a:xfrm>
            <a:off x="1143000" y="2609850"/>
            <a:ext cx="76200" cy="76200"/>
          </a:xfrm>
          <a:prstGeom prst="rect">
            <a:avLst/>
          </a:prstGeom>
          <a:solidFill>
            <a:srgbClr val="FF5A5F"/>
          </a:solidFill>
          <a:ln w="0">
            <a:solidFill>
              <a:srgbClr val="000000">
                <a:alpha val="0"/>
              </a:srgbClr>
            </a:solidFill>
            <a:prstDash val="solid"/>
          </a:ln>
        </p:spPr>
        <p:txBody>
          <a:bodyPr/>
          <a:lstStyle/>
          <a:p>
            <a:endParaRPr lang="en-US"/>
          </a:p>
        </p:txBody>
      </p:sp>
      <p:sp>
        <p:nvSpPr>
          <p:cNvPr id="60" name="Rectangle 59">
            <a:extLst>
              <a:ext uri="{FF2B5EF4-FFF2-40B4-BE49-F238E27FC236}">
                <a16:creationId xmlns:a16="http://schemas.microsoft.com/office/drawing/2014/main" id="{1D423719-3D2E-4A02-A360-0B517F350ACB}"/>
              </a:ext>
            </a:extLst>
          </p:cNvPr>
          <p:cNvSpPr>
            <a:spLocks noGrp="1"/>
          </p:cNvSpPr>
          <p:nvPr/>
        </p:nvSpPr>
        <p:spPr>
          <a:xfrm>
            <a:off x="1352550" y="2533650"/>
            <a:ext cx="47434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For melody, LSTM beats Markov on perplexity and matches repetition better.</a:t>
            </a:r>
          </a:p>
        </p:txBody>
      </p:sp>
      <p:sp>
        <p:nvSpPr>
          <p:cNvPr id="61" name="Rectangle 60">
            <a:extLst>
              <a:ext uri="{FF2B5EF4-FFF2-40B4-BE49-F238E27FC236}">
                <a16:creationId xmlns:a16="http://schemas.microsoft.com/office/drawing/2014/main" id="{42CB7F19-9AF2-4CF8-A72B-60084FCB3905}"/>
              </a:ext>
            </a:extLst>
          </p:cNvPr>
          <p:cNvSpPr>
            <a:spLocks noGrp="1"/>
          </p:cNvSpPr>
          <p:nvPr/>
        </p:nvSpPr>
        <p:spPr>
          <a:xfrm>
            <a:off x="1143000" y="3257550"/>
            <a:ext cx="76200" cy="76200"/>
          </a:xfrm>
          <a:prstGeom prst="rect">
            <a:avLst/>
          </a:prstGeom>
          <a:solidFill>
            <a:srgbClr val="8D6B94"/>
          </a:solidFill>
          <a:ln w="0">
            <a:solidFill>
              <a:srgbClr val="000000">
                <a:alpha val="0"/>
              </a:srgbClr>
            </a:solidFill>
            <a:prstDash val="solid"/>
          </a:ln>
        </p:spPr>
        <p:txBody>
          <a:bodyPr/>
          <a:lstStyle/>
          <a:p>
            <a:endParaRPr lang="en-US"/>
          </a:p>
        </p:txBody>
      </p:sp>
      <p:sp>
        <p:nvSpPr>
          <p:cNvPr id="62" name="Rectangle 61">
            <a:extLst>
              <a:ext uri="{FF2B5EF4-FFF2-40B4-BE49-F238E27FC236}">
                <a16:creationId xmlns:a16="http://schemas.microsoft.com/office/drawing/2014/main" id="{2D9C2CE3-80B1-4D9B-98B0-F8ACDA2E7973}"/>
              </a:ext>
            </a:extLst>
          </p:cNvPr>
          <p:cNvSpPr>
            <a:spLocks noGrp="1"/>
          </p:cNvSpPr>
          <p:nvPr/>
        </p:nvSpPr>
        <p:spPr>
          <a:xfrm>
            <a:off x="1352550" y="3181350"/>
            <a:ext cx="47434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For harmony, context beats pitch-template rules; progressions matter.</a:t>
            </a:r>
          </a:p>
        </p:txBody>
      </p:sp>
      <p:sp>
        <p:nvSpPr>
          <p:cNvPr id="63" name="Rectangle 62">
            <a:extLst>
              <a:ext uri="{FF2B5EF4-FFF2-40B4-BE49-F238E27FC236}">
                <a16:creationId xmlns:a16="http://schemas.microsoft.com/office/drawing/2014/main" id="{850E216B-70C8-4EA2-BE71-59434C611DE6}"/>
              </a:ext>
            </a:extLst>
          </p:cNvPr>
          <p:cNvSpPr>
            <a:spLocks noGrp="1"/>
          </p:cNvSpPr>
          <p:nvPr/>
        </p:nvSpPr>
        <p:spPr>
          <a:xfrm>
            <a:off x="1143000" y="3905250"/>
            <a:ext cx="76200" cy="76200"/>
          </a:xfrm>
          <a:prstGeom prst="rect">
            <a:avLst/>
          </a:prstGeom>
          <a:solidFill>
            <a:srgbClr val="6AD58B"/>
          </a:solidFill>
          <a:ln w="0">
            <a:solidFill>
              <a:srgbClr val="000000">
                <a:alpha val="0"/>
              </a:srgbClr>
            </a:solidFill>
            <a:prstDash val="solid"/>
          </a:ln>
        </p:spPr>
        <p:txBody>
          <a:bodyPr/>
          <a:lstStyle/>
          <a:p>
            <a:endParaRPr lang="en-US"/>
          </a:p>
        </p:txBody>
      </p:sp>
      <p:sp>
        <p:nvSpPr>
          <p:cNvPr id="64" name="Rectangle 63">
            <a:extLst>
              <a:ext uri="{FF2B5EF4-FFF2-40B4-BE49-F238E27FC236}">
                <a16:creationId xmlns:a16="http://schemas.microsoft.com/office/drawing/2014/main" id="{A91DE0EE-7A97-4E68-986E-DD8DA2981709}"/>
              </a:ext>
            </a:extLst>
          </p:cNvPr>
          <p:cNvSpPr>
            <a:spLocks noGrp="1"/>
          </p:cNvSpPr>
          <p:nvPr/>
        </p:nvSpPr>
        <p:spPr>
          <a:xfrm>
            <a:off x="1352550" y="3829050"/>
            <a:ext cx="47434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F4EFE7"/>
                </a:solidFill>
                <a:latin typeface="Aptos"/>
                <a:ea typeface="Aptos"/>
                <a:cs typeface="Aptos"/>
              </a:defRPr>
            </a:pPr>
            <a:r>
              <a:rPr sz="1725" b="0">
                <a:solidFill>
                  <a:srgbClr val="F4EFE7"/>
                </a:solidFill>
                <a:latin typeface="Aptos"/>
                <a:ea typeface="Aptos"/>
                <a:cs typeface="Aptos"/>
              </a:rPr>
              <a:t>Metrics guide us, but the final judge is the audio.</a:t>
            </a:r>
          </a:p>
        </p:txBody>
      </p:sp>
      <p:sp>
        <p:nvSpPr>
          <p:cNvPr id="65" name="Rectangle 64">
            <a:extLst>
              <a:ext uri="{FF2B5EF4-FFF2-40B4-BE49-F238E27FC236}">
                <a16:creationId xmlns:a16="http://schemas.microsoft.com/office/drawing/2014/main" id="{5EBCAD9C-39FA-4F16-9DC2-F9129EB619DC}"/>
              </a:ext>
            </a:extLst>
          </p:cNvPr>
          <p:cNvSpPr>
            <a:spLocks noGrp="1"/>
          </p:cNvSpPr>
          <p:nvPr/>
        </p:nvSpPr>
        <p:spPr>
          <a:xfrm>
            <a:off x="7429500" y="1581150"/>
            <a:ext cx="3429000" cy="876300"/>
          </a:xfrm>
          <a:prstGeom prst="rect">
            <a:avLst/>
          </a:prstGeom>
          <a:solidFill>
            <a:srgbClr val="27211D"/>
          </a:solidFill>
          <a:ln w="9525">
            <a:solidFill>
              <a:srgbClr val="FF5A5F"/>
            </a:solidFill>
            <a:prstDash val="solid"/>
          </a:ln>
        </p:spPr>
        <p:txBody>
          <a:bodyPr/>
          <a:lstStyle/>
          <a:p>
            <a:endParaRPr lang="en-US"/>
          </a:p>
        </p:txBody>
      </p:sp>
      <p:sp>
        <p:nvSpPr>
          <p:cNvPr id="66" name="metric-value">
            <a:extLst>
              <a:ext uri="{FF2B5EF4-FFF2-40B4-BE49-F238E27FC236}">
                <a16:creationId xmlns:a16="http://schemas.microsoft.com/office/drawing/2014/main" id="{23A90768-AE8D-4739-A1D0-B747FCC274A4}"/>
              </a:ext>
            </a:extLst>
          </p:cNvPr>
          <p:cNvSpPr>
            <a:spLocks noGrp="1"/>
          </p:cNvSpPr>
          <p:nvPr/>
        </p:nvSpPr>
        <p:spPr>
          <a:xfrm>
            <a:off x="7600950" y="169545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5A5F"/>
                </a:solidFill>
                <a:latin typeface="Aptos"/>
                <a:ea typeface="Aptos"/>
                <a:cs typeface="Aptos"/>
              </a:defRPr>
            </a:pPr>
            <a:r>
              <a:rPr sz="2250" b="1">
                <a:solidFill>
                  <a:srgbClr val="FF5A5F"/>
                </a:solidFill>
                <a:latin typeface="Aptos"/>
                <a:ea typeface="Aptos"/>
                <a:cs typeface="Aptos"/>
              </a:rPr>
              <a:t>2.42</a:t>
            </a:r>
          </a:p>
        </p:txBody>
      </p:sp>
      <p:sp>
        <p:nvSpPr>
          <p:cNvPr id="67" name="metric-label">
            <a:extLst>
              <a:ext uri="{FF2B5EF4-FFF2-40B4-BE49-F238E27FC236}">
                <a16:creationId xmlns:a16="http://schemas.microsoft.com/office/drawing/2014/main" id="{57716C02-0339-4268-9C48-4AB8366B7AED}"/>
              </a:ext>
            </a:extLst>
          </p:cNvPr>
          <p:cNvSpPr>
            <a:spLocks noGrp="1"/>
          </p:cNvSpPr>
          <p:nvPr/>
        </p:nvSpPr>
        <p:spPr>
          <a:xfrm>
            <a:off x="7600950" y="2076450"/>
            <a:ext cx="3086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LSTM melody perplexity</a:t>
            </a:r>
          </a:p>
        </p:txBody>
      </p:sp>
      <p:sp>
        <p:nvSpPr>
          <p:cNvPr id="68" name="Rectangle 67">
            <a:extLst>
              <a:ext uri="{FF2B5EF4-FFF2-40B4-BE49-F238E27FC236}">
                <a16:creationId xmlns:a16="http://schemas.microsoft.com/office/drawing/2014/main" id="{61FCFC7B-50CD-433A-AF4E-342615A80562}"/>
              </a:ext>
            </a:extLst>
          </p:cNvPr>
          <p:cNvSpPr>
            <a:spLocks noGrp="1"/>
          </p:cNvSpPr>
          <p:nvPr/>
        </p:nvSpPr>
        <p:spPr>
          <a:xfrm>
            <a:off x="7429500" y="2724150"/>
            <a:ext cx="3429000" cy="876300"/>
          </a:xfrm>
          <a:prstGeom prst="rect">
            <a:avLst/>
          </a:prstGeom>
          <a:solidFill>
            <a:srgbClr val="27211D"/>
          </a:solidFill>
          <a:ln w="9525">
            <a:solidFill>
              <a:srgbClr val="8D6B94"/>
            </a:solidFill>
            <a:prstDash val="solid"/>
          </a:ln>
        </p:spPr>
        <p:txBody>
          <a:bodyPr/>
          <a:lstStyle/>
          <a:p>
            <a:endParaRPr lang="en-US"/>
          </a:p>
        </p:txBody>
      </p:sp>
      <p:sp>
        <p:nvSpPr>
          <p:cNvPr id="69" name="metric-value">
            <a:extLst>
              <a:ext uri="{FF2B5EF4-FFF2-40B4-BE49-F238E27FC236}">
                <a16:creationId xmlns:a16="http://schemas.microsoft.com/office/drawing/2014/main" id="{F00F25E3-AF72-4FDA-8022-BC83896E4F8B}"/>
              </a:ext>
            </a:extLst>
          </p:cNvPr>
          <p:cNvSpPr>
            <a:spLocks noGrp="1"/>
          </p:cNvSpPr>
          <p:nvPr/>
        </p:nvSpPr>
        <p:spPr>
          <a:xfrm>
            <a:off x="7600950" y="283845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8D6B94"/>
                </a:solidFill>
                <a:latin typeface="Aptos"/>
                <a:ea typeface="Aptos"/>
                <a:cs typeface="Aptos"/>
              </a:defRPr>
            </a:pPr>
            <a:r>
              <a:rPr sz="2100" b="1">
                <a:solidFill>
                  <a:srgbClr val="8D6B94"/>
                </a:solidFill>
                <a:latin typeface="Aptos"/>
                <a:ea typeface="Aptos"/>
                <a:cs typeface="Aptos"/>
              </a:rPr>
              <a:t>0.655 / 0.716</a:t>
            </a:r>
          </a:p>
        </p:txBody>
      </p:sp>
      <p:sp>
        <p:nvSpPr>
          <p:cNvPr id="70" name="metric-label">
            <a:extLst>
              <a:ext uri="{FF2B5EF4-FFF2-40B4-BE49-F238E27FC236}">
                <a16:creationId xmlns:a16="http://schemas.microsoft.com/office/drawing/2014/main" id="{D32EAD0F-A79D-48EC-B0F9-E1E7A17BF327}"/>
              </a:ext>
            </a:extLst>
          </p:cNvPr>
          <p:cNvSpPr>
            <a:spLocks noGrp="1"/>
          </p:cNvSpPr>
          <p:nvPr/>
        </p:nvSpPr>
        <p:spPr>
          <a:xfrm>
            <a:off x="7600950" y="3219450"/>
            <a:ext cx="3086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BiLSTM chord / root accuracy</a:t>
            </a:r>
          </a:p>
        </p:txBody>
      </p:sp>
      <p:sp>
        <p:nvSpPr>
          <p:cNvPr id="71" name="Rectangle 70">
            <a:extLst>
              <a:ext uri="{FF2B5EF4-FFF2-40B4-BE49-F238E27FC236}">
                <a16:creationId xmlns:a16="http://schemas.microsoft.com/office/drawing/2014/main" id="{52E2BB00-DC06-4E9C-AA0F-312DA553C851}"/>
              </a:ext>
            </a:extLst>
          </p:cNvPr>
          <p:cNvSpPr>
            <a:spLocks noGrp="1"/>
          </p:cNvSpPr>
          <p:nvPr/>
        </p:nvSpPr>
        <p:spPr>
          <a:xfrm>
            <a:off x="7429500" y="3867150"/>
            <a:ext cx="3429000" cy="876300"/>
          </a:xfrm>
          <a:prstGeom prst="rect">
            <a:avLst/>
          </a:prstGeom>
          <a:solidFill>
            <a:srgbClr val="27211D"/>
          </a:solidFill>
          <a:ln w="9525">
            <a:solidFill>
              <a:srgbClr val="6AD58B"/>
            </a:solidFill>
            <a:prstDash val="solid"/>
          </a:ln>
        </p:spPr>
        <p:txBody>
          <a:bodyPr/>
          <a:lstStyle/>
          <a:p>
            <a:endParaRPr lang="en-US"/>
          </a:p>
        </p:txBody>
      </p:sp>
      <p:sp>
        <p:nvSpPr>
          <p:cNvPr id="72" name="metric-value">
            <a:extLst>
              <a:ext uri="{FF2B5EF4-FFF2-40B4-BE49-F238E27FC236}">
                <a16:creationId xmlns:a16="http://schemas.microsoft.com/office/drawing/2014/main" id="{80E810AE-FD39-49A5-B293-DE85445B3C88}"/>
              </a:ext>
            </a:extLst>
          </p:cNvPr>
          <p:cNvSpPr>
            <a:spLocks noGrp="1"/>
          </p:cNvSpPr>
          <p:nvPr/>
        </p:nvSpPr>
        <p:spPr>
          <a:xfrm>
            <a:off x="7600950" y="398145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6AD58B"/>
                </a:solidFill>
                <a:latin typeface="Aptos"/>
                <a:ea typeface="Aptos"/>
                <a:cs typeface="Aptos"/>
              </a:defRPr>
            </a:pPr>
            <a:r>
              <a:rPr sz="2100" b="1">
                <a:solidFill>
                  <a:srgbClr val="6AD58B"/>
                </a:solidFill>
                <a:latin typeface="Aptos"/>
                <a:ea typeface="Aptos"/>
                <a:cs typeface="Aptos"/>
              </a:rPr>
              <a:t>listen twice</a:t>
            </a:r>
          </a:p>
        </p:txBody>
      </p:sp>
      <p:sp>
        <p:nvSpPr>
          <p:cNvPr id="73" name="metric-label">
            <a:extLst>
              <a:ext uri="{FF2B5EF4-FFF2-40B4-BE49-F238E27FC236}">
                <a16:creationId xmlns:a16="http://schemas.microsoft.com/office/drawing/2014/main" id="{5D2DF653-CC72-4343-8E7F-AAD876035EBC}"/>
              </a:ext>
            </a:extLst>
          </p:cNvPr>
          <p:cNvSpPr>
            <a:spLocks noGrp="1"/>
          </p:cNvSpPr>
          <p:nvPr/>
        </p:nvSpPr>
        <p:spPr>
          <a:xfrm>
            <a:off x="7600950" y="4362450"/>
            <a:ext cx="30861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FB6AA"/>
                </a:solidFill>
                <a:latin typeface="Aptos"/>
                <a:ea typeface="Aptos"/>
                <a:cs typeface="Aptos"/>
              </a:defRPr>
            </a:pPr>
            <a:r>
              <a:rPr sz="975" b="0">
                <a:solidFill>
                  <a:srgbClr val="BFB6AA"/>
                </a:solidFill>
                <a:latin typeface="Aptos"/>
                <a:ea typeface="Aptos"/>
                <a:cs typeface="Aptos"/>
              </a:rPr>
              <a:t>melody alone, then harmonized</a:t>
            </a:r>
          </a:p>
        </p:txBody>
      </p:sp>
      <p:sp>
        <p:nvSpPr>
          <p:cNvPr id="74" name="Rectangle 73">
            <a:extLst>
              <a:ext uri="{FF2B5EF4-FFF2-40B4-BE49-F238E27FC236}">
                <a16:creationId xmlns:a16="http://schemas.microsoft.com/office/drawing/2014/main" id="{45C2E587-01D4-4F3B-B952-816D9C8BFBFF}"/>
              </a:ext>
            </a:extLst>
          </p:cNvPr>
          <p:cNvSpPr>
            <a:spLocks noGrp="1"/>
          </p:cNvSpPr>
          <p:nvPr/>
        </p:nvSpPr>
        <p:spPr>
          <a:xfrm>
            <a:off x="1485900" y="5314950"/>
            <a:ext cx="8763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4EFE7"/>
                </a:solidFill>
                <a:latin typeface="Aptos Mono"/>
                <a:ea typeface="Aptos Mono"/>
                <a:cs typeface="Aptos Mono"/>
              </a:defRPr>
            </a:pPr>
            <a:r>
              <a:rPr sz="2100" b="1" dirty="0">
                <a:solidFill>
                  <a:srgbClr val="F4EFE7"/>
                </a:solidFill>
                <a:latin typeface="Aptos Mono"/>
                <a:ea typeface="Aptos Mono"/>
                <a:cs typeface="Aptos Mono"/>
              </a:rPr>
              <a:t>Play: symbolic_unconditioned.mid -&gt; symbolic_conditioned.mid</a:t>
            </a:r>
          </a:p>
        </p:txBody>
      </p:sp>
    </p:spTree>
    <p:extLst>
      <p:ext uri="{BB962C8B-B14F-4D97-AF65-F5344CB8AC3E}">
        <p14:creationId xmlns:p14="http://schemas.microsoft.com/office/powerpoint/2010/main" val="16866694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3613</Words>
  <Application>Microsoft Office PowerPoint</Application>
  <DocSecurity>0</DocSecurity>
  <PresentationFormat>Widescreen</PresentationFormat>
  <Paragraphs>337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Yang Bie</cp:lastModifiedBy>
  <cp:revision>1</cp:revision>
  <dcterms:created xsi:type="dcterms:W3CDTF">2026-05-28T06:08:46Z</dcterms:created>
  <dcterms:modified xsi:type="dcterms:W3CDTF">2026-05-28T06:46:28Z</dcterms:modified>
</cp:coreProperties>
</file>